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19456"/>
            <a:ext cx="9235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0" y="164592"/>
            <a:ext cx="1783080" cy="841248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960120"/>
            <a:ext cx="4389120" cy="490118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108960" y="11887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2800" dirty="0"/>
          </a:p>
        </p:txBody>
      </p:sp>
      <p:sp>
        <p:nvSpPr>
          <p:cNvPr id="6" name="Shape 2"/>
          <p:cNvSpPr/>
          <p:nvPr/>
        </p:nvSpPr>
        <p:spPr>
          <a:xfrm>
            <a:off x="576072" y="2075688"/>
            <a:ext cx="77724" cy="7772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86384" y="199339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SIH26171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576072" y="2478024"/>
            <a:ext cx="77724" cy="7772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6384" y="2395728"/>
            <a:ext cx="5029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 –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On-device Visual Perception for Light-weight Browser Agents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76072" y="3026664"/>
            <a:ext cx="77724" cy="7772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86384" y="29443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–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Automation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76072" y="3429000"/>
            <a:ext cx="77724" cy="7772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86384" y="334670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 –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76072" y="3831336"/>
            <a:ext cx="77724" cy="7772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86384" y="3749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 –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576072" y="4233672"/>
            <a:ext cx="77724" cy="77724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86384" y="41513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 –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NEXORA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548640" y="4572000"/>
            <a:ext cx="5303520" cy="987552"/>
          </a:xfrm>
          <a:prstGeom prst="roundRect">
            <a:avLst>
              <a:gd name="adj" fmla="val 7407"/>
            </a:avLst>
          </a:prstGeom>
          <a:solidFill>
            <a:srgbClr val="1F4E79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49808" y="464515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AEGISBROWSE</a:t>
            </a:r>
            <a:endParaRPr lang="en-US" sz="27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056632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Privacy-Preserving Visual Browser Agent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749808" y="526694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D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“See less. Reveal less. Still complete the task.”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48640" y="5687568"/>
            <a:ext cx="5303520" cy="512064"/>
          </a:xfrm>
          <a:prstGeom prst="roundRect">
            <a:avLst>
              <a:gd name="adj" fmla="val 14286"/>
            </a:avLst>
          </a:prstGeom>
          <a:solidFill>
            <a:srgbClr val="F4F8FB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548640" y="5687568"/>
            <a:ext cx="50292" cy="512064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49808" y="58338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Video walkthrough:  </a:t>
            </a:r>
            <a:pPr indent="0" marL="0">
              <a:buNone/>
            </a:pPr>
            <a:r>
              <a:rPr lang="en-US" sz="110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YouTube link here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371600" cy="530352"/>
          </a:xfrm>
          <a:prstGeom prst="ellipse">
            <a:avLst/>
          </a:prstGeom>
          <a:solidFill>
            <a:srgbClr val="E3F1F2"/>
          </a:solidFill>
          <a:ln w="1905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384048" y="320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NEXORA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201168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AEGISBROWSE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164592"/>
            <a:ext cx="1554480" cy="731520"/>
          </a:xfrm>
          <a:prstGeom prst="rect">
            <a:avLst/>
          </a:prstGeom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0" y="6419088"/>
            <a:ext cx="12191695" cy="22860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1C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840480" y="6537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338560" y="6537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77724" cy="77724"/>
          </a:xfrm>
          <a:prstGeom prst="rect">
            <a:avLst/>
          </a:prstGeom>
          <a:solidFill>
            <a:srgbClr val="0A5F6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03504" y="914400"/>
            <a:ext cx="7168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 —  HOW IT ADDRESSES THE PROBLEM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115568"/>
            <a:ext cx="3566160" cy="804672"/>
          </a:xfrm>
          <a:prstGeom prst="roundRect">
            <a:avLst>
              <a:gd name="adj" fmla="val 9091"/>
            </a:avLst>
          </a:prstGeom>
          <a:solidFill>
            <a:srgbClr val="FAEBE9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85216" y="1179576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cloud agent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85216" y="1399032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screen  →  cloud VLM</a:t>
            </a:r>
            <a:endParaRPr lang="en-US" sz="870" dirty="0"/>
          </a:p>
        </p:txBody>
      </p:sp>
      <p:sp>
        <p:nvSpPr>
          <p:cNvPr id="15" name="Text 12"/>
          <p:cNvSpPr txBox="1"/>
          <p:nvPr/>
        </p:nvSpPr>
        <p:spPr>
          <a:xfrm>
            <a:off x="585216" y="1709928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A8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Entire private screen is transmitted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315968" y="1115568"/>
            <a:ext cx="3566160" cy="804672"/>
          </a:xfrm>
          <a:prstGeom prst="roundRect">
            <a:avLst>
              <a:gd name="adj" fmla="val 9091"/>
            </a:avLst>
          </a:prstGeom>
          <a:solidFill>
            <a:srgbClr val="FBF0E1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443984" y="1179576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6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local agent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443984" y="1399032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screen  →  large local pipeline</a:t>
            </a:r>
            <a:endParaRPr lang="en-US" sz="870" dirty="0"/>
          </a:p>
        </p:txBody>
      </p:sp>
      <p:sp>
        <p:nvSpPr>
          <p:cNvPr id="19" name="Text 16"/>
          <p:cNvSpPr txBox="1"/>
          <p:nvPr/>
        </p:nvSpPr>
        <p:spPr>
          <a:xfrm>
            <a:off x="4443984" y="1709928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B56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Constrained by client compute, memory and model capability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129016" y="1069848"/>
            <a:ext cx="3657600" cy="896112"/>
          </a:xfrm>
          <a:prstGeom prst="roundRect">
            <a:avLst>
              <a:gd name="adj" fmla="val 8163"/>
            </a:avLst>
          </a:prstGeom>
          <a:solidFill>
            <a:srgbClr val="E6F3EC"/>
          </a:solidFill>
          <a:ln w="31750">
            <a:solidFill>
              <a:srgbClr val="2C7A54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302752" y="1179576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AegisBrowse  —  hybrid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02752" y="1399032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→ local perception → privacy fusion</a:t>
            </a:r>
            <a:endParaRPr lang="en-US" sz="87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7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sanitized context → server planner</a:t>
            </a:r>
            <a:endParaRPr lang="en-US" sz="87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1709928"/>
            <a:ext cx="3310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b="1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Server intelligence, no raw-screen exposure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57200" y="2039112"/>
            <a:ext cx="77724" cy="77724"/>
          </a:xfrm>
          <a:prstGeom prst="rect">
            <a:avLst/>
          </a:prstGeom>
          <a:solidFill>
            <a:srgbClr val="0A5F6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3504" y="1993392"/>
            <a:ext cx="8997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LEAVES THE DEVICE  —  PRELIMINARY PRIVACY VALIDATION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57200" y="2194560"/>
            <a:ext cx="3657600" cy="2852928"/>
          </a:xfrm>
          <a:prstGeom prst="roundRect">
            <a:avLst>
              <a:gd name="adj" fmla="val 2564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566928" y="2258568"/>
            <a:ext cx="3438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RAW SCREEN</a:t>
            </a:r>
            <a:endParaRPr lang="en-US" sz="95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" y="2468880"/>
            <a:ext cx="3529584" cy="22860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66928" y="480974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only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4142232" y="3529584"/>
            <a:ext cx="219456" cy="182880"/>
          </a:xfrm>
          <a:prstGeom prst="rightArrow">
            <a:avLst/>
          </a:prstGeom>
          <a:solidFill>
            <a:srgbClr val="9DB2C4"/>
          </a:solidFill>
          <a:ln/>
        </p:spPr>
      </p:sp>
      <p:sp>
        <p:nvSpPr>
          <p:cNvPr id="31" name="Shape 27"/>
          <p:cNvSpPr/>
          <p:nvPr/>
        </p:nvSpPr>
        <p:spPr>
          <a:xfrm>
            <a:off x="4315968" y="2194560"/>
            <a:ext cx="3657600" cy="2852928"/>
          </a:xfrm>
          <a:prstGeom prst="roundRect">
            <a:avLst>
              <a:gd name="adj" fmla="val 2564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4425696" y="2258568"/>
            <a:ext cx="3438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LOCAL PERCEPTION</a:t>
            </a:r>
            <a:endParaRPr lang="en-US" sz="950" dirty="0"/>
          </a:p>
        </p:txBody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9976" y="2468880"/>
            <a:ext cx="3529584" cy="2286000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4425696" y="480974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+ sensitive regions detected</a:t>
            </a:r>
            <a:endParaRPr lang="en-US" sz="950" dirty="0"/>
          </a:p>
        </p:txBody>
      </p:sp>
      <p:sp>
        <p:nvSpPr>
          <p:cNvPr id="35" name="Shape 30"/>
          <p:cNvSpPr/>
          <p:nvPr/>
        </p:nvSpPr>
        <p:spPr>
          <a:xfrm>
            <a:off x="8001000" y="3529584"/>
            <a:ext cx="219456" cy="182880"/>
          </a:xfrm>
          <a:prstGeom prst="rightArrow">
            <a:avLst/>
          </a:prstGeom>
          <a:solidFill>
            <a:srgbClr val="0E7C86"/>
          </a:solidFill>
          <a:ln/>
        </p:spPr>
      </p:sp>
      <p:sp>
        <p:nvSpPr>
          <p:cNvPr id="36" name="Shape 31"/>
          <p:cNvSpPr/>
          <p:nvPr/>
        </p:nvSpPr>
        <p:spPr>
          <a:xfrm>
            <a:off x="8174736" y="2194560"/>
            <a:ext cx="3657600" cy="2852928"/>
          </a:xfrm>
          <a:prstGeom prst="roundRect">
            <a:avLst>
              <a:gd name="adj" fmla="val 2564"/>
            </a:avLst>
          </a:prstGeom>
          <a:solidFill>
            <a:srgbClr val="E3F1F2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7" name="Text 32"/>
          <p:cNvSpPr txBox="1"/>
          <p:nvPr/>
        </p:nvSpPr>
        <p:spPr>
          <a:xfrm>
            <a:off x="8284464" y="2258568"/>
            <a:ext cx="3438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SERVER CONTEXT</a:t>
            </a:r>
            <a:endParaRPr lang="en-US" sz="950" dirty="0"/>
          </a:p>
        </p:txBody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2468880"/>
            <a:ext cx="3529584" cy="228600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284464" y="480974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regions redacted locally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457200" y="5202936"/>
            <a:ext cx="77724" cy="77724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603504" y="5157216"/>
            <a:ext cx="5340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0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AND UNIQUENESS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457200" y="5349240"/>
            <a:ext cx="3566160" cy="512064"/>
          </a:xfrm>
          <a:prstGeom prst="roundRect">
            <a:avLst>
              <a:gd name="adj" fmla="val 14286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43" name="Text 37"/>
          <p:cNvSpPr txBox="1"/>
          <p:nvPr/>
        </p:nvSpPr>
        <p:spPr>
          <a:xfrm>
            <a:off x="603504" y="5385816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local perception</a:t>
            </a:r>
            <a:endParaRPr lang="en-US" sz="1000" dirty="0"/>
          </a:p>
        </p:txBody>
      </p:sp>
      <p:sp>
        <p:nvSpPr>
          <p:cNvPr id="44" name="Text 38"/>
          <p:cNvSpPr txBox="1"/>
          <p:nvPr/>
        </p:nvSpPr>
        <p:spPr>
          <a:xfrm>
            <a:off x="603504" y="55595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and the DOM cover each other’s blind spots</a:t>
            </a:r>
            <a:endParaRPr lang="en-US" sz="900" dirty="0"/>
          </a:p>
        </p:txBody>
      </p:sp>
      <p:sp>
        <p:nvSpPr>
          <p:cNvPr id="45" name="Shape 39"/>
          <p:cNvSpPr/>
          <p:nvPr/>
        </p:nvSpPr>
        <p:spPr>
          <a:xfrm>
            <a:off x="4315968" y="5349240"/>
            <a:ext cx="3566160" cy="512064"/>
          </a:xfrm>
          <a:prstGeom prst="roundRect">
            <a:avLst>
              <a:gd name="adj" fmla="val 14286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46" name="Text 40"/>
          <p:cNvSpPr txBox="1"/>
          <p:nvPr/>
        </p:nvSpPr>
        <p:spPr>
          <a:xfrm>
            <a:off x="4462272" y="5385816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privacy fusion</a:t>
            </a:r>
            <a:endParaRPr lang="en-US" sz="1000" dirty="0"/>
          </a:p>
        </p:txBody>
      </p:sp>
      <p:sp>
        <p:nvSpPr>
          <p:cNvPr id="47" name="Text 41"/>
          <p:cNvSpPr txBox="1"/>
          <p:nvPr/>
        </p:nvSpPr>
        <p:spPr>
          <a:xfrm>
            <a:off x="4462272" y="55595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+ pixel signals build one redaction map</a:t>
            </a:r>
            <a:endParaRPr lang="en-US" sz="900" dirty="0"/>
          </a:p>
        </p:txBody>
      </p:sp>
      <p:sp>
        <p:nvSpPr>
          <p:cNvPr id="48" name="Shape 42"/>
          <p:cNvSpPr/>
          <p:nvPr/>
        </p:nvSpPr>
        <p:spPr>
          <a:xfrm>
            <a:off x="8174736" y="5349240"/>
            <a:ext cx="3566160" cy="512064"/>
          </a:xfrm>
          <a:prstGeom prst="roundRect">
            <a:avLst>
              <a:gd name="adj" fmla="val 14286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49" name="Text 43"/>
          <p:cNvSpPr txBox="1"/>
          <p:nvPr/>
        </p:nvSpPr>
        <p:spPr>
          <a:xfrm>
            <a:off x="8321040" y="5385816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56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Task-aware sanitized context</a:t>
            </a:r>
            <a:endParaRPr lang="en-US" sz="1000" dirty="0"/>
          </a:p>
        </p:txBody>
      </p:sp>
      <p:sp>
        <p:nvSpPr>
          <p:cNvPr id="50" name="Text 44"/>
          <p:cNvSpPr txBox="1"/>
          <p:nvPr/>
        </p:nvSpPr>
        <p:spPr>
          <a:xfrm>
            <a:off x="8321040" y="555955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relevance reduces visual and semantic disclosure</a:t>
            </a:r>
            <a:endParaRPr lang="en-US" sz="900" dirty="0"/>
          </a:p>
        </p:txBody>
      </p:sp>
      <p:sp>
        <p:nvSpPr>
          <p:cNvPr id="51" name="Shape 45"/>
          <p:cNvSpPr/>
          <p:nvPr/>
        </p:nvSpPr>
        <p:spPr>
          <a:xfrm>
            <a:off x="457200" y="5961888"/>
            <a:ext cx="11274552" cy="384048"/>
          </a:xfrm>
          <a:prstGeom prst="roundRect">
            <a:avLst>
              <a:gd name="adj" fmla="val 19048"/>
            </a:avLst>
          </a:prstGeom>
          <a:solidFill>
            <a:srgbClr val="F4F8FB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52" name="Text 46"/>
          <p:cNvSpPr txBox="1"/>
          <p:nvPr/>
        </p:nvSpPr>
        <p:spPr>
          <a:xfrm>
            <a:off x="685800" y="6062472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held-out tests show the core trade-off:  </a:t>
            </a:r>
            <a:pPr algn="ctr" indent="0" marL="0">
              <a:buNone/>
            </a:pPr>
            <a:r>
              <a:rPr lang="en-US" sz="103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escalation improves privacy recall but can over-mask safe context — motivating selective escalation.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371600" cy="530352"/>
          </a:xfrm>
          <a:prstGeom prst="ellipse">
            <a:avLst/>
          </a:prstGeom>
          <a:solidFill>
            <a:srgbClr val="E3F1F2"/>
          </a:solidFill>
          <a:ln w="1905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384048" y="320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NEXORA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201168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164592"/>
            <a:ext cx="1554480" cy="731520"/>
          </a:xfrm>
          <a:prstGeom prst="rect">
            <a:avLst/>
          </a:prstGeom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0" y="6419088"/>
            <a:ext cx="12191695" cy="22860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1C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840480" y="6537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338560" y="6537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77724" cy="77724"/>
          </a:xfrm>
          <a:prstGeom prst="rect">
            <a:avLst/>
          </a:prstGeom>
          <a:solidFill>
            <a:srgbClr val="0A5F6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03504" y="914400"/>
            <a:ext cx="51572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ARCHITECTURE  —  PERCEPTION AND PRIVACY RESOLVE LOCALLY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742432" y="886968"/>
            <a:ext cx="1316736" cy="237744"/>
          </a:xfrm>
          <a:prstGeom prst="roundRect">
            <a:avLst>
              <a:gd name="adj" fmla="val 19231"/>
            </a:avLst>
          </a:prstGeom>
          <a:solidFill>
            <a:srgbClr val="10294A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742432" y="932688"/>
            <a:ext cx="1316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BOUNDARY</a:t>
            </a:r>
            <a:endParaRPr lang="en-US" sz="780" dirty="0"/>
          </a:p>
        </p:txBody>
      </p:sp>
      <p:sp>
        <p:nvSpPr>
          <p:cNvPr id="14" name="Shape 11"/>
          <p:cNvSpPr/>
          <p:nvPr/>
        </p:nvSpPr>
        <p:spPr>
          <a:xfrm>
            <a:off x="457200" y="1152144"/>
            <a:ext cx="5760720" cy="3712464"/>
          </a:xfrm>
          <a:prstGeom prst="roundRect">
            <a:avLst>
              <a:gd name="adj" fmla="val 1970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0080" y="12161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DEVICE  —  INSIDE THE BROWSER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640080" y="1444752"/>
            <a:ext cx="539496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49808" y="1499616"/>
            <a:ext cx="5175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 Screen capture + DOM / accessibility tree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255264" y="1755648"/>
            <a:ext cx="164592" cy="118872"/>
          </a:xfrm>
          <a:prstGeom prst="downArrow">
            <a:avLst/>
          </a:prstGeom>
          <a:solidFill>
            <a:srgbClr val="9DB2C4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" y="1892808"/>
            <a:ext cx="260604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9808" y="1947672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 Compact visual detector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49808" y="2121408"/>
            <a:ext cx="2386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quantized UI + visual-PII model, WebGPU accelerated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3429000" y="1892808"/>
            <a:ext cx="260604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3538728" y="1947672"/>
            <a:ext cx="238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 Structural signals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538728" y="2121408"/>
            <a:ext cx="23865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labels, field types, input semantics</a:t>
            </a:r>
            <a:endParaRPr lang="en-US" sz="880" dirty="0"/>
          </a:p>
        </p:txBody>
      </p:sp>
      <p:sp>
        <p:nvSpPr>
          <p:cNvPr id="25" name="Shape 22"/>
          <p:cNvSpPr/>
          <p:nvPr/>
        </p:nvSpPr>
        <p:spPr>
          <a:xfrm>
            <a:off x="1874520" y="2423160"/>
            <a:ext cx="164592" cy="118872"/>
          </a:xfrm>
          <a:prstGeom prst="downArrow">
            <a:avLst/>
          </a:prstGeom>
          <a:solidFill>
            <a:srgbClr val="9DB2C4"/>
          </a:solidFill>
          <a:ln/>
        </p:spPr>
      </p:sp>
      <p:sp>
        <p:nvSpPr>
          <p:cNvPr id="26" name="Shape 23"/>
          <p:cNvSpPr/>
          <p:nvPr/>
        </p:nvSpPr>
        <p:spPr>
          <a:xfrm>
            <a:off x="4663440" y="2423160"/>
            <a:ext cx="164592" cy="118872"/>
          </a:xfrm>
          <a:prstGeom prst="downArrow">
            <a:avLst/>
          </a:prstGeom>
          <a:solidFill>
            <a:srgbClr val="9DB2C4"/>
          </a:solidFill>
          <a:ln/>
        </p:spPr>
      </p:sp>
      <p:sp>
        <p:nvSpPr>
          <p:cNvPr id="27" name="Shape 24"/>
          <p:cNvSpPr/>
          <p:nvPr/>
        </p:nvSpPr>
        <p:spPr>
          <a:xfrm>
            <a:off x="640080" y="2560320"/>
            <a:ext cx="5394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49808" y="2615184"/>
            <a:ext cx="5175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 Multimodal screen map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49808" y="2788920"/>
            <a:ext cx="5175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model: geometry · semantics · actionability · sensitivity</a:t>
            </a:r>
            <a:endParaRPr lang="en-US" sz="880" dirty="0"/>
          </a:p>
        </p:txBody>
      </p:sp>
      <p:sp>
        <p:nvSpPr>
          <p:cNvPr id="30" name="Shape 27"/>
          <p:cNvSpPr/>
          <p:nvPr/>
        </p:nvSpPr>
        <p:spPr>
          <a:xfrm>
            <a:off x="3255264" y="3035808"/>
            <a:ext cx="164592" cy="118872"/>
          </a:xfrm>
          <a:prstGeom prst="downArrow">
            <a:avLst/>
          </a:prstGeom>
          <a:solidFill>
            <a:srgbClr val="9DB2C4"/>
          </a:solidFill>
          <a:ln/>
        </p:spPr>
      </p:sp>
      <p:sp>
        <p:nvSpPr>
          <p:cNvPr id="31" name="Shape 28"/>
          <p:cNvSpPr/>
          <p:nvPr/>
        </p:nvSpPr>
        <p:spPr>
          <a:xfrm>
            <a:off x="640080" y="3172968"/>
            <a:ext cx="5394960" cy="457200"/>
          </a:xfrm>
          <a:prstGeom prst="roundRect">
            <a:avLst>
              <a:gd name="adj" fmla="val 12000"/>
            </a:avLst>
          </a:prstGeom>
          <a:solidFill>
            <a:srgbClr val="E6F3EC"/>
          </a:solidFill>
          <a:ln w="12700">
            <a:solidFill>
              <a:srgbClr val="2C7A54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749808" y="3227832"/>
            <a:ext cx="5175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 Multimodal privacy fusion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749808" y="3401568"/>
            <a:ext cx="517550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detector is trusted — signals vote on one redaction map</a:t>
            </a:r>
            <a:endParaRPr lang="en-US" sz="880" dirty="0"/>
          </a:p>
        </p:txBody>
      </p:sp>
      <p:sp>
        <p:nvSpPr>
          <p:cNvPr id="34" name="Shape 31"/>
          <p:cNvSpPr/>
          <p:nvPr/>
        </p:nvSpPr>
        <p:spPr>
          <a:xfrm>
            <a:off x="3255264" y="3648456"/>
            <a:ext cx="164592" cy="118872"/>
          </a:xfrm>
          <a:prstGeom prst="downArrow">
            <a:avLst/>
          </a:prstGeom>
          <a:solidFill>
            <a:srgbClr val="9DB2C4"/>
          </a:solidFill>
          <a:ln/>
        </p:spPr>
      </p:sp>
      <p:sp>
        <p:nvSpPr>
          <p:cNvPr id="35" name="Shape 32"/>
          <p:cNvSpPr/>
          <p:nvPr/>
        </p:nvSpPr>
        <p:spPr>
          <a:xfrm>
            <a:off x="640080" y="3785616"/>
            <a:ext cx="5394960" cy="512064"/>
          </a:xfrm>
          <a:prstGeom prst="roundRect">
            <a:avLst>
              <a:gd name="adj" fmla="val 10714"/>
            </a:avLst>
          </a:prstGeom>
          <a:solidFill>
            <a:srgbClr val="0E7C86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749808" y="3840480"/>
            <a:ext cx="51755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 Task-aware sanitized context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749808" y="4014216"/>
            <a:ext cx="5175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20"/>
              </a:lnSpc>
              <a:buNone/>
            </a:pPr>
            <a:r>
              <a:rPr lang="en-US" sz="880" dirty="0">
                <a:solidFill>
                  <a:srgbClr val="D9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goal-relevance scoring selects the region and metadata actually needed</a:t>
            </a:r>
            <a:endParaRPr lang="en-US" sz="880" dirty="0"/>
          </a:p>
        </p:txBody>
      </p:sp>
      <p:sp>
        <p:nvSpPr>
          <p:cNvPr id="38" name="Shape 35"/>
          <p:cNvSpPr/>
          <p:nvPr/>
        </p:nvSpPr>
        <p:spPr>
          <a:xfrm>
            <a:off x="640080" y="4389120"/>
            <a:ext cx="5394960" cy="384048"/>
          </a:xfrm>
          <a:prstGeom prst="roundRect">
            <a:avLst>
              <a:gd name="adj" fmla="val 11905"/>
            </a:avLst>
          </a:prstGeom>
          <a:solidFill>
            <a:srgbClr val="E3F1F2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713232" y="4498848"/>
            <a:ext cx="5248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structural signals first → expensive OCR / vision only when uncertainty or task need requires it.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6400800" y="1152144"/>
            <a:ext cx="0" cy="3712464"/>
          </a:xfrm>
          <a:prstGeom prst="line">
            <a:avLst/>
          </a:prstGeom>
          <a:noFill/>
          <a:ln w="31750">
            <a:solidFill>
              <a:srgbClr val="10294A"/>
            </a:solidFill>
            <a:prstDash val="dash"/>
          </a:ln>
        </p:spPr>
      </p:sp>
      <p:sp>
        <p:nvSpPr>
          <p:cNvPr id="41" name="Shape 38"/>
          <p:cNvSpPr/>
          <p:nvPr/>
        </p:nvSpPr>
        <p:spPr>
          <a:xfrm>
            <a:off x="6583680" y="1152144"/>
            <a:ext cx="51480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766560" y="1216152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DETECTOR — TARGET OUTPUT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6766560" y="141732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 viewport screenshot + DOM snapshot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160020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723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button       →  bbox + confidence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723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        →  bbox + confidence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723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text_region  →  bbox + confidence</a:t>
            </a:r>
            <a:endParaRPr lang="en-US" sz="9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1723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face         →  bbox + confidence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6766560" y="22402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3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 to ONNX · WebGPU acceleration · WebAssembly fallback · model family selected by benchmark, not assumption.</a:t>
            </a:r>
            <a:endParaRPr lang="en-US" sz="830" dirty="0"/>
          </a:p>
        </p:txBody>
      </p:sp>
      <p:sp>
        <p:nvSpPr>
          <p:cNvPr id="46" name="Shape 43"/>
          <p:cNvSpPr/>
          <p:nvPr/>
        </p:nvSpPr>
        <p:spPr>
          <a:xfrm>
            <a:off x="6583680" y="2596896"/>
            <a:ext cx="5148072" cy="1426464"/>
          </a:xfrm>
          <a:prstGeom prst="roundRect">
            <a:avLst>
              <a:gd name="adj" fmla="val 5128"/>
            </a:avLst>
          </a:prstGeom>
          <a:solidFill>
            <a:srgbClr val="E6F3EC"/>
          </a:solidFill>
          <a:ln w="12700">
            <a:solidFill>
              <a:srgbClr val="2C7A54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6766560" y="266090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PRIVACY FUSION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6766560" y="2862072"/>
            <a:ext cx="201168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2C7A54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49" name="Text 46"/>
          <p:cNvSpPr txBox="1"/>
          <p:nvPr/>
        </p:nvSpPr>
        <p:spPr>
          <a:xfrm>
            <a:off x="6766560" y="29169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STRUCTURE</a:t>
            </a:r>
            <a:endParaRPr lang="en-US" sz="870" dirty="0"/>
          </a:p>
        </p:txBody>
      </p:sp>
      <p:sp>
        <p:nvSpPr>
          <p:cNvPr id="50" name="Text 47"/>
          <p:cNvSpPr txBox="1"/>
          <p:nvPr/>
        </p:nvSpPr>
        <p:spPr>
          <a:xfrm>
            <a:off x="6766560" y="30906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tags · regex</a:t>
            </a:r>
            <a:endParaRPr lang="en-US" sz="88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checksums · NER</a:t>
            </a:r>
            <a:endParaRPr lang="en-US" sz="880" dirty="0"/>
          </a:p>
        </p:txBody>
      </p:sp>
      <p:sp>
        <p:nvSpPr>
          <p:cNvPr id="51" name="Shape 48"/>
          <p:cNvSpPr/>
          <p:nvPr/>
        </p:nvSpPr>
        <p:spPr>
          <a:xfrm>
            <a:off x="8887968" y="2862072"/>
            <a:ext cx="201168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2C7A54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52" name="Text 49"/>
          <p:cNvSpPr txBox="1"/>
          <p:nvPr/>
        </p:nvSpPr>
        <p:spPr>
          <a:xfrm>
            <a:off x="8887968" y="2916936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</a:t>
            </a:r>
            <a:endParaRPr lang="en-US" sz="870" dirty="0"/>
          </a:p>
        </p:txBody>
      </p:sp>
      <p:sp>
        <p:nvSpPr>
          <p:cNvPr id="53" name="Text 50"/>
          <p:cNvSpPr txBox="1"/>
          <p:nvPr/>
        </p:nvSpPr>
        <p:spPr>
          <a:xfrm>
            <a:off x="8887968" y="309067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· faces</a:t>
            </a:r>
            <a:endParaRPr lang="en-US" sz="88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IDs · QR</a:t>
            </a:r>
            <a:endParaRPr lang="en-US" sz="880" dirty="0"/>
          </a:p>
        </p:txBody>
      </p:sp>
      <p:sp>
        <p:nvSpPr>
          <p:cNvPr id="54" name="Shape 51"/>
          <p:cNvSpPr/>
          <p:nvPr/>
        </p:nvSpPr>
        <p:spPr>
          <a:xfrm>
            <a:off x="7699248" y="3547872"/>
            <a:ext cx="146304" cy="109728"/>
          </a:xfrm>
          <a:prstGeom prst="downArrow">
            <a:avLst/>
          </a:prstGeom>
          <a:solidFill>
            <a:srgbClr val="2C7A54"/>
          </a:solidFill>
          <a:ln/>
        </p:spPr>
      </p:sp>
      <p:sp>
        <p:nvSpPr>
          <p:cNvPr id="55" name="Shape 52"/>
          <p:cNvSpPr/>
          <p:nvPr/>
        </p:nvSpPr>
        <p:spPr>
          <a:xfrm>
            <a:off x="9820656" y="3547872"/>
            <a:ext cx="146304" cy="109728"/>
          </a:xfrm>
          <a:prstGeom prst="downArrow">
            <a:avLst/>
          </a:prstGeom>
          <a:solidFill>
            <a:srgbClr val="2C7A54"/>
          </a:solidFill>
          <a:ln/>
        </p:spPr>
      </p:sp>
      <p:sp>
        <p:nvSpPr>
          <p:cNvPr id="56" name="Shape 53"/>
          <p:cNvSpPr/>
          <p:nvPr/>
        </p:nvSpPr>
        <p:spPr>
          <a:xfrm>
            <a:off x="6766560" y="3675888"/>
            <a:ext cx="4133088" cy="274320"/>
          </a:xfrm>
          <a:prstGeom prst="roundRect">
            <a:avLst>
              <a:gd name="adj" fmla="val 16667"/>
            </a:avLst>
          </a:prstGeom>
          <a:solidFill>
            <a:srgbClr val="2C7A54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57" name="Text 54"/>
          <p:cNvSpPr txBox="1"/>
          <p:nvPr/>
        </p:nvSpPr>
        <p:spPr>
          <a:xfrm>
            <a:off x="6766560" y="3739896"/>
            <a:ext cx="4133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REDACTION MAP  —  applied to pixels and to disclosed metadata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6583680" y="4096512"/>
            <a:ext cx="5148072" cy="768096"/>
          </a:xfrm>
          <a:prstGeom prst="roundRect">
            <a:avLst>
              <a:gd name="adj" fmla="val 9524"/>
            </a:avLst>
          </a:prstGeom>
          <a:solidFill>
            <a:srgbClr val="10294A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6766560" y="4160520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 —  open-weight VLM, sanitized context only  →  strict JSON action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6766560" y="4379976"/>
            <a:ext cx="1481328" cy="384048"/>
          </a:xfrm>
          <a:prstGeom prst="roundRect">
            <a:avLst>
              <a:gd name="adj" fmla="val 11905"/>
            </a:avLst>
          </a:prstGeom>
          <a:solidFill>
            <a:srgbClr val="1D3E63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61" name="Text 58"/>
          <p:cNvSpPr txBox="1"/>
          <p:nvPr/>
        </p:nvSpPr>
        <p:spPr>
          <a:xfrm>
            <a:off x="6766560" y="448056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8266176" y="4498848"/>
            <a:ext cx="118872" cy="146304"/>
          </a:xfrm>
          <a:prstGeom prst="rightArrow">
            <a:avLst/>
          </a:prstGeom>
          <a:solidFill>
            <a:srgbClr val="6C8AA8"/>
          </a:solidFill>
          <a:ln/>
        </p:spPr>
      </p:sp>
      <p:sp>
        <p:nvSpPr>
          <p:cNvPr id="63" name="Shape 60"/>
          <p:cNvSpPr/>
          <p:nvPr/>
        </p:nvSpPr>
        <p:spPr>
          <a:xfrm>
            <a:off x="8412480" y="4379976"/>
            <a:ext cx="1481328" cy="384048"/>
          </a:xfrm>
          <a:prstGeom prst="roundRect">
            <a:avLst>
              <a:gd name="adj" fmla="val 11905"/>
            </a:avLst>
          </a:prstGeom>
          <a:solidFill>
            <a:srgbClr val="1D3E63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64" name="Text 61"/>
          <p:cNvSpPr txBox="1"/>
          <p:nvPr/>
        </p:nvSpPr>
        <p:spPr>
          <a:xfrm>
            <a:off x="8412480" y="448056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9912096" y="4498848"/>
            <a:ext cx="118872" cy="146304"/>
          </a:xfrm>
          <a:prstGeom prst="rightArrow">
            <a:avLst/>
          </a:prstGeom>
          <a:solidFill>
            <a:srgbClr val="6C8AA8"/>
          </a:solidFill>
          <a:ln/>
        </p:spPr>
      </p:sp>
      <p:sp>
        <p:nvSpPr>
          <p:cNvPr id="66" name="Shape 63"/>
          <p:cNvSpPr/>
          <p:nvPr/>
        </p:nvSpPr>
        <p:spPr>
          <a:xfrm>
            <a:off x="10058400" y="4379976"/>
            <a:ext cx="1481328" cy="384048"/>
          </a:xfrm>
          <a:prstGeom prst="roundRect">
            <a:avLst>
              <a:gd name="adj" fmla="val 11905"/>
            </a:avLst>
          </a:prstGeom>
          <a:solidFill>
            <a:srgbClr val="1D3E63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67" name="Text 64"/>
          <p:cNvSpPr txBox="1"/>
          <p:nvPr/>
        </p:nvSpPr>
        <p:spPr>
          <a:xfrm>
            <a:off x="10058400" y="448056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F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457200" y="5020056"/>
            <a:ext cx="77724" cy="77724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3504" y="4974336"/>
            <a:ext cx="5340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0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457200" y="5212080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71" name="Shape 68"/>
          <p:cNvSpPr/>
          <p:nvPr/>
        </p:nvSpPr>
        <p:spPr>
          <a:xfrm>
            <a:off x="621792" y="5303520"/>
            <a:ext cx="146304" cy="146304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41248" y="52760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050" dirty="0"/>
          </a:p>
        </p:txBody>
      </p:sp>
      <p:sp>
        <p:nvSpPr>
          <p:cNvPr id="73" name="Text 70"/>
          <p:cNvSpPr txBox="1"/>
          <p:nvPr/>
        </p:nvSpPr>
        <p:spPr>
          <a:xfrm>
            <a:off x="621792" y="550468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MV3 · Firefox WebExtensions</a:t>
            </a:r>
            <a:endParaRPr lang="en-US" sz="880" dirty="0"/>
          </a:p>
        </p:txBody>
      </p:sp>
      <p:sp>
        <p:nvSpPr>
          <p:cNvPr id="74" name="Shape 71"/>
          <p:cNvSpPr/>
          <p:nvPr/>
        </p:nvSpPr>
        <p:spPr>
          <a:xfrm>
            <a:off x="3310128" y="5212080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75" name="Shape 72"/>
          <p:cNvSpPr/>
          <p:nvPr/>
        </p:nvSpPr>
        <p:spPr>
          <a:xfrm>
            <a:off x="3474720" y="5303520"/>
            <a:ext cx="146304" cy="146304"/>
          </a:xfrm>
          <a:prstGeom prst="ellipse">
            <a:avLst/>
          </a:prstGeom>
          <a:solidFill>
            <a:srgbClr val="0A5F67"/>
          </a:solidFill>
          <a:ln/>
        </p:spPr>
      </p:sp>
      <p:sp>
        <p:nvSpPr>
          <p:cNvPr id="76" name="Text 73"/>
          <p:cNvSpPr txBox="1"/>
          <p:nvPr/>
        </p:nvSpPr>
        <p:spPr>
          <a:xfrm>
            <a:off x="3694176" y="52760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050" dirty="0"/>
          </a:p>
        </p:txBody>
      </p:sp>
      <p:sp>
        <p:nvSpPr>
          <p:cNvPr id="77" name="Text 74"/>
          <p:cNvSpPr txBox="1"/>
          <p:nvPr/>
        </p:nvSpPr>
        <p:spPr>
          <a:xfrm>
            <a:off x="3474720" y="550468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Runtime Web · WebGPU / WASM · INT8</a:t>
            </a:r>
            <a:endParaRPr lang="en-US" sz="880" dirty="0"/>
          </a:p>
        </p:txBody>
      </p:sp>
      <p:sp>
        <p:nvSpPr>
          <p:cNvPr id="78" name="Shape 75"/>
          <p:cNvSpPr/>
          <p:nvPr/>
        </p:nvSpPr>
        <p:spPr>
          <a:xfrm>
            <a:off x="6163056" y="5212080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6327648" y="5303520"/>
            <a:ext cx="146304" cy="146304"/>
          </a:xfrm>
          <a:prstGeom prst="ellipse">
            <a:avLst/>
          </a:prstGeom>
          <a:solidFill>
            <a:srgbClr val="2C7A5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6547104" y="52760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6327648" y="550468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Regex/checksum · NER · OCR · visual PII</a:t>
            </a:r>
            <a:endParaRPr lang="en-US" sz="880" dirty="0"/>
          </a:p>
        </p:txBody>
      </p:sp>
      <p:sp>
        <p:nvSpPr>
          <p:cNvPr id="82" name="Shape 79"/>
          <p:cNvSpPr/>
          <p:nvPr/>
        </p:nvSpPr>
        <p:spPr>
          <a:xfrm>
            <a:off x="9015984" y="5212080"/>
            <a:ext cx="2697480" cy="640080"/>
          </a:xfrm>
          <a:prstGeom prst="roundRect">
            <a:avLst>
              <a:gd name="adj" fmla="val 11429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83" name="Shape 80"/>
          <p:cNvSpPr/>
          <p:nvPr/>
        </p:nvSpPr>
        <p:spPr>
          <a:xfrm>
            <a:off x="9180576" y="5303520"/>
            <a:ext cx="146304" cy="146304"/>
          </a:xfrm>
          <a:prstGeom prst="ellipse">
            <a:avLst/>
          </a:prstGeom>
          <a:solidFill>
            <a:srgbClr val="1D3E63"/>
          </a:solidFill>
          <a:ln/>
        </p:spPr>
      </p:sp>
      <p:sp>
        <p:nvSpPr>
          <p:cNvPr id="84" name="Text 81"/>
          <p:cNvSpPr txBox="1"/>
          <p:nvPr/>
        </p:nvSpPr>
        <p:spPr>
          <a:xfrm>
            <a:off x="9400032" y="52760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3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050" dirty="0"/>
          </a:p>
        </p:txBody>
      </p:sp>
      <p:sp>
        <p:nvSpPr>
          <p:cNvPr id="85" name="Text 82"/>
          <p:cNvSpPr txBox="1"/>
          <p:nvPr/>
        </p:nvSpPr>
        <p:spPr>
          <a:xfrm>
            <a:off x="9180576" y="5504688"/>
            <a:ext cx="2432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· open-weight VLM · strict JSON</a:t>
            </a:r>
            <a:endParaRPr lang="en-US" sz="880" dirty="0"/>
          </a:p>
        </p:txBody>
      </p:sp>
      <p:sp>
        <p:nvSpPr>
          <p:cNvPr id="86" name="Shape 83"/>
          <p:cNvSpPr/>
          <p:nvPr/>
        </p:nvSpPr>
        <p:spPr>
          <a:xfrm>
            <a:off x="457200" y="6035040"/>
            <a:ext cx="11274552" cy="365760"/>
          </a:xfrm>
          <a:prstGeom prst="roundRect">
            <a:avLst>
              <a:gd name="adj" fmla="val 17500"/>
            </a:avLst>
          </a:prstGeom>
          <a:solidFill>
            <a:srgbClr val="1F4E79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87" name="Text 84"/>
          <p:cNvSpPr txBox="1"/>
          <p:nvPr/>
        </p:nvSpPr>
        <p:spPr>
          <a:xfrm>
            <a:off x="457200" y="6126480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 →  PERCEIVE  →  SANITIZE  →  SELECT CONTEXT  →  PLAN  →  VALIDATE  →  EXECUTE  →  VERIFY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371600" cy="530352"/>
          </a:xfrm>
          <a:prstGeom prst="ellipse">
            <a:avLst/>
          </a:prstGeom>
          <a:solidFill>
            <a:srgbClr val="E3F1F2"/>
          </a:solidFill>
          <a:ln w="1905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384048" y="320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NEXORA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201168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164592"/>
            <a:ext cx="1554480" cy="731520"/>
          </a:xfrm>
          <a:prstGeom prst="rect">
            <a:avLst/>
          </a:prstGeom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0" y="6419088"/>
            <a:ext cx="12191695" cy="22860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1C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840480" y="6537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338560" y="6537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978408"/>
            <a:ext cx="77724" cy="77724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03504" y="93268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0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DIRECTLY AROUND THE FIVE PUBLISHED EVALUATION CRITERIA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170432"/>
            <a:ext cx="2167128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1170432"/>
            <a:ext cx="2167128" cy="475488"/>
          </a:xfrm>
          <a:prstGeom prst="roundRect">
            <a:avLst>
              <a:gd name="adj" fmla="val 15385"/>
            </a:avLst>
          </a:prstGeom>
          <a:solidFill>
            <a:srgbClr val="0E7C86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57200" y="1207008"/>
            <a:ext cx="2167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1755648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CONTEXT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011680"/>
            <a:ext cx="198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sensitive-region detection</a:t>
            </a:r>
            <a:endParaRPr lang="en-US" sz="88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487168"/>
            <a:ext cx="198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3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Measure: </a:t>
            </a:r>
            <a:pPr algn="ctr" indent="0" marL="0">
              <a:lnSpc>
                <a:spcPts val="1000"/>
              </a:lnSpc>
              <a:buNone/>
            </a:pPr>
            <a:r>
              <a:rPr lang="en-US" sz="83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/ R / F1 · IoU</a:t>
            </a:r>
            <a:endParaRPr lang="en-US" sz="830" dirty="0"/>
          </a:p>
        </p:txBody>
      </p:sp>
      <p:sp>
        <p:nvSpPr>
          <p:cNvPr id="18" name="Shape 15"/>
          <p:cNvSpPr/>
          <p:nvPr/>
        </p:nvSpPr>
        <p:spPr>
          <a:xfrm>
            <a:off x="2734056" y="1170432"/>
            <a:ext cx="2167128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2734056" y="1170432"/>
            <a:ext cx="2167128" cy="475488"/>
          </a:xfrm>
          <a:prstGeom prst="roundRect">
            <a:avLst>
              <a:gd name="adj" fmla="val 15385"/>
            </a:avLst>
          </a:prstGeom>
          <a:solidFill>
            <a:srgbClr val="2C7A54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734056" y="1207008"/>
            <a:ext cx="2167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2825496" y="1755648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DETECTION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2825496" y="2011680"/>
            <a:ext cx="198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sensitive-data recognition</a:t>
            </a:r>
            <a:endParaRPr lang="en-US" sz="880" dirty="0"/>
          </a:p>
        </p:txBody>
      </p:sp>
      <p:sp>
        <p:nvSpPr>
          <p:cNvPr id="23" name="Text 20"/>
          <p:cNvSpPr txBox="1"/>
          <p:nvPr/>
        </p:nvSpPr>
        <p:spPr>
          <a:xfrm>
            <a:off x="2825496" y="2487168"/>
            <a:ext cx="198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30" b="1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Measure: </a:t>
            </a:r>
            <a:pPr algn="ctr" indent="0" marL="0">
              <a:lnSpc>
                <a:spcPts val="1000"/>
              </a:lnSpc>
              <a:buNone/>
            </a:pPr>
            <a:r>
              <a:rPr lang="en-US" sz="83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/ Recall / F1</a:t>
            </a:r>
            <a:endParaRPr lang="en-US" sz="830" dirty="0"/>
          </a:p>
        </p:txBody>
      </p:sp>
      <p:sp>
        <p:nvSpPr>
          <p:cNvPr id="24" name="Shape 21"/>
          <p:cNvSpPr/>
          <p:nvPr/>
        </p:nvSpPr>
        <p:spPr>
          <a:xfrm>
            <a:off x="5010912" y="1170432"/>
            <a:ext cx="2167128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5010912" y="1170432"/>
            <a:ext cx="2167128" cy="475488"/>
          </a:xfrm>
          <a:prstGeom prst="roundRect">
            <a:avLst>
              <a:gd name="adj" fmla="val 15385"/>
            </a:avLst>
          </a:prstGeom>
          <a:solidFill>
            <a:srgbClr val="0A5F67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5010912" y="1207008"/>
            <a:ext cx="2167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100" dirty="0"/>
          </a:p>
        </p:txBody>
      </p:sp>
      <p:sp>
        <p:nvSpPr>
          <p:cNvPr id="27" name="Text 24"/>
          <p:cNvSpPr txBox="1"/>
          <p:nvPr/>
        </p:nvSpPr>
        <p:spPr>
          <a:xfrm>
            <a:off x="5102352" y="1755648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102352" y="2011680"/>
            <a:ext cx="198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privacy without destroying context</a:t>
            </a:r>
            <a:endParaRPr lang="en-US" sz="880" dirty="0"/>
          </a:p>
        </p:txBody>
      </p:sp>
      <p:sp>
        <p:nvSpPr>
          <p:cNvPr id="29" name="Text 26"/>
          <p:cNvSpPr txBox="1"/>
          <p:nvPr/>
        </p:nvSpPr>
        <p:spPr>
          <a:xfrm>
            <a:off x="5102352" y="2487168"/>
            <a:ext cx="198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3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Measure: </a:t>
            </a:r>
            <a:pPr algn="ctr" indent="0" marL="0">
              <a:lnSpc>
                <a:spcPts val="1000"/>
              </a:lnSpc>
              <a:buNone/>
            </a:pPr>
            <a:r>
              <a:rPr lang="en-US" sz="83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&amp; span P / R</a:t>
            </a:r>
            <a:endParaRPr lang="en-US" sz="830" dirty="0"/>
          </a:p>
        </p:txBody>
      </p:sp>
      <p:sp>
        <p:nvSpPr>
          <p:cNvPr id="30" name="Shape 27"/>
          <p:cNvSpPr/>
          <p:nvPr/>
        </p:nvSpPr>
        <p:spPr>
          <a:xfrm>
            <a:off x="7287768" y="1170432"/>
            <a:ext cx="2167128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287768" y="1170432"/>
            <a:ext cx="2167128" cy="475488"/>
          </a:xfrm>
          <a:prstGeom prst="roundRect">
            <a:avLst>
              <a:gd name="adj" fmla="val 15385"/>
            </a:avLst>
          </a:prstGeom>
          <a:solidFill>
            <a:srgbClr val="B5680F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7287768" y="1207008"/>
            <a:ext cx="2167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7379208" y="1755648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RESOURCES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7379208" y="2011680"/>
            <a:ext cx="198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browser execution</a:t>
            </a:r>
            <a:endParaRPr lang="en-US" sz="880" dirty="0"/>
          </a:p>
        </p:txBody>
      </p:sp>
      <p:sp>
        <p:nvSpPr>
          <p:cNvPr id="35" name="Text 32"/>
          <p:cNvSpPr txBox="1"/>
          <p:nvPr/>
        </p:nvSpPr>
        <p:spPr>
          <a:xfrm>
            <a:off x="7379208" y="2487168"/>
            <a:ext cx="198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30" b="1" dirty="0">
                <a:solidFill>
                  <a:srgbClr val="B56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Measure: </a:t>
            </a:r>
            <a:pPr algn="ctr" indent="0" marL="0">
              <a:lnSpc>
                <a:spcPts val="1000"/>
              </a:lnSpc>
              <a:buNone/>
            </a:pPr>
            <a:r>
              <a:rPr lang="en-US" sz="83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· model · WebGPU / WASM</a:t>
            </a:r>
            <a:endParaRPr lang="en-US" sz="830" dirty="0"/>
          </a:p>
        </p:txBody>
      </p:sp>
      <p:sp>
        <p:nvSpPr>
          <p:cNvPr id="36" name="Shape 33"/>
          <p:cNvSpPr/>
          <p:nvPr/>
        </p:nvSpPr>
        <p:spPr>
          <a:xfrm>
            <a:off x="9564624" y="1170432"/>
            <a:ext cx="2167128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9564624" y="1170432"/>
            <a:ext cx="2167128" cy="475488"/>
          </a:xfrm>
          <a:prstGeom prst="roundRect">
            <a:avLst>
              <a:gd name="adj" fmla="val 15385"/>
            </a:avLst>
          </a:prstGeom>
          <a:solidFill>
            <a:srgbClr val="1D3E63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9564624" y="1207008"/>
            <a:ext cx="2167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100" dirty="0"/>
          </a:p>
        </p:txBody>
      </p:sp>
      <p:sp>
        <p:nvSpPr>
          <p:cNvPr id="39" name="Text 36"/>
          <p:cNvSpPr txBox="1"/>
          <p:nvPr/>
        </p:nvSpPr>
        <p:spPr>
          <a:xfrm>
            <a:off x="9656064" y="1755648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LATENCY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9656064" y="2011680"/>
            <a:ext cx="198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→ verified action</a:t>
            </a:r>
            <a:endParaRPr lang="en-US" sz="880" dirty="0"/>
          </a:p>
        </p:txBody>
      </p:sp>
      <p:sp>
        <p:nvSpPr>
          <p:cNvPr id="41" name="Text 38"/>
          <p:cNvSpPr txBox="1"/>
          <p:nvPr/>
        </p:nvSpPr>
        <p:spPr>
          <a:xfrm>
            <a:off x="9656064" y="2487168"/>
            <a:ext cx="1984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30" b="1" dirty="0">
                <a:solidFill>
                  <a:srgbClr val="1D3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Measure: </a:t>
            </a:r>
            <a:pPr algn="ctr" indent="0" marL="0">
              <a:lnSpc>
                <a:spcPts val="1000"/>
              </a:lnSpc>
              <a:buNone/>
            </a:pPr>
            <a:r>
              <a:rPr lang="en-US" sz="83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stage-wise ms</a:t>
            </a:r>
            <a:endParaRPr lang="en-US" sz="830" dirty="0"/>
          </a:p>
        </p:txBody>
      </p:sp>
      <p:sp>
        <p:nvSpPr>
          <p:cNvPr id="42" name="Shape 39"/>
          <p:cNvSpPr/>
          <p:nvPr/>
        </p:nvSpPr>
        <p:spPr>
          <a:xfrm>
            <a:off x="457200" y="3154680"/>
            <a:ext cx="77724" cy="77724"/>
          </a:xfrm>
          <a:prstGeom prst="rect">
            <a:avLst/>
          </a:prstGeom>
          <a:solidFill>
            <a:srgbClr val="0A5F67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603504" y="3108960"/>
            <a:ext cx="7168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VALIDATION  —  REFERENCE BENCHMARK, 48 HELD-OUT PAGES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57200" y="3328416"/>
            <a:ext cx="3840480" cy="2743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530352" y="3383280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 pipeline</a:t>
            </a:r>
            <a:endParaRPr lang="en-US" sz="850" dirty="0"/>
          </a:p>
        </p:txBody>
      </p:sp>
      <p:sp>
        <p:nvSpPr>
          <p:cNvPr id="46" name="Shape 43"/>
          <p:cNvSpPr/>
          <p:nvPr/>
        </p:nvSpPr>
        <p:spPr>
          <a:xfrm>
            <a:off x="4297680" y="3328416"/>
            <a:ext cx="1828800" cy="2743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4370832" y="3383280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precision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6126480" y="3328416"/>
            <a:ext cx="1828800" cy="2743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199632" y="3383280"/>
            <a:ext cx="16824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recall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7955280" y="3328416"/>
            <a:ext cx="2011680" cy="2743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8028432" y="3383280"/>
            <a:ext cx="1865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recall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9966960" y="3328416"/>
            <a:ext cx="1764792" cy="2743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0040112" y="3383280"/>
            <a:ext cx="1618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Redaction precision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457200" y="3602736"/>
            <a:ext cx="384048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48640" y="36667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signals only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4297680" y="3602736"/>
            <a:ext cx="18288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389120" y="366674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6126480" y="3602736"/>
            <a:ext cx="18288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217920" y="366674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68.5%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7955280" y="3602736"/>
            <a:ext cx="201168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046720" y="3666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63.2%</a:t>
            </a:r>
            <a:endParaRPr lang="en-US" sz="1000" dirty="0"/>
          </a:p>
        </p:txBody>
      </p:sp>
      <p:sp>
        <p:nvSpPr>
          <p:cNvPr id="62" name="Shape 59"/>
          <p:cNvSpPr/>
          <p:nvPr/>
        </p:nvSpPr>
        <p:spPr>
          <a:xfrm>
            <a:off x="9966960" y="3602736"/>
            <a:ext cx="176479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058400" y="3666744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457200" y="3931920"/>
            <a:ext cx="384048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548640" y="39959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contextual entity detection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4297680" y="3931920"/>
            <a:ext cx="18288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4389120" y="39959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6126480" y="3931920"/>
            <a:ext cx="18288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6217920" y="39959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83.8%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955280" y="3931920"/>
            <a:ext cx="201168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046720" y="399592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71.7%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9966960" y="3931920"/>
            <a:ext cx="176479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58400" y="3995928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457200" y="4261104"/>
            <a:ext cx="3840480" cy="329184"/>
          </a:xfrm>
          <a:prstGeom prst="rect">
            <a:avLst/>
          </a:prstGeom>
          <a:solidFill>
            <a:srgbClr val="F2F7F4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548640" y="43251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visual / OCR escalation</a:t>
            </a:r>
            <a:endParaRPr lang="en-US" sz="1000" dirty="0"/>
          </a:p>
        </p:txBody>
      </p:sp>
      <p:sp>
        <p:nvSpPr>
          <p:cNvPr id="76" name="Shape 73"/>
          <p:cNvSpPr/>
          <p:nvPr/>
        </p:nvSpPr>
        <p:spPr>
          <a:xfrm>
            <a:off x="4297680" y="4261104"/>
            <a:ext cx="1828800" cy="329184"/>
          </a:xfrm>
          <a:prstGeom prst="rect">
            <a:avLst/>
          </a:prstGeom>
          <a:solidFill>
            <a:srgbClr val="F2F7F4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32511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91.8%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6126480" y="4261104"/>
            <a:ext cx="1828800" cy="329184"/>
          </a:xfrm>
          <a:prstGeom prst="rect">
            <a:avLst/>
          </a:prstGeom>
          <a:solidFill>
            <a:srgbClr val="F2F7F4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6217920" y="432511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96.8%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7955280" y="4261104"/>
            <a:ext cx="2011680" cy="329184"/>
          </a:xfrm>
          <a:prstGeom prst="rect">
            <a:avLst/>
          </a:prstGeom>
          <a:solidFill>
            <a:srgbClr val="E6F3EC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8046720" y="432511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98.4%  ↑</a:t>
            </a:r>
            <a:endParaRPr lang="en-US" sz="1150" dirty="0"/>
          </a:p>
        </p:txBody>
      </p:sp>
      <p:sp>
        <p:nvSpPr>
          <p:cNvPr id="82" name="Shape 79"/>
          <p:cNvSpPr/>
          <p:nvPr/>
        </p:nvSpPr>
        <p:spPr>
          <a:xfrm>
            <a:off x="9966960" y="4261104"/>
            <a:ext cx="1764792" cy="329184"/>
          </a:xfrm>
          <a:prstGeom prst="rect">
            <a:avLst/>
          </a:prstGeom>
          <a:solidFill>
            <a:srgbClr val="FBF0E1"/>
          </a:solidFill>
          <a:ln w="9525">
            <a:solidFill>
              <a:srgbClr val="D3DDE6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10058400" y="4325112"/>
            <a:ext cx="1581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56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55.9%  ↓</a:t>
            </a:r>
            <a:endParaRPr lang="en-US" sz="1150" dirty="0"/>
          </a:p>
        </p:txBody>
      </p:sp>
      <p:sp>
        <p:nvSpPr>
          <p:cNvPr id="84" name="Shape 81"/>
          <p:cNvSpPr/>
          <p:nvPr/>
        </p:nvSpPr>
        <p:spPr>
          <a:xfrm>
            <a:off x="457200" y="4718304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F1F2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85" name="Text 82"/>
          <p:cNvSpPr txBox="1"/>
          <p:nvPr/>
        </p:nvSpPr>
        <p:spPr>
          <a:xfrm>
            <a:off x="685800" y="4791456"/>
            <a:ext cx="10835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selective escalation?</a:t>
            </a:r>
            <a:endParaRPr lang="en-US" sz="1150" dirty="0"/>
          </a:p>
        </p:txBody>
      </p:sp>
      <p:sp>
        <p:nvSpPr>
          <p:cNvPr id="86" name="Text 83"/>
          <p:cNvSpPr txBox="1"/>
          <p:nvPr/>
        </p:nvSpPr>
        <p:spPr>
          <a:xfrm>
            <a:off x="685800" y="5010912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closes privacy blind spots — but always-on vision over-masks safe content.</a:t>
            </a:r>
            <a:endParaRPr lang="en-US" sz="1150" dirty="0"/>
          </a:p>
        </p:txBody>
      </p:sp>
      <p:sp>
        <p:nvSpPr>
          <p:cNvPr id="87" name="Shape 84"/>
          <p:cNvSpPr/>
          <p:nvPr/>
        </p:nvSpPr>
        <p:spPr>
          <a:xfrm>
            <a:off x="457200" y="5532120"/>
            <a:ext cx="77724" cy="77724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03504" y="5486400"/>
            <a:ext cx="7168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0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FINAL SYSTEM WILL BE PROVEN</a:t>
            </a:r>
            <a:endParaRPr lang="en-US" sz="1000" dirty="0"/>
          </a:p>
        </p:txBody>
      </p:sp>
      <p:sp>
        <p:nvSpPr>
          <p:cNvPr id="89" name="Shape 86"/>
          <p:cNvSpPr/>
          <p:nvPr/>
        </p:nvSpPr>
        <p:spPr>
          <a:xfrm>
            <a:off x="457200" y="5687568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457200" y="56875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Baselines</a:t>
            </a:r>
            <a:endParaRPr lang="en-US" sz="1150" dirty="0"/>
          </a:p>
        </p:txBody>
      </p:sp>
      <p:sp>
        <p:nvSpPr>
          <p:cNvPr id="91" name="Shape 88"/>
          <p:cNvSpPr/>
          <p:nvPr/>
        </p:nvSpPr>
        <p:spPr>
          <a:xfrm>
            <a:off x="3310128" y="5687568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92" name="Text 89"/>
          <p:cNvSpPr txBox="1"/>
          <p:nvPr/>
        </p:nvSpPr>
        <p:spPr>
          <a:xfrm>
            <a:off x="3310128" y="56875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Domains</a:t>
            </a:r>
            <a:endParaRPr lang="en-US" sz="1150" dirty="0"/>
          </a:p>
        </p:txBody>
      </p:sp>
      <p:sp>
        <p:nvSpPr>
          <p:cNvPr id="93" name="Shape 90"/>
          <p:cNvSpPr/>
          <p:nvPr/>
        </p:nvSpPr>
        <p:spPr>
          <a:xfrm>
            <a:off x="6163056" y="5687568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94" name="Text 91"/>
          <p:cNvSpPr txBox="1"/>
          <p:nvPr/>
        </p:nvSpPr>
        <p:spPr>
          <a:xfrm>
            <a:off x="6163056" y="56875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Ablation</a:t>
            </a:r>
            <a:endParaRPr lang="en-US" sz="1150" dirty="0"/>
          </a:p>
        </p:txBody>
      </p:sp>
      <p:sp>
        <p:nvSpPr>
          <p:cNvPr id="95" name="Shape 92"/>
          <p:cNvSpPr/>
          <p:nvPr/>
        </p:nvSpPr>
        <p:spPr>
          <a:xfrm>
            <a:off x="9015984" y="5687568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96" name="Text 93"/>
          <p:cNvSpPr txBox="1"/>
          <p:nvPr/>
        </p:nvSpPr>
        <p:spPr>
          <a:xfrm>
            <a:off x="9015984" y="56875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Profiling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371600" cy="530352"/>
          </a:xfrm>
          <a:prstGeom prst="ellipse">
            <a:avLst/>
          </a:prstGeom>
          <a:solidFill>
            <a:srgbClr val="E3F1F2"/>
          </a:solidFill>
          <a:ln w="1905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384048" y="320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NEXORA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201168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164592"/>
            <a:ext cx="1554480" cy="731520"/>
          </a:xfrm>
          <a:prstGeom prst="rect">
            <a:avLst/>
          </a:prstGeom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0" y="6419088"/>
            <a:ext cx="12191695" cy="22860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1C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840480" y="6537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338560" y="6537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77724" cy="77724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03504" y="9144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0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IMPACT ON THE TARGET AUDIENCE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133856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1F4E79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7200" y="1243584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and developers deploying AI agents over authenticated, privacy-sensitive browser workflows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517904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FCB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face a hard trade-off between capable server-side reasoning and exposing sensitive visual context. AegisBrowse is designed to reduce that trade-off through local perception and controlled disclosure.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190195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DEPLOYMENT DOMAINS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57200" y="2103120"/>
            <a:ext cx="2167128" cy="640080"/>
          </a:xfrm>
          <a:prstGeom prst="roundRect">
            <a:avLst>
              <a:gd name="adj" fmla="val 11429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30352" y="2176272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services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2359152"/>
            <a:ext cx="2020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certificates, grievances,</a:t>
            </a:r>
            <a:endParaRPr lang="en-US" sz="86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applications</a:t>
            </a:r>
            <a:endParaRPr lang="en-US" sz="860" dirty="0"/>
          </a:p>
        </p:txBody>
      </p:sp>
      <p:sp>
        <p:nvSpPr>
          <p:cNvPr id="19" name="Shape 16"/>
          <p:cNvSpPr/>
          <p:nvPr/>
        </p:nvSpPr>
        <p:spPr>
          <a:xfrm>
            <a:off x="2734056" y="2103120"/>
            <a:ext cx="2167128" cy="640080"/>
          </a:xfrm>
          <a:prstGeom prst="roundRect">
            <a:avLst>
              <a:gd name="adj" fmla="val 11429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807208" y="2176272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2807208" y="2359152"/>
            <a:ext cx="2020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scholarships, admissions,</a:t>
            </a:r>
            <a:endParaRPr lang="en-US" sz="86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examination portals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5010912" y="2103120"/>
            <a:ext cx="2167128" cy="640080"/>
          </a:xfrm>
          <a:prstGeom prst="roundRect">
            <a:avLst>
              <a:gd name="adj" fmla="val 11429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5084064" y="2176272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&amp; finance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084064" y="2359152"/>
            <a:ext cx="2020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KYC-heavy account and</a:t>
            </a:r>
            <a:endParaRPr lang="en-US" sz="86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screens</a:t>
            </a:r>
            <a:endParaRPr lang="en-US" sz="860" dirty="0"/>
          </a:p>
        </p:txBody>
      </p:sp>
      <p:sp>
        <p:nvSpPr>
          <p:cNvPr id="25" name="Shape 22"/>
          <p:cNvSpPr/>
          <p:nvPr/>
        </p:nvSpPr>
        <p:spPr>
          <a:xfrm>
            <a:off x="7287768" y="2103120"/>
            <a:ext cx="2167128" cy="640080"/>
          </a:xfrm>
          <a:prstGeom prst="roundRect">
            <a:avLst>
              <a:gd name="adj" fmla="val 11429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360920" y="2176272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360920" y="2359152"/>
            <a:ext cx="2020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records and</a:t>
            </a:r>
            <a:endParaRPr lang="en-US" sz="86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portals</a:t>
            </a:r>
            <a:endParaRPr lang="en-US" sz="860" dirty="0"/>
          </a:p>
        </p:txBody>
      </p:sp>
      <p:sp>
        <p:nvSpPr>
          <p:cNvPr id="28" name="Shape 25"/>
          <p:cNvSpPr/>
          <p:nvPr/>
        </p:nvSpPr>
        <p:spPr>
          <a:xfrm>
            <a:off x="9564624" y="2103120"/>
            <a:ext cx="2167128" cy="640080"/>
          </a:xfrm>
          <a:prstGeom prst="roundRect">
            <a:avLst>
              <a:gd name="adj" fmla="val 11429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9637776" y="2176272"/>
            <a:ext cx="2020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resources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637776" y="2359152"/>
            <a:ext cx="2020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onboarding, payroll,</a:t>
            </a:r>
            <a:endParaRPr lang="en-US" sz="86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</a:t>
            </a:r>
            <a:endParaRPr lang="en-US" sz="860" dirty="0"/>
          </a:p>
        </p:txBody>
      </p:sp>
      <p:sp>
        <p:nvSpPr>
          <p:cNvPr id="31" name="Shape 28"/>
          <p:cNvSpPr/>
          <p:nvPr/>
        </p:nvSpPr>
        <p:spPr>
          <a:xfrm>
            <a:off x="457200" y="3026664"/>
            <a:ext cx="77724" cy="77724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03504" y="2980944"/>
            <a:ext cx="5340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0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OF THE SOLUTION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57200" y="3200400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E3F1F2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21792" y="329184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1350" dirty="0"/>
          </a:p>
        </p:txBody>
      </p:sp>
      <p:sp>
        <p:nvSpPr>
          <p:cNvPr id="35" name="Text 32"/>
          <p:cNvSpPr txBox="1"/>
          <p:nvPr/>
        </p:nvSpPr>
        <p:spPr>
          <a:xfrm>
            <a:off x="621792" y="353872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21792" y="3758184"/>
            <a:ext cx="23957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identity context processed locally, before remote reasoning.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3310128" y="3200400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E6F3EC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3474720" y="329184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3474720" y="353872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C7A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3474720" y="3758184"/>
            <a:ext cx="23957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sensitive context and visual payload transmitted per automated task.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6163056" y="3200400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BF0E1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327648" y="329184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56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endParaRPr lang="en-US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6327648" y="353872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56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00" dirty="0"/>
          </a:p>
        </p:txBody>
      </p:sp>
      <p:sp>
        <p:nvSpPr>
          <p:cNvPr id="44" name="Text 41"/>
          <p:cNvSpPr txBox="1"/>
          <p:nvPr/>
        </p:nvSpPr>
        <p:spPr>
          <a:xfrm>
            <a:off x="6327648" y="3758184"/>
            <a:ext cx="23957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open-weight planners run on organization-controlled infrastructure.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015984" y="3200400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E7EDF5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9180576" y="329184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3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9180576" y="353872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D3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REUSABILITY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9180576" y="3758184"/>
            <a:ext cx="23957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 privacy layer applicable across authenticated workflows.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57200" y="4946904"/>
            <a:ext cx="77724" cy="77724"/>
          </a:xfrm>
          <a:prstGeom prst="rect">
            <a:avLst/>
          </a:prstGeom>
          <a:solidFill>
            <a:srgbClr val="0A5F67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03504" y="4901184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IMPACT WILL BE EVIDENCED  —  MEASURED, NEVER ASSERTED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57200" y="5120640"/>
            <a:ext cx="2167128" cy="512064"/>
          </a:xfrm>
          <a:prstGeom prst="roundRect">
            <a:avLst>
              <a:gd name="adj" fmla="val 14286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52" name="Text 49"/>
          <p:cNvSpPr txBox="1"/>
          <p:nvPr/>
        </p:nvSpPr>
        <p:spPr>
          <a:xfrm>
            <a:off x="512064" y="525780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success rate</a:t>
            </a:r>
            <a:endParaRPr lang="en-US" sz="1050" dirty="0"/>
          </a:p>
        </p:txBody>
      </p:sp>
      <p:sp>
        <p:nvSpPr>
          <p:cNvPr id="53" name="Shape 50"/>
          <p:cNvSpPr/>
          <p:nvPr/>
        </p:nvSpPr>
        <p:spPr>
          <a:xfrm>
            <a:off x="2734056" y="5120640"/>
            <a:ext cx="2167128" cy="512064"/>
          </a:xfrm>
          <a:prstGeom prst="roundRect">
            <a:avLst>
              <a:gd name="adj" fmla="val 14286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54" name="Text 51"/>
          <p:cNvSpPr txBox="1"/>
          <p:nvPr/>
        </p:nvSpPr>
        <p:spPr>
          <a:xfrm>
            <a:off x="2788920" y="525780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leakage</a:t>
            </a:r>
            <a:endParaRPr lang="en-US" sz="1050" dirty="0"/>
          </a:p>
        </p:txBody>
      </p:sp>
      <p:sp>
        <p:nvSpPr>
          <p:cNvPr id="55" name="Shape 52"/>
          <p:cNvSpPr/>
          <p:nvPr/>
        </p:nvSpPr>
        <p:spPr>
          <a:xfrm>
            <a:off x="5010912" y="5120640"/>
            <a:ext cx="2167128" cy="512064"/>
          </a:xfrm>
          <a:prstGeom prst="roundRect">
            <a:avLst>
              <a:gd name="adj" fmla="val 14286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5065776" y="525780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exposure</a:t>
            </a:r>
            <a:endParaRPr lang="en-US" sz="1050" dirty="0"/>
          </a:p>
        </p:txBody>
      </p:sp>
      <p:sp>
        <p:nvSpPr>
          <p:cNvPr id="57" name="Shape 54"/>
          <p:cNvSpPr/>
          <p:nvPr/>
        </p:nvSpPr>
        <p:spPr>
          <a:xfrm>
            <a:off x="7287768" y="5120640"/>
            <a:ext cx="2167128" cy="512064"/>
          </a:xfrm>
          <a:prstGeom prst="roundRect">
            <a:avLst>
              <a:gd name="adj" fmla="val 14286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58" name="Text 55"/>
          <p:cNvSpPr txBox="1"/>
          <p:nvPr/>
        </p:nvSpPr>
        <p:spPr>
          <a:xfrm>
            <a:off x="7342632" y="525780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resource cost</a:t>
            </a:r>
            <a:endParaRPr lang="en-US" sz="1050" dirty="0"/>
          </a:p>
        </p:txBody>
      </p:sp>
      <p:sp>
        <p:nvSpPr>
          <p:cNvPr id="59" name="Shape 56"/>
          <p:cNvSpPr/>
          <p:nvPr/>
        </p:nvSpPr>
        <p:spPr>
          <a:xfrm>
            <a:off x="9564624" y="5120640"/>
            <a:ext cx="2167128" cy="512064"/>
          </a:xfrm>
          <a:prstGeom prst="roundRect">
            <a:avLst>
              <a:gd name="adj" fmla="val 14286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60" name="Text 57"/>
          <p:cNvSpPr txBox="1"/>
          <p:nvPr/>
        </p:nvSpPr>
        <p:spPr>
          <a:xfrm>
            <a:off x="9619488" y="525780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latency</a:t>
            </a:r>
            <a:endParaRPr lang="en-US" sz="1050" dirty="0"/>
          </a:p>
        </p:txBody>
      </p:sp>
      <p:sp>
        <p:nvSpPr>
          <p:cNvPr id="61" name="Shape 58"/>
          <p:cNvSpPr/>
          <p:nvPr/>
        </p:nvSpPr>
        <p:spPr>
          <a:xfrm>
            <a:off x="457200" y="5797296"/>
            <a:ext cx="11274552" cy="457200"/>
          </a:xfrm>
          <a:prstGeom prst="roundRect">
            <a:avLst>
              <a:gd name="adj" fmla="val 14000"/>
            </a:avLst>
          </a:prstGeom>
          <a:solidFill>
            <a:srgbClr val="1F4E79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62" name="Text 59"/>
          <p:cNvSpPr txBox="1"/>
          <p:nvPr/>
        </p:nvSpPr>
        <p:spPr>
          <a:xfrm>
            <a:off x="457200" y="5907024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Server-grade intelligence on private screens — without making the raw screen the default server input.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371600" cy="530352"/>
          </a:xfrm>
          <a:prstGeom prst="ellipse">
            <a:avLst/>
          </a:prstGeom>
          <a:solidFill>
            <a:srgbClr val="E3F1F2"/>
          </a:solidFill>
          <a:ln w="1905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" name="Text 1"/>
          <p:cNvSpPr txBox="1"/>
          <p:nvPr/>
        </p:nvSpPr>
        <p:spPr>
          <a:xfrm>
            <a:off x="384048" y="320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NEXORA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2011680" y="201168"/>
            <a:ext cx="7863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0" y="164592"/>
            <a:ext cx="1554480" cy="731520"/>
          </a:xfrm>
          <a:prstGeom prst="rect">
            <a:avLst/>
          </a:prstGeom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0" y="6419088"/>
            <a:ext cx="12191695" cy="22860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7" name="Shap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071C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840480" y="6537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338560" y="6537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7200" y="960120"/>
            <a:ext cx="77724" cy="77724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03504" y="914400"/>
            <a:ext cx="62544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0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  →  THE GAP  →  OUR POSITION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117043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WORK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57200" y="1389888"/>
            <a:ext cx="32004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03504" y="145389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screenshot → cloud VLM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" y="1636776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A83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visual context leaves the device</a:t>
            </a:r>
            <a:endParaRPr lang="en-US" sz="860" dirty="0"/>
          </a:p>
        </p:txBody>
      </p:sp>
      <p:sp>
        <p:nvSpPr>
          <p:cNvPr id="16" name="Shape 13"/>
          <p:cNvSpPr/>
          <p:nvPr/>
        </p:nvSpPr>
        <p:spPr>
          <a:xfrm>
            <a:off x="457200" y="2066544"/>
            <a:ext cx="32004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03504" y="21305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/ accessibility only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313432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B56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canvas, images, scanned documents</a:t>
            </a:r>
            <a:endParaRPr lang="en-US" sz="860" dirty="0"/>
          </a:p>
        </p:txBody>
      </p:sp>
      <p:sp>
        <p:nvSpPr>
          <p:cNvPr id="19" name="Shape 16"/>
          <p:cNvSpPr/>
          <p:nvPr/>
        </p:nvSpPr>
        <p:spPr>
          <a:xfrm>
            <a:off x="457200" y="2743200"/>
            <a:ext cx="32004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03504" y="28072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redacted screenshot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03504" y="2990088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B56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ships unnecessary safe context every step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457200" y="3419856"/>
            <a:ext cx="32004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03504" y="34838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local agent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03504" y="3666744"/>
            <a:ext cx="29443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B568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client compute, memory and model capability</a:t>
            </a:r>
            <a:endParaRPr lang="en-US" sz="860" dirty="0"/>
          </a:p>
        </p:txBody>
      </p:sp>
      <p:sp>
        <p:nvSpPr>
          <p:cNvPr id="25" name="Shape 22"/>
          <p:cNvSpPr/>
          <p:nvPr/>
        </p:nvSpPr>
        <p:spPr>
          <a:xfrm>
            <a:off x="3767328" y="2596896"/>
            <a:ext cx="274320" cy="219456"/>
          </a:xfrm>
          <a:prstGeom prst="rightArrow">
            <a:avLst/>
          </a:prstGeom>
          <a:solidFill>
            <a:srgbClr val="9DB2C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160520" y="11704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160520" y="1389888"/>
            <a:ext cx="3017520" cy="2633472"/>
          </a:xfrm>
          <a:prstGeom prst="roundRect">
            <a:avLst>
              <a:gd name="adj" fmla="val 2778"/>
            </a:avLst>
          </a:prstGeom>
          <a:solidFill>
            <a:srgbClr val="F4F8FB"/>
          </a:solidFill>
          <a:ln w="12700">
            <a:solidFill>
              <a:srgbClr val="10294A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343400" y="1572768"/>
            <a:ext cx="2697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0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approaches separately optimize perception, privacy, or agent capability.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43400" y="228600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70" dirty="0">
                <a:solidFill>
                  <a:srgbClr val="172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unresolved question is how to jointly minimize disclosure while preserving task success under browser compute constraints.</a:t>
            </a:r>
            <a:endParaRPr lang="en-US" sz="970" dirty="0"/>
          </a:p>
        </p:txBody>
      </p:sp>
      <p:sp>
        <p:nvSpPr>
          <p:cNvPr id="30" name="Text 27"/>
          <p:cNvSpPr txBox="1"/>
          <p:nvPr/>
        </p:nvSpPr>
        <p:spPr>
          <a:xfrm>
            <a:off x="4343400" y="3310128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benchmarks give limited coverage of Indian government-portal PII patterns, so we build and release our own.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7287768" y="2596896"/>
            <a:ext cx="274320" cy="219456"/>
          </a:xfrm>
          <a:prstGeom prst="rightArrow">
            <a:avLst/>
          </a:prstGeom>
          <a:solidFill>
            <a:srgbClr val="0E7C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680960" y="11704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POSITION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680960" y="1389888"/>
            <a:ext cx="4050792" cy="603504"/>
          </a:xfrm>
          <a:prstGeom prst="roundRect">
            <a:avLst>
              <a:gd name="adj" fmla="val 12121"/>
            </a:avLst>
          </a:prstGeom>
          <a:solidFill>
            <a:srgbClr val="E3F1F2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845552" y="146304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privacy fusion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7845552" y="16550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detector is trusted with all sensitive data</a:t>
            </a:r>
            <a:endParaRPr lang="en-US" sz="860" dirty="0"/>
          </a:p>
        </p:txBody>
      </p:sp>
      <p:sp>
        <p:nvSpPr>
          <p:cNvPr id="36" name="Shape 33"/>
          <p:cNvSpPr/>
          <p:nvPr/>
        </p:nvSpPr>
        <p:spPr>
          <a:xfrm>
            <a:off x="7680960" y="2066544"/>
            <a:ext cx="4050792" cy="603504"/>
          </a:xfrm>
          <a:prstGeom prst="roundRect">
            <a:avLst>
              <a:gd name="adj" fmla="val 12121"/>
            </a:avLst>
          </a:prstGeom>
          <a:solidFill>
            <a:srgbClr val="E3F1F2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7845552" y="2139696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Task-aware sanitized context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7845552" y="233172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 stops being the unit of disclosure</a:t>
            </a:r>
            <a:endParaRPr lang="en-US" sz="860" dirty="0"/>
          </a:p>
        </p:txBody>
      </p:sp>
      <p:sp>
        <p:nvSpPr>
          <p:cNvPr id="39" name="Shape 36"/>
          <p:cNvSpPr/>
          <p:nvPr/>
        </p:nvSpPr>
        <p:spPr>
          <a:xfrm>
            <a:off x="7680960" y="2743200"/>
            <a:ext cx="4050792" cy="603504"/>
          </a:xfrm>
          <a:prstGeom prst="roundRect">
            <a:avLst>
              <a:gd name="adj" fmla="val 12121"/>
            </a:avLst>
          </a:prstGeom>
          <a:solidFill>
            <a:srgbClr val="E3F1F2"/>
          </a:solidFill>
          <a:ln w="12700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845552" y="281635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A5F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cascaded perception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7845552" y="3008376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 vision runs only where it is needed</a:t>
            </a:r>
            <a:endParaRPr lang="en-US" sz="860" dirty="0"/>
          </a:p>
        </p:txBody>
      </p:sp>
      <p:sp>
        <p:nvSpPr>
          <p:cNvPr id="42" name="Shape 39"/>
          <p:cNvSpPr/>
          <p:nvPr/>
        </p:nvSpPr>
        <p:spPr>
          <a:xfrm>
            <a:off x="7680960" y="3419856"/>
            <a:ext cx="4050792" cy="603504"/>
          </a:xfrm>
          <a:prstGeom prst="roundRect">
            <a:avLst>
              <a:gd name="adj" fmla="val 12121"/>
            </a:avLst>
          </a:prstGeom>
          <a:solidFill>
            <a:srgbClr val="0E7C86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7845552" y="3493008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asserted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7845552" y="368503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60" dirty="0">
                <a:solidFill>
                  <a:srgbClr val="CFEA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official metrics, four baselines, open benchmark</a:t>
            </a:r>
            <a:endParaRPr lang="en-US" sz="860" dirty="0"/>
          </a:p>
        </p:txBody>
      </p:sp>
      <p:sp>
        <p:nvSpPr>
          <p:cNvPr id="45" name="Shape 42"/>
          <p:cNvSpPr/>
          <p:nvPr/>
        </p:nvSpPr>
        <p:spPr>
          <a:xfrm>
            <a:off x="457200" y="4224528"/>
            <a:ext cx="11274552" cy="566928"/>
          </a:xfrm>
          <a:prstGeom prst="roundRect">
            <a:avLst>
              <a:gd name="adj" fmla="val 12903"/>
            </a:avLst>
          </a:prstGeom>
          <a:solidFill>
            <a:srgbClr val="10294A"/>
          </a:solidFill>
          <a:ln/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0080" y="434340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AegisBrowse does not treat sanitization as a single redaction step: it fuses structural and visual privacy signals, escalates perception selectively, and transmits task-relevant sanitized context instead of the whole screen.</a:t>
            </a:r>
            <a:endParaRPr lang="en-US" sz="1150" dirty="0"/>
          </a:p>
        </p:txBody>
      </p:sp>
      <p:sp>
        <p:nvSpPr>
          <p:cNvPr id="47" name="Shape 44"/>
          <p:cNvSpPr/>
          <p:nvPr/>
        </p:nvSpPr>
        <p:spPr>
          <a:xfrm>
            <a:off x="457200" y="4910328"/>
            <a:ext cx="77724" cy="77724"/>
          </a:xfrm>
          <a:prstGeom prst="rect">
            <a:avLst/>
          </a:prstGeom>
          <a:solidFill>
            <a:srgbClr val="10294A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603504" y="4864608"/>
            <a:ext cx="7168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0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 / LINKS OF REFERENCE AND RESEARCH WORK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084064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2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 et al. — Mind2Web: Towards a Generalist Agent for the Web · arXiv 2306.06070</a:t>
            </a:r>
            <a:endParaRPr lang="en-US" sz="900" dirty="0"/>
          </a:p>
          <a:p>
            <a:pPr marL="342900" indent="-342900">
              <a:lnSpc>
                <a:spcPts val="12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Zheng et al. — SeeAct: GPT-4V(ision) is a Generalist Web Agent, if Grounded · arXiv 2401.01614</a:t>
            </a:r>
            <a:endParaRPr lang="en-US" sz="900" dirty="0"/>
          </a:p>
          <a:p>
            <a:pPr marL="342900" indent="-342900">
              <a:lnSpc>
                <a:spcPts val="12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 et al. — OmniParser for Pure Vision Based GUI Agent · arXiv 2408.00203</a:t>
            </a:r>
            <a:endParaRPr lang="en-US" sz="900" dirty="0"/>
          </a:p>
          <a:p>
            <a:pPr marL="342900" indent="-342900">
              <a:lnSpc>
                <a:spcPts val="12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 et al. — PrivWeb: Content-aware Privacy Protection for Web Agents · arXiv 2509.11939</a:t>
            </a:r>
            <a:endParaRPr lang="en-US" sz="900" dirty="0"/>
          </a:p>
          <a:p>
            <a:pPr marL="342900" indent="-342900">
              <a:lnSpc>
                <a:spcPts val="12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Zhao — WebPII: Benchmarking Visual PII Detection · arXiv 2603.17357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247888" y="5065776"/>
            <a:ext cx="3483864" cy="1280160"/>
          </a:xfrm>
          <a:prstGeom prst="roundRect">
            <a:avLst>
              <a:gd name="adj" fmla="val 5714"/>
            </a:avLst>
          </a:prstGeom>
          <a:solidFill>
            <a:srgbClr val="F4F8FB"/>
          </a:solidFill>
          <a:ln w="12700">
            <a:solidFill>
              <a:srgbClr val="D3DDE6"/>
            </a:solidFill>
            <a:prstDash val="solid"/>
          </a:ln>
          <a:effectLst>
            <a:outerShdw sx="100000" sy="100000" kx="0" ky="0" algn="bl" rotWithShape="0" blurRad="76200" dist="12700" dir="5400000">
              <a:srgbClr val="9FB0C0">
                <a:alpha val="28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8412480" y="5157216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70" b="1" spc="80" kern="0" dirty="0">
                <a:solidFill>
                  <a:srgbClr val="10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MATERIAL</a:t>
            </a:r>
            <a:endParaRPr lang="en-US" sz="870" dirty="0"/>
          </a:p>
        </p:txBody>
      </p:sp>
      <p:sp>
        <p:nvSpPr>
          <p:cNvPr id="52" name="Text 49"/>
          <p:cNvSpPr txBox="1"/>
          <p:nvPr/>
        </p:nvSpPr>
        <p:spPr>
          <a:xfrm>
            <a:off x="8412480" y="5367528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3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literature review, benchmark and implementation available in supporting material.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AegisBrowse - SIH 2026</dc:title>
  <dc:subject>PptxGenJS Presentation</dc:subject>
  <dc:creator>Team NEXORA</dc:creator>
  <cp:lastModifiedBy>Team NEXORA</cp:lastModifiedBy>
  <cp:revision>1</cp:revision>
  <dcterms:created xsi:type="dcterms:W3CDTF">2026-09-02T14:27:19Z</dcterms:created>
  <dcterms:modified xsi:type="dcterms:W3CDTF">2026-09-02T14:27:19Z</dcterms:modified>
</cp:coreProperties>
</file>