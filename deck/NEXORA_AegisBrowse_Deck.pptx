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dc6c688eba4bf2" /><Relationship Type="http://schemas.openxmlformats.org/officeDocument/2006/relationships/extended-properties" Target="/docProps/app.xml" Id="R1661b85fb4454335" /><Relationship Type="http://schemas.openxmlformats.org/officeDocument/2006/relationships/officeDocument" Target="/ppt/presentation.xml" Id="Rf69250d7543b4b1d" /></Relationships>
</file>

<file path=ppt/presentation.xml><?xml version="1.0" encoding="utf-8"?>
<p:presentation xmlns:p="http://schemas.openxmlformats.org/presentationml/2006/main">
  <p:sldMasterIdLst>
    <p:sldMasterId xmlns:r="http://schemas.openxmlformats.org/officeDocument/2006/relationships" id="2147483648" r:id="Rd56eb3909b964a2f"/>
  </p:sldMasterIdLst>
  <p:notesMasterIdLst>
    <p:notesMasterId xmlns:r="http://schemas.openxmlformats.org/officeDocument/2006/relationships" r:id="Rd06329f897904502"/>
  </p:notesMasterIdLst>
  <p:sldIdLst>
    <p:sldId xmlns:r="http://schemas.openxmlformats.org/officeDocument/2006/relationships" id="256" r:id="R030e6f89d0c54660"/>
    <p:sldId xmlns:r="http://schemas.openxmlformats.org/officeDocument/2006/relationships" id="257" r:id="R5c35fb56d99a4ed8"/>
    <p:sldId xmlns:r="http://schemas.openxmlformats.org/officeDocument/2006/relationships" id="258" r:id="R5032e7ef42c3434c"/>
    <p:sldId xmlns:r="http://schemas.openxmlformats.org/officeDocument/2006/relationships" id="259" r:id="R6eb2dc8880fb4b2d"/>
    <p:sldId xmlns:r="http://schemas.openxmlformats.org/officeDocument/2006/relationships" id="260" r:id="R330f7d6189614b5d"/>
    <p:sldId xmlns:r="http://schemas.openxmlformats.org/officeDocument/2006/relationships" id="261" r:id="R1d1517b62c0e41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09cb976aa614088" /><Relationship Type="http://schemas.openxmlformats.org/officeDocument/2006/relationships/slideMaster" Target="/ppt/slideMasters/slideMaster1.xml" Id="Rd56eb3909b964a2f" /><Relationship Type="http://schemas.openxmlformats.org/officeDocument/2006/relationships/notesMaster" Target="/ppt/notesMasters/notesMaster1.xml" Id="Rd06329f897904502" /><Relationship Type="http://schemas.openxmlformats.org/officeDocument/2006/relationships/presProps" Target="/ppt/presProps.xml" Id="R897e069adb534fa7" /><Relationship Type="http://schemas.openxmlformats.org/officeDocument/2006/relationships/viewProps" Target="/ppt/viewProps.xml" Id="Re8f7594645414b37" /><Relationship Type="http://schemas.openxmlformats.org/officeDocument/2006/relationships/tableStyles" Target="/ppt/tableStyles.xml" Id="R89a6115df54240ad" /><Relationship Type="http://schemas.openxmlformats.org/officeDocument/2006/relationships/slide" Target="/ppt/slides/slide1.xml" Id="R030e6f89d0c54660" /><Relationship Type="http://schemas.openxmlformats.org/officeDocument/2006/relationships/slide" Target="/ppt/slides/slide2.xml" Id="R5c35fb56d99a4ed8" /><Relationship Type="http://schemas.openxmlformats.org/officeDocument/2006/relationships/slide" Target="/ppt/slides/slide3.xml" Id="R5032e7ef42c3434c" /><Relationship Type="http://schemas.openxmlformats.org/officeDocument/2006/relationships/slide" Target="/ppt/slides/slide4.xml" Id="R6eb2dc8880fb4b2d" /><Relationship Type="http://schemas.openxmlformats.org/officeDocument/2006/relationships/slide" Target="/ppt/slides/slide5.xml" Id="R330f7d6189614b5d" /><Relationship Type="http://schemas.openxmlformats.org/officeDocument/2006/relationships/slide" Target="/ppt/slides/slide6.xml" Id="R1d1517b62c0e41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fb58760a0443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c780385a4e4e3a" /><Relationship Type="http://schemas.openxmlformats.org/officeDocument/2006/relationships/notesMaster" Target="/ppt/notesMasters/notesMaster1.xml" Id="R5cfe3262fbfb4a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68f2b55e834407" /><Relationship Type="http://schemas.openxmlformats.org/officeDocument/2006/relationships/notesMaster" Target="/ppt/notesMasters/notesMaster1.xml" Id="Rf0d2d01c4ddf48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eb7643a53348ed" /><Relationship Type="http://schemas.openxmlformats.org/officeDocument/2006/relationships/notesMaster" Target="/ppt/notesMasters/notesMaster1.xml" Id="Rda7501da2e7942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ff88d9974c4bf2" /><Relationship Type="http://schemas.openxmlformats.org/officeDocument/2006/relationships/notesMaster" Target="/ppt/notesMasters/notesMaster1.xml" Id="R87971760f8b147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383593020f4275" /><Relationship Type="http://schemas.openxmlformats.org/officeDocument/2006/relationships/notesMaster" Target="/ppt/notesMasters/notesMaster1.xml" Id="R3a6c22c9af5e4f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5f14483a2a421e" /><Relationship Type="http://schemas.openxmlformats.org/officeDocument/2006/relationships/notesMaster" Target="/ppt/notesMasters/notesMaster1.xml" Id="Rf2741457ab0d46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user-supplied NEXORA_AegisBrowse.pptx. Identification fields and source template artwork retained. The demonstration URL was supplied in the original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transport-portal illustration from the source deck, not evidence of zero leakage or face recognition. Panels illustrate capture, localisation and sanitization; task selection follows the third panel. Browser demo currently uses DOM privacy filtering and goal-aware cropping. Visual/OCR selective escalation is evaluated in the offline CPU reference harness. Source: project README and SELECTIVE_RESULTS.md.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aegisbrowse_extension/src/service_worker.js and privacy.js, src/ort/README.md, models/README.md, aegisbrowse_server/app.py. The demo executes one AEGIS_STEP per user trigger; it is not an autonomous repeating loop. Endpoint is restricted to loopback port 8000. The rules planner uses control metadata, not visual understanding. Goal sanitization is regex-based and does not cover every name/address. Missing optional ONNX assets produce DOM fallback. The local gate can BLOCK, CONFIRM TYPE, or ALLOW. Live target revalidation precedes execution. Browser verification is heuristic and needs broader testing. The trained model, real runtime assets, browser OCR, VLM validation and Firefox support are pending.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SELECTIVE_RESULTS.md, selective_results.json, loop_results.json, dated 2026-10-04. Stored results were cross-checked in the previous revision; the experiments were not rerun. 408 annotations comprise 312 PII instances and 96 password/OTP fields; secret-field accuracy is reported separately in the benchmark. UI detector is classical CV. The selective 1.000 precision applies only to this synthetic corpus; recall is 0.973, not zero leakage. DOM-blind redaction recall is 0.878. Process memory is not browser memory. Exact full browser end-to-end task latency is unmeasured. Three named milestones are planned work, not achieved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SELECTIVE_RESULTS.md and loop_results.json, fresh pages_v3 set only. 339.2/46.7=7.3 times sanitize-to-plan speedup. CPU reduction (52.1-25.7)/52.1=50.7%, rounded to 51%. Zero PII strings refers solely to metadata checks on 48 pages, not image privacy or a system guarantee. 48/48 is control-selection success, not end-to-end task completion. Browser click/verification flow is described in the supplied README; browser execution timing is still unmeasured. No energy or carbon saving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repository supplied by user: https://github.com/mynameisizhan-coder/AegisBrowse. Original demo URL https://youtu.be/heZiO6_-ZtE resolves to AegisBrowse by NEXORA; video content was not independently reviewed. Research URLs linked. Sources: SELECTIVE_RESULTS.md and stored JSON. Development families scholarship/HR; held-out health/municipal/banking/transport. pages_v3 is a fresh seed on the same four held-out families. DOM-blind variants remove image entries and about one third of value-field DOM data, not all DOM. Benchmark visual/OCR improvements are in Python, not the extension. Task-aware crop benefit needs a separate ablation.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17e03587c04c8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4d719464444fb4" /><Relationship Type="http://schemas.openxmlformats.org/officeDocument/2006/relationships/slideLayout" Target="/ppt/slideLayouts/slideLayout1.xml" Id="R2f361ea7000e471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361ea7000e471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c06374ae4b42b5" /><Relationship Type="http://schemas.openxmlformats.org/officeDocument/2006/relationships/image" Target="/ppt/media/image.png" Id="R85a2e09477834353" /><Relationship Type="http://schemas.openxmlformats.org/officeDocument/2006/relationships/image" Target="/ppt/media/image2.png" Id="R826a6c7c45494d1b" /><Relationship Type="http://schemas.openxmlformats.org/officeDocument/2006/relationships/hyperlink" Target="https://youtu.be/heZiO6_-ZtE" TargetMode="External" Id="Ra09fafb56bd44bbb" /><Relationship Type="http://schemas.openxmlformats.org/officeDocument/2006/relationships/notesSlide" Target="/ppt/notesSlides/notesSlide1.xml" Id="Rc1a7ae25afbd4c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2daf1afbe34deb" /><Relationship Type="http://schemas.openxmlformats.org/officeDocument/2006/relationships/image" Target="/ppt/media/image.png" Id="R504176bb45764959" /><Relationship Type="http://schemas.openxmlformats.org/officeDocument/2006/relationships/image" Target="/ppt/media/image3.png" Id="R0a5c541cd4ae4c2c" /><Relationship Type="http://schemas.openxmlformats.org/officeDocument/2006/relationships/image" Target="/ppt/media/image4.png" Id="Rc3be5115fbd74190" /><Relationship Type="http://schemas.openxmlformats.org/officeDocument/2006/relationships/image" Target="/ppt/media/image5.png" Id="R57b40524e5cd4523" /><Relationship Type="http://schemas.openxmlformats.org/officeDocument/2006/relationships/notesSlide" Target="/ppt/notesSlides/notesSlide2.xml" Id="R3b65fa89b83e47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c57f1398634ba4" /><Relationship Type="http://schemas.openxmlformats.org/officeDocument/2006/relationships/image" Target="/ppt/media/image.png" Id="Rbb2c54bab4d6416c" /><Relationship Type="http://schemas.openxmlformats.org/officeDocument/2006/relationships/notesSlide" Target="/ppt/notesSlides/notesSlide3.xml" Id="R28152c4e8dbf46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ad79f18c254bc9" /><Relationship Type="http://schemas.openxmlformats.org/officeDocument/2006/relationships/image" Target="/ppt/media/image.png" Id="R4299a0c252894dd2" /><Relationship Type="http://schemas.openxmlformats.org/officeDocument/2006/relationships/notesSlide" Target="/ppt/notesSlides/notesSlide4.xml" Id="R340267e1a7b64e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10d75c070742c0" /><Relationship Type="http://schemas.openxmlformats.org/officeDocument/2006/relationships/image" Target="/ppt/media/image.png" Id="R89c4bca2056844c5" /><Relationship Type="http://schemas.openxmlformats.org/officeDocument/2006/relationships/notesSlide" Target="/ppt/notesSlides/notesSlide5.xml" Id="Rd326707152724e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bf08da06f44f05" /><Relationship Type="http://schemas.openxmlformats.org/officeDocument/2006/relationships/image" Target="/ppt/media/image.png" Id="Rb0aeaba2cb564904" /><Relationship Type="http://schemas.openxmlformats.org/officeDocument/2006/relationships/hyperlink" Target="https://arxiv.org/abs/2306.06070" TargetMode="External" Id="R172ebeb170d44efd" /><Relationship Type="http://schemas.openxmlformats.org/officeDocument/2006/relationships/hyperlink" Target="https://arxiv.org/abs/2401.01614" TargetMode="External" Id="R03b02278e725400d" /><Relationship Type="http://schemas.openxmlformats.org/officeDocument/2006/relationships/hyperlink" Target="https://arxiv.org/abs/2408.00203" TargetMode="External" Id="Rd82c1273f93c40ba" /><Relationship Type="http://schemas.openxmlformats.org/officeDocument/2006/relationships/hyperlink" Target="https://arxiv.org/abs/2509.11939" TargetMode="External" Id="Ref4521fcb89a4f49" /><Relationship Type="http://schemas.openxmlformats.org/officeDocument/2006/relationships/hyperlink" Target="https://arxiv.org/abs/2603.17357" TargetMode="External" Id="R6c2a1de204ab4dab" /><Relationship Type="http://schemas.openxmlformats.org/officeDocument/2006/relationships/hyperlink" Target="https://github.com/mynameisizhan-coder/AegisBrowse" TargetMode="External" Id="R387f54d874f74fda" /><Relationship Type="http://schemas.openxmlformats.org/officeDocument/2006/relationships/hyperlink" Target="https://youtu.be/heZiO6_-ZtE" TargetMode="External" Id="R54d88c3503974d88" /><Relationship Type="http://schemas.openxmlformats.org/officeDocument/2006/relationships/hyperlink" Target="https://github.com/mynameisizhan-coder/AegisBrowse/blob/main/nexora_benchmark/SELECTIVE_RESULTS.md" TargetMode="External" Id="R1442e06fea764793" /><Relationship Type="http://schemas.openxmlformats.org/officeDocument/2006/relationships/notesSlide" Target="/ppt/notesSlides/notesSlide6.xml" Id="R9e44ceb42c6644d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D96903-3B33-40C0-84E0-E000F661857D}"/>
              </a:ext>
            </a:extLst>
          </p:cNvPr>
          <p:cNvSpPr>
            <a:spLocks xmlns:a="http://schemas.openxmlformats.org/drawingml/2006/main" noGrp="1"/>
          </p:cNvSpPr>
          <p:nvPr/>
        </p:nvSpPr>
        <p:spPr>
          <a:xfrm xmlns:a="http://schemas.openxmlformats.org/drawingml/2006/main">
            <a:off x="658368" y="219456"/>
            <a:ext cx="92354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a:solidFill>
                  <a:srgbClr val="1F4E79"/>
                </a:solidFill>
                <a:latin typeface="Times New Roman"/>
                <a:ea typeface="Times New Roman"/>
                <a:cs typeface="Times New Roman"/>
              </a:rPr>
              <a:t>SMART INDIA HACKATHON 2026</a:t>
            </a:r>
            <a:endParaRPr sz="36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85a2e09477834353"/>
          <a:stretch xmlns:a="http://schemas.openxmlformats.org/drawingml/2006/main">
            <a:fillRect l="0" t="0" r="0" b="0"/>
          </a:stretch>
        </p:blipFill>
        <p:spPr>
          <a:xfrm xmlns:a="http://schemas.openxmlformats.org/drawingml/2006/main">
            <a:off x="10104120" y="164592"/>
            <a:ext cx="1783080" cy="841248"/>
          </a:xfrm>
          <a:prstGeom xmlns:a="http://schemas.openxmlformats.org/drawingml/2006/main" prst="rect">
            <a:avLst/>
          </a:prstGeom>
        </p:spPr>
      </p:pic>
      <p:pic>
        <p:nvPicPr>
          <p:cNvPr id="30" name="Image 1"/>
          <p:cNvPicPr>
            <a:picLocks xmlns:a="http://schemas.openxmlformats.org/drawingml/2006/main" noChangeAspect="1"/>
          </p:cNvPicPr>
          <p:nvPr/>
        </p:nvPicPr>
        <p:blipFill>
          <a:blip xmlns:r="http://schemas.openxmlformats.org/officeDocument/2006/relationships" xmlns:a="http://schemas.openxmlformats.org/drawingml/2006/main" r:embed="R826a6c7c45494d1b"/>
          <a:stretch xmlns:a="http://schemas.openxmlformats.org/drawingml/2006/main">
            <a:fillRect l="0" t="0" r="0" b="0"/>
          </a:stretch>
        </p:blipFill>
        <p:spPr>
          <a:xfrm xmlns:a="http://schemas.openxmlformats.org/drawingml/2006/main">
            <a:off x="6309360" y="960120"/>
            <a:ext cx="4389120" cy="4901184"/>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6882F92A-5C98-43F7-8543-92D1A570E899}"/>
              </a:ext>
            </a:extLst>
          </p:cNvPr>
          <p:cNvSpPr>
            <a:spLocks xmlns:a="http://schemas.openxmlformats.org/drawingml/2006/main" noGrp="1"/>
          </p:cNvSpPr>
          <p:nvPr/>
        </p:nvSpPr>
        <p:spPr>
          <a:xfrm xmlns:a="http://schemas.openxmlformats.org/drawingml/2006/main">
            <a:off x="3108960" y="1188720"/>
            <a:ext cx="3840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000000"/>
                </a:solidFill>
                <a:latin typeface="Times New Roman"/>
                <a:ea typeface="Times New Roman"/>
                <a:cs typeface="Times New Roman"/>
              </a:rPr>
              <a:t>TITLE PAGE</a:t>
            </a:r>
            <a:endParaRPr sz="2800"/>
          </a:p>
        </p:txBody>
      </p:sp>
      <p:sp>
        <p:nvSpPr>
          <p:cNvPr id="6" name="Shape 2">
            <a:extLst xmlns:a="http://schemas.openxmlformats.org/drawingml/2006/main">
              <a:ext uri="{FF2B5EF4-FFF2-40B4-BE49-F238E27FC236}">
                <a16:creationId xmlns:a16="http://schemas.microsoft.com/office/drawing/2014/main" id="{BEA4F131-CF7E-45C7-A9A0-45761361FB10}"/>
              </a:ext>
            </a:extLst>
          </p:cNvPr>
          <p:cNvSpPr>
            <a:spLocks xmlns:a="http://schemas.openxmlformats.org/drawingml/2006/main" noGrp="1"/>
          </p:cNvSpPr>
          <p:nvPr/>
        </p:nvSpPr>
        <p:spPr>
          <a:xfrm xmlns:a="http://schemas.openxmlformats.org/drawingml/2006/main">
            <a:off x="576072" y="2075688"/>
            <a:ext cx="77724" cy="77724"/>
          </a:xfrm>
          <a:prstGeom xmlns:a="http://schemas.openxmlformats.org/drawingml/2006/main" prst="ellipse">
            <a:avLst/>
          </a:prstGeom>
          <a:solidFill xmlns:a="http://schemas.openxmlformats.org/drawingml/2006/main">
            <a:srgbClr val="000000"/>
          </a:solidFill>
        </p:spPr>
      </p:sp>
      <p:sp>
        <p:nvSpPr>
          <p:cNvPr id="7" name="Text 3">
            <a:extLst xmlns:a="http://schemas.openxmlformats.org/drawingml/2006/main">
              <a:ext uri="{FF2B5EF4-FFF2-40B4-BE49-F238E27FC236}">
                <a16:creationId xmlns:a16="http://schemas.microsoft.com/office/drawing/2014/main" id="{B1BEA329-40C1-4B3A-85A9-0E2A78EAF34C}"/>
              </a:ext>
            </a:extLst>
          </p:cNvPr>
          <p:cNvSpPr>
            <a:spLocks xmlns:a="http://schemas.openxmlformats.org/drawingml/2006/main" noGrp="1"/>
          </p:cNvSpPr>
          <p:nvPr/>
        </p:nvSpPr>
        <p:spPr>
          <a:xfrm xmlns:a="http://schemas.openxmlformats.org/drawingml/2006/main">
            <a:off x="786384" y="1993392"/>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00"/>
              </a:lnSpc>
              <a:buNone/>
            </a:pPr>
            <a:r>
              <a:rPr b="1">
                <a:solidFill>
                  <a:srgbClr val="000000"/>
                </a:solidFill>
                <a:latin typeface="Arial"/>
                <a:ea typeface="Arial"/>
                <a:cs typeface="Arial"/>
              </a:rPr>
              <a:t>Problem Statement ID – </a:t>
            </a:r>
            <a:r>
              <a:rPr>
                <a:solidFill>
                  <a:srgbClr val="1F4E79"/>
                </a:solidFill>
                <a:latin typeface="Arial"/>
                <a:ea typeface="Arial"/>
                <a:cs typeface="Arial"/>
              </a:rPr>
              <a:t>SIH26171</a:t>
            </a:r>
            <a:endParaRPr/>
          </a:p>
        </p:txBody>
      </p:sp>
      <p:sp>
        <p:nvSpPr>
          <p:cNvPr id="8" name="Shape 4">
            <a:extLst xmlns:a="http://schemas.openxmlformats.org/drawingml/2006/main">
              <a:ext uri="{FF2B5EF4-FFF2-40B4-BE49-F238E27FC236}">
                <a16:creationId xmlns:a16="http://schemas.microsoft.com/office/drawing/2014/main" id="{A5A1AC0F-37C6-4326-8BD0-A1C4A185F8BA}"/>
              </a:ext>
            </a:extLst>
          </p:cNvPr>
          <p:cNvSpPr>
            <a:spLocks xmlns:a="http://schemas.openxmlformats.org/drawingml/2006/main" noGrp="1"/>
          </p:cNvSpPr>
          <p:nvPr/>
        </p:nvSpPr>
        <p:spPr>
          <a:xfrm xmlns:a="http://schemas.openxmlformats.org/drawingml/2006/main">
            <a:off x="576072" y="2478024"/>
            <a:ext cx="77724" cy="77724"/>
          </a:xfrm>
          <a:prstGeom xmlns:a="http://schemas.openxmlformats.org/drawingml/2006/main" prst="ellipse">
            <a:avLst/>
          </a:prstGeom>
          <a:solidFill xmlns:a="http://schemas.openxmlformats.org/drawingml/2006/main">
            <a:srgbClr val="000000"/>
          </a:solidFill>
        </p:spPr>
      </p:sp>
      <p:sp>
        <p:nvSpPr>
          <p:cNvPr id="9" name="Text 5">
            <a:extLst xmlns:a="http://schemas.openxmlformats.org/drawingml/2006/main">
              <a:ext uri="{FF2B5EF4-FFF2-40B4-BE49-F238E27FC236}">
                <a16:creationId xmlns:a16="http://schemas.microsoft.com/office/drawing/2014/main" id="{0F3D91A4-2ACF-462C-B5F4-6DFDE708C2F3}"/>
              </a:ext>
            </a:extLst>
          </p:cNvPr>
          <p:cNvSpPr>
            <a:spLocks xmlns:a="http://schemas.openxmlformats.org/drawingml/2006/main" noGrp="1"/>
          </p:cNvSpPr>
          <p:nvPr/>
        </p:nvSpPr>
        <p:spPr>
          <a:xfrm xmlns:a="http://schemas.openxmlformats.org/drawingml/2006/main">
            <a:off x="786384" y="2395728"/>
            <a:ext cx="50292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00"/>
              </a:lnSpc>
              <a:buNone/>
            </a:pPr>
            <a:r>
              <a:rPr b="1">
                <a:solidFill>
                  <a:srgbClr val="000000"/>
                </a:solidFill>
                <a:latin typeface="Arial"/>
                <a:ea typeface="Arial"/>
                <a:cs typeface="Arial"/>
              </a:rPr>
              <a:t>Problem Statement Title – </a:t>
            </a:r>
            <a:r>
              <a:rPr>
                <a:solidFill>
                  <a:srgbClr val="1F4E79"/>
                </a:solidFill>
                <a:latin typeface="Arial"/>
                <a:ea typeface="Arial"/>
                <a:cs typeface="Arial"/>
              </a:rPr>
              <a:t>On-device Visual Perception for Light-weight Browser Agents</a:t>
            </a:r>
            <a:endParaRPr/>
          </a:p>
        </p:txBody>
      </p:sp>
      <p:sp>
        <p:nvSpPr>
          <p:cNvPr id="10" name="Shape 6">
            <a:extLst xmlns:a="http://schemas.openxmlformats.org/drawingml/2006/main">
              <a:ext uri="{FF2B5EF4-FFF2-40B4-BE49-F238E27FC236}">
                <a16:creationId xmlns:a16="http://schemas.microsoft.com/office/drawing/2014/main" id="{FD713E6A-82F6-4CC8-9B65-8DDEB11DE825}"/>
              </a:ext>
            </a:extLst>
          </p:cNvPr>
          <p:cNvSpPr>
            <a:spLocks xmlns:a="http://schemas.openxmlformats.org/drawingml/2006/main" noGrp="1"/>
          </p:cNvSpPr>
          <p:nvPr/>
        </p:nvSpPr>
        <p:spPr>
          <a:xfrm xmlns:a="http://schemas.openxmlformats.org/drawingml/2006/main">
            <a:off x="576072" y="3026664"/>
            <a:ext cx="77724" cy="77724"/>
          </a:xfrm>
          <a:prstGeom xmlns:a="http://schemas.openxmlformats.org/drawingml/2006/main" prst="ellipse">
            <a:avLst/>
          </a:prstGeom>
          <a:solidFill xmlns:a="http://schemas.openxmlformats.org/drawingml/2006/main">
            <a:srgbClr val="000000"/>
          </a:solidFill>
        </p:spPr>
      </p:sp>
      <p:sp>
        <p:nvSpPr>
          <p:cNvPr id="11" name="Text 7">
            <a:extLst xmlns:a="http://schemas.openxmlformats.org/drawingml/2006/main">
              <a:ext uri="{FF2B5EF4-FFF2-40B4-BE49-F238E27FC236}">
                <a16:creationId xmlns:a16="http://schemas.microsoft.com/office/drawing/2014/main" id="{FD014459-79A6-4F94-903F-F1DB5B697B56}"/>
              </a:ext>
            </a:extLst>
          </p:cNvPr>
          <p:cNvSpPr>
            <a:spLocks xmlns:a="http://schemas.openxmlformats.org/drawingml/2006/main" noGrp="1"/>
          </p:cNvSpPr>
          <p:nvPr/>
        </p:nvSpPr>
        <p:spPr>
          <a:xfrm xmlns:a="http://schemas.openxmlformats.org/drawingml/2006/main">
            <a:off x="786384" y="2944368"/>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00"/>
              </a:lnSpc>
              <a:buNone/>
            </a:pPr>
            <a:r>
              <a:rPr b="1">
                <a:solidFill>
                  <a:srgbClr val="000000"/>
                </a:solidFill>
                <a:latin typeface="Arial"/>
                <a:ea typeface="Arial"/>
                <a:cs typeface="Arial"/>
              </a:rPr>
              <a:t>Theme – </a:t>
            </a:r>
            <a:r>
              <a:rPr>
                <a:solidFill>
                  <a:srgbClr val="1F4E79"/>
                </a:solidFill>
                <a:latin typeface="Arial"/>
                <a:ea typeface="Arial"/>
                <a:cs typeface="Arial"/>
              </a:rPr>
              <a:t>Smart Automation</a:t>
            </a:r>
            <a:endParaRPr/>
          </a:p>
        </p:txBody>
      </p:sp>
      <p:sp>
        <p:nvSpPr>
          <p:cNvPr id="12" name="Shape 8">
            <a:extLst xmlns:a="http://schemas.openxmlformats.org/drawingml/2006/main">
              <a:ext uri="{FF2B5EF4-FFF2-40B4-BE49-F238E27FC236}">
                <a16:creationId xmlns:a16="http://schemas.microsoft.com/office/drawing/2014/main" id="{DADD8BEE-DE2B-4A74-90B6-7969821F6603}"/>
              </a:ext>
            </a:extLst>
          </p:cNvPr>
          <p:cNvSpPr>
            <a:spLocks xmlns:a="http://schemas.openxmlformats.org/drawingml/2006/main" noGrp="1"/>
          </p:cNvSpPr>
          <p:nvPr/>
        </p:nvSpPr>
        <p:spPr>
          <a:xfrm xmlns:a="http://schemas.openxmlformats.org/drawingml/2006/main">
            <a:off x="576072" y="3429000"/>
            <a:ext cx="77724" cy="77724"/>
          </a:xfrm>
          <a:prstGeom xmlns:a="http://schemas.openxmlformats.org/drawingml/2006/main" prst="ellipse">
            <a:avLst/>
          </a:prstGeom>
          <a:solidFill xmlns:a="http://schemas.openxmlformats.org/drawingml/2006/main">
            <a:srgbClr val="000000"/>
          </a:solidFill>
        </p:spPr>
      </p:sp>
      <p:sp>
        <p:nvSpPr>
          <p:cNvPr id="13" name="Text 9">
            <a:extLst xmlns:a="http://schemas.openxmlformats.org/drawingml/2006/main">
              <a:ext uri="{FF2B5EF4-FFF2-40B4-BE49-F238E27FC236}">
                <a16:creationId xmlns:a16="http://schemas.microsoft.com/office/drawing/2014/main" id="{15237C38-81A4-4888-9B1D-EE14EC8CF494}"/>
              </a:ext>
            </a:extLst>
          </p:cNvPr>
          <p:cNvSpPr>
            <a:spLocks xmlns:a="http://schemas.openxmlformats.org/drawingml/2006/main" noGrp="1"/>
          </p:cNvSpPr>
          <p:nvPr/>
        </p:nvSpPr>
        <p:spPr>
          <a:xfrm xmlns:a="http://schemas.openxmlformats.org/drawingml/2006/main">
            <a:off x="786384" y="3346704"/>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00"/>
              </a:lnSpc>
              <a:buNone/>
            </a:pPr>
            <a:r>
              <a:rPr b="1">
                <a:solidFill>
                  <a:srgbClr val="000000"/>
                </a:solidFill>
                <a:latin typeface="Arial"/>
                <a:ea typeface="Arial"/>
                <a:cs typeface="Arial"/>
              </a:rPr>
              <a:t>PS Category – </a:t>
            </a:r>
            <a:r>
              <a:rPr>
                <a:solidFill>
                  <a:srgbClr val="1F4E79"/>
                </a:solidFill>
                <a:latin typeface="Arial"/>
                <a:ea typeface="Arial"/>
                <a:cs typeface="Arial"/>
              </a:rPr>
              <a:t>Software</a:t>
            </a:r>
            <a:endParaRPr/>
          </a:p>
        </p:txBody>
      </p:sp>
      <p:sp>
        <p:nvSpPr>
          <p:cNvPr id="14" name="Shape 10">
            <a:extLst xmlns:a="http://schemas.openxmlformats.org/drawingml/2006/main">
              <a:ext uri="{FF2B5EF4-FFF2-40B4-BE49-F238E27FC236}">
                <a16:creationId xmlns:a16="http://schemas.microsoft.com/office/drawing/2014/main" id="{655BF8D2-D967-4A32-9589-FB896AB668FD}"/>
              </a:ext>
            </a:extLst>
          </p:cNvPr>
          <p:cNvSpPr>
            <a:spLocks xmlns:a="http://schemas.openxmlformats.org/drawingml/2006/main" noGrp="1"/>
          </p:cNvSpPr>
          <p:nvPr/>
        </p:nvSpPr>
        <p:spPr>
          <a:xfrm xmlns:a="http://schemas.openxmlformats.org/drawingml/2006/main">
            <a:off x="576072" y="3831336"/>
            <a:ext cx="77724" cy="77724"/>
          </a:xfrm>
          <a:prstGeom xmlns:a="http://schemas.openxmlformats.org/drawingml/2006/main" prst="ellipse">
            <a:avLst/>
          </a:prstGeom>
          <a:solidFill xmlns:a="http://schemas.openxmlformats.org/drawingml/2006/main">
            <a:srgbClr val="000000"/>
          </a:solidFill>
        </p:spPr>
      </p:sp>
      <p:sp>
        <p:nvSpPr>
          <p:cNvPr id="15" name="Text 11">
            <a:extLst xmlns:a="http://schemas.openxmlformats.org/drawingml/2006/main">
              <a:ext uri="{FF2B5EF4-FFF2-40B4-BE49-F238E27FC236}">
                <a16:creationId xmlns:a16="http://schemas.microsoft.com/office/drawing/2014/main" id="{E60768D9-2C8C-4F56-A524-B1FB11AAD3BC}"/>
              </a:ext>
            </a:extLst>
          </p:cNvPr>
          <p:cNvSpPr>
            <a:spLocks xmlns:a="http://schemas.openxmlformats.org/drawingml/2006/main" noGrp="1"/>
          </p:cNvSpPr>
          <p:nvPr/>
        </p:nvSpPr>
        <p:spPr>
          <a:xfrm xmlns:a="http://schemas.openxmlformats.org/drawingml/2006/main">
            <a:off x="786384" y="3749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00"/>
              </a:lnSpc>
              <a:buNone/>
            </a:pPr>
            <a:r>
              <a:rPr b="1">
                <a:solidFill>
                  <a:srgbClr val="000000"/>
                </a:solidFill>
                <a:latin typeface="Arial"/>
                <a:ea typeface="Arial"/>
                <a:cs typeface="Arial"/>
              </a:rPr>
              <a:t>Team ID – </a:t>
            </a:r>
            <a:r>
              <a:rPr>
                <a:solidFill>
                  <a:srgbClr val="1F4E79"/>
                </a:solidFill>
                <a:latin typeface="Arial"/>
                <a:ea typeface="Arial"/>
                <a:cs typeface="Arial"/>
              </a:rPr>
              <a:t>124701</a:t>
            </a:r>
            <a:endParaRPr/>
          </a:p>
        </p:txBody>
      </p:sp>
      <p:sp>
        <p:nvSpPr>
          <p:cNvPr id="16" name="Shape 12">
            <a:extLst xmlns:a="http://schemas.openxmlformats.org/drawingml/2006/main">
              <a:ext uri="{FF2B5EF4-FFF2-40B4-BE49-F238E27FC236}">
                <a16:creationId xmlns:a16="http://schemas.microsoft.com/office/drawing/2014/main" id="{9A433F76-10E9-44BC-A9C1-F5D69A1171A4}"/>
              </a:ext>
            </a:extLst>
          </p:cNvPr>
          <p:cNvSpPr>
            <a:spLocks xmlns:a="http://schemas.openxmlformats.org/drawingml/2006/main" noGrp="1"/>
          </p:cNvSpPr>
          <p:nvPr/>
        </p:nvSpPr>
        <p:spPr>
          <a:xfrm xmlns:a="http://schemas.openxmlformats.org/drawingml/2006/main">
            <a:off x="576072" y="4233672"/>
            <a:ext cx="77724" cy="77724"/>
          </a:xfrm>
          <a:prstGeom xmlns:a="http://schemas.openxmlformats.org/drawingml/2006/main" prst="ellipse">
            <a:avLst/>
          </a:prstGeom>
          <a:solidFill xmlns:a="http://schemas.openxmlformats.org/drawingml/2006/main">
            <a:srgbClr val="000000"/>
          </a:solidFill>
        </p:spPr>
      </p:sp>
      <p:sp>
        <p:nvSpPr>
          <p:cNvPr id="17" name="Text 13">
            <a:extLst xmlns:a="http://schemas.openxmlformats.org/drawingml/2006/main">
              <a:ext uri="{FF2B5EF4-FFF2-40B4-BE49-F238E27FC236}">
                <a16:creationId xmlns:a16="http://schemas.microsoft.com/office/drawing/2014/main" id="{48DEA7CB-533E-4427-8981-DA05DA9CBFCD}"/>
              </a:ext>
            </a:extLst>
          </p:cNvPr>
          <p:cNvSpPr>
            <a:spLocks xmlns:a="http://schemas.openxmlformats.org/drawingml/2006/main" noGrp="1"/>
          </p:cNvSpPr>
          <p:nvPr/>
        </p:nvSpPr>
        <p:spPr>
          <a:xfrm xmlns:a="http://schemas.openxmlformats.org/drawingml/2006/main">
            <a:off x="749808" y="4187952"/>
            <a:ext cx="506577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800"/>
              </a:lnSpc>
              <a:buNone/>
            </a:pPr>
            <a:r>
              <a:rPr b="1">
                <a:solidFill>
                  <a:srgbClr val="000000"/>
                </a:solidFill>
                <a:latin typeface="Arial"/>
                <a:ea typeface="Arial"/>
                <a:cs typeface="Arial"/>
              </a:rPr>
              <a:t>Team Name (Registered on portal) – </a:t>
            </a:r>
            <a:r>
              <a:rPr>
                <a:solidFill>
                  <a:srgbClr val="1F4E79"/>
                </a:solidFill>
                <a:latin typeface="Arial"/>
                <a:ea typeface="Arial"/>
                <a:cs typeface="Arial"/>
              </a:rPr>
              <a:t>NEXORA_</a:t>
            </a:r>
            <a:endParaRPr/>
          </a:p>
        </p:txBody>
      </p:sp>
      <p:sp>
        <p:nvSpPr>
          <p:cNvPr id="18" name="Shape 14">
            <a:extLst xmlns:a="http://schemas.openxmlformats.org/drawingml/2006/main">
              <a:ext uri="{FF2B5EF4-FFF2-40B4-BE49-F238E27FC236}">
                <a16:creationId xmlns:a16="http://schemas.microsoft.com/office/drawing/2014/main" id="{C685F29D-D6FE-4F08-8555-4B87070FF703}"/>
              </a:ext>
            </a:extLst>
          </p:cNvPr>
          <p:cNvSpPr>
            <a:spLocks xmlns:a="http://schemas.openxmlformats.org/drawingml/2006/main" noGrp="1"/>
          </p:cNvSpPr>
          <p:nvPr/>
        </p:nvSpPr>
        <p:spPr>
          <a:xfrm xmlns:a="http://schemas.openxmlformats.org/drawingml/2006/main">
            <a:off x="548640" y="4572000"/>
            <a:ext cx="5303520" cy="987552"/>
          </a:xfrm>
          <a:prstGeom xmlns:a="http://schemas.openxmlformats.org/drawingml/2006/main" prst="roundRect">
            <a:avLst>
              <a:gd name="adj" fmla="val 7407"/>
            </a:avLst>
          </a:prstGeom>
          <a:solidFill xmlns:a="http://schemas.openxmlformats.org/drawingml/2006/main">
            <a:srgbClr val="A14E35"/>
          </a:solidFill>
          <a:ln xmlns:a="http://schemas.openxmlformats.org/drawingml/2006/main" w="0">
            <a:noFill/>
          </a:ln>
          <a:effectLst xmlns:a="http://schemas.openxmlformats.org/drawingml/2006/main">
            <a:outerShdw blurRad="76200" dist="12700" dir="5400000" algn="bl" rotWithShape="0">
              <a:srgbClr val="9FB0C0">
                <a:alpha val="28000"/>
              </a:srgbClr>
            </a:outerShdw>
          </a:effectLst>
        </p:spPr>
      </p:sp>
      <p:sp>
        <p:nvSpPr>
          <p:cNvPr id="19" name="Text 15">
            <a:extLst xmlns:a="http://schemas.openxmlformats.org/drawingml/2006/main">
              <a:ext uri="{FF2B5EF4-FFF2-40B4-BE49-F238E27FC236}">
                <a16:creationId xmlns:a16="http://schemas.microsoft.com/office/drawing/2014/main" id="{5ADE9D82-F3E1-46D3-9D77-6B777B6B8304}"/>
              </a:ext>
            </a:extLst>
          </p:cNvPr>
          <p:cNvSpPr>
            <a:spLocks xmlns:a="http://schemas.openxmlformats.org/drawingml/2006/main" noGrp="1"/>
          </p:cNvSpPr>
          <p:nvPr/>
        </p:nvSpPr>
        <p:spPr>
          <a:xfrm xmlns:a="http://schemas.openxmlformats.org/drawingml/2006/main">
            <a:off x="749808" y="4645152"/>
            <a:ext cx="49377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AEGISBROWSE</a:t>
            </a:r>
            <a:endParaRPr sz="2700"/>
          </a:p>
        </p:txBody>
      </p:sp>
      <p:sp>
        <p:nvSpPr>
          <p:cNvPr id="20" name="Text 16">
            <a:extLst xmlns:a="http://schemas.openxmlformats.org/drawingml/2006/main">
              <a:ext uri="{FF2B5EF4-FFF2-40B4-BE49-F238E27FC236}">
                <a16:creationId xmlns:a16="http://schemas.microsoft.com/office/drawing/2014/main" id="{BF50739D-3094-440E-A5CA-F9566A0CA0E9}"/>
              </a:ext>
            </a:extLst>
          </p:cNvPr>
          <p:cNvSpPr>
            <a:spLocks xmlns:a="http://schemas.openxmlformats.org/drawingml/2006/main" noGrp="1"/>
          </p:cNvSpPr>
          <p:nvPr/>
        </p:nvSpPr>
        <p:spPr>
          <a:xfrm xmlns:a="http://schemas.openxmlformats.org/drawingml/2006/main">
            <a:off x="749808" y="5056632"/>
            <a:ext cx="48920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CFE0F0"/>
                </a:solidFill>
                <a:latin typeface="Calibri"/>
                <a:ea typeface="Calibri"/>
                <a:cs typeface="Calibri"/>
              </a:rPr>
              <a:t>Privacy-Preserving Visual Browser Agent</a:t>
            </a:r>
            <a:endParaRPr sz="1150"/>
          </a:p>
        </p:txBody>
      </p:sp>
      <p:sp>
        <p:nvSpPr>
          <p:cNvPr id="27" name="rev-1">
            <a:extLst xmlns:a="http://schemas.openxmlformats.org/drawingml/2006/main">
              <a:ext uri="{FF2B5EF4-FFF2-40B4-BE49-F238E27FC236}">
                <a16:creationId xmlns:a16="http://schemas.microsoft.com/office/drawing/2014/main" id="{92D84F6D-2915-4576-AB37-596ACE1FD6CD}"/>
              </a:ext>
            </a:extLst>
          </p:cNvPr>
          <p:cNvSpPr>
            <a:spLocks xmlns:a="http://schemas.openxmlformats.org/drawingml/2006/main" noGrp="1"/>
          </p:cNvSpPr>
          <p:nvPr/>
        </p:nvSpPr>
        <p:spPr>
          <a:xfrm xmlns:a="http://schemas.openxmlformats.org/drawingml/2006/main">
            <a:off x="752475" y="5772150"/>
            <a:ext cx="666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204F78"/>
                </a:solidFill>
                <a:latin typeface="Calibri"/>
                <a:ea typeface="Calibri"/>
                <a:cs typeface="Calibri"/>
              </a:defRPr>
            </a:pPr>
            <a:r>
              <a:rPr sz="1500">
                <a:solidFill>
                  <a:srgbClr val="204F78"/>
                </a:solidFill>
                <a:latin typeface="Calibri"/>
                <a:ea typeface="Calibri"/>
                <a:cs typeface="Calibri"/>
              </a:rPr>
              <a:t>Video walkthrough: </a:t>
            </a:r>
            <a:r>
              <a:rPr sz="1500">
                <a:solidFill>
                  <a:srgbClr val="204F78"/>
                </a:solidFill>
                <a:latin typeface="Calibri"/>
                <a:ea typeface="Calibri"/>
                <a:cs typeface="Calibri"/>
                <a:hlinkClick xmlns:r="http://schemas.openxmlformats.org/officeDocument/2006/relationships" r:id="Ra09fafb56bd44bbb"/>
              </a:rPr>
              <a:t>youtu.be/heZiO6_-ZtE</a:t>
            </a:r>
          </a:p>
        </p:txBody>
      </p:sp>
    </p:spTree>
    <p:extLst>
      <p:ext uri="{BB962C8B-B14F-4D97-AF65-F5344CB8AC3E}">
        <p14:creationId xmlns:p14="http://schemas.microsoft.com/office/powerpoint/2010/main" val="18663969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1BA0A19-7B77-47F5-8054-59569A607CD5}"/>
              </a:ext>
            </a:extLst>
          </p:cNvPr>
          <p:cNvSpPr>
            <a:spLocks xmlns:a="http://schemas.openxmlformats.org/drawingml/2006/main" noGrp="1"/>
          </p:cNvSpPr>
          <p:nvPr/>
        </p:nvSpPr>
        <p:spPr>
          <a:xfrm xmlns:a="http://schemas.openxmlformats.org/drawingml/2006/main">
            <a:off x="384048" y="201168"/>
            <a:ext cx="1371600" cy="530352"/>
          </a:xfrm>
          <a:prstGeom xmlns:a="http://schemas.openxmlformats.org/drawingml/2006/main" prst="ellipse">
            <a:avLst/>
          </a:prstGeom>
          <a:solidFill xmlns:a="http://schemas.openxmlformats.org/drawingml/2006/main">
            <a:srgbClr val="E3F1F2"/>
          </a:solidFill>
          <a:ln xmlns:a="http://schemas.openxmlformats.org/drawingml/2006/main" w="19050">
            <a:solidFill>
              <a:srgbClr val="0E7C86"/>
            </a:solidFill>
            <a:prstDash val="solid"/>
          </a:ln>
          <a:effectLst xmlns:a="http://schemas.openxmlformats.org/drawingml/2006/main">
            <a:outerShdw blurRad="76200" dist="12700" dir="5400000" algn="bl" rotWithShape="0">
              <a:srgbClr val="9FB0C0">
                <a:alpha val="28000"/>
              </a:srgbClr>
            </a:outerShdw>
          </a:effectLst>
        </p:spPr>
      </p:sp>
      <p:sp>
        <p:nvSpPr>
          <p:cNvPr id="3" name="Text 1">
            <a:extLst xmlns:a="http://schemas.openxmlformats.org/drawingml/2006/main">
              <a:ext uri="{FF2B5EF4-FFF2-40B4-BE49-F238E27FC236}">
                <a16:creationId xmlns:a16="http://schemas.microsoft.com/office/drawing/2014/main" id="{E1512FF9-2204-43CE-A6BD-FC33D79FC29B}"/>
              </a:ext>
            </a:extLst>
          </p:cNvPr>
          <p:cNvSpPr>
            <a:spLocks xmlns:a="http://schemas.openxmlformats.org/drawingml/2006/main" noGrp="1"/>
          </p:cNvSpPr>
          <p:nvPr/>
        </p:nvSpPr>
        <p:spPr>
          <a:xfrm xmlns:a="http://schemas.openxmlformats.org/drawingml/2006/main">
            <a:off x="384048" y="320040"/>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A5F67"/>
                </a:solidFill>
                <a:latin typeface="Calibri"/>
                <a:ea typeface="Calibri"/>
                <a:cs typeface="Calibri"/>
              </a:rPr>
              <a:t>NEXORA</a:t>
            </a:r>
            <a:endParaRPr sz="1250"/>
          </a:p>
        </p:txBody>
      </p:sp>
      <p:sp>
        <p:nvSpPr>
          <p:cNvPr id="4" name="Text 2">
            <a:extLst xmlns:a="http://schemas.openxmlformats.org/drawingml/2006/main">
              <a:ext uri="{FF2B5EF4-FFF2-40B4-BE49-F238E27FC236}">
                <a16:creationId xmlns:a16="http://schemas.microsoft.com/office/drawing/2014/main" id="{296A51F1-EC84-4938-BE4C-E64647EAF8A5}"/>
              </a:ext>
            </a:extLst>
          </p:cNvPr>
          <p:cNvSpPr>
            <a:spLocks xmlns:a="http://schemas.openxmlformats.org/drawingml/2006/main" noGrp="1"/>
          </p:cNvSpPr>
          <p:nvPr/>
        </p:nvSpPr>
        <p:spPr>
          <a:xfrm xmlns:a="http://schemas.openxmlformats.org/drawingml/2006/main">
            <a:off x="2011680" y="201168"/>
            <a:ext cx="7863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1F4E79"/>
                </a:solidFill>
                <a:latin typeface="Cambria"/>
                <a:ea typeface="Cambria"/>
                <a:cs typeface="Cambria"/>
              </a:rPr>
              <a:t>AEGISBROWSE</a:t>
            </a:r>
            <a:endParaRPr sz="2800"/>
          </a:p>
        </p:txBody>
      </p:sp>
      <p:pic>
        <p:nvPicPr>
          <p:cNvPr id="90" name="Image 0"/>
          <p:cNvPicPr>
            <a:picLocks xmlns:a="http://schemas.openxmlformats.org/drawingml/2006/main" noChangeAspect="1"/>
          </p:cNvPicPr>
          <p:nvPr/>
        </p:nvPicPr>
        <p:blipFill>
          <a:blip xmlns:r="http://schemas.openxmlformats.org/officeDocument/2006/relationships" xmlns:a="http://schemas.openxmlformats.org/drawingml/2006/main" r:embed="R504176bb45764959"/>
          <a:stretch xmlns:a="http://schemas.openxmlformats.org/drawingml/2006/main">
            <a:fillRect l="0" t="0" r="0" b="0"/>
          </a:stretch>
        </p:blipFill>
        <p:spPr>
          <a:xfrm xmlns:a="http://schemas.openxmlformats.org/drawingml/2006/main">
            <a:off x="10287000" y="164592"/>
            <a:ext cx="1554480" cy="731520"/>
          </a:xfrm>
          <a:prstGeom xmlns:a="http://schemas.openxmlformats.org/drawingml/2006/main" prst="rect">
            <a:avLst/>
          </a:prstGeom>
          <a:effectLst xmlns:a="http://schemas.openxmlformats.org/drawingml/2006/main">
            <a:outerShdw blurRad="76200" dist="12700" dir="5400000" algn="bl" rotWithShape="0">
              <a:srgbClr val="9FB0C0">
                <a:alpha val="28000"/>
              </a:srgbClr>
            </a:outerShdw>
          </a:effectLst>
        </p:spPr>
      </p:pic>
      <p:sp>
        <p:nvSpPr>
          <p:cNvPr id="7" name="Shape 4">
            <a:extLst xmlns:a="http://schemas.openxmlformats.org/drawingml/2006/main">
              <a:ext uri="{FF2B5EF4-FFF2-40B4-BE49-F238E27FC236}">
                <a16:creationId xmlns:a16="http://schemas.microsoft.com/office/drawing/2014/main" id="{3AFB8C86-5B9D-4F33-9954-3909F3C7938F}"/>
              </a:ext>
            </a:extLst>
          </p:cNvPr>
          <p:cNvSpPr>
            <a:spLocks xmlns:a="http://schemas.openxmlformats.org/drawingml/2006/main" noGrp="1"/>
          </p:cNvSpPr>
          <p:nvPr/>
        </p:nvSpPr>
        <p:spPr>
          <a:xfrm xmlns:a="http://schemas.openxmlformats.org/drawingml/2006/main">
            <a:off x="0" y="6446520"/>
            <a:ext cx="12191695" cy="411480"/>
          </a:xfrm>
          <a:prstGeom xmlns:a="http://schemas.openxmlformats.org/drawingml/2006/main" prst="rect">
            <a:avLst/>
          </a:prstGeom>
          <a:solidFill xmlns:a="http://schemas.openxmlformats.org/drawingml/2006/main">
            <a:srgbClr val="0071C1"/>
          </a:solidFill>
        </p:spPr>
      </p:sp>
      <p:sp>
        <p:nvSpPr>
          <p:cNvPr id="9" name="Text 6">
            <a:extLst xmlns:a="http://schemas.openxmlformats.org/drawingml/2006/main">
              <a:ext uri="{FF2B5EF4-FFF2-40B4-BE49-F238E27FC236}">
                <a16:creationId xmlns:a16="http://schemas.microsoft.com/office/drawing/2014/main" id="{583EA1E5-0D19-486F-98F8-1A1FB9FDA7B4}"/>
              </a:ext>
            </a:extLst>
          </p:cNvPr>
          <p:cNvSpPr>
            <a:spLocks xmlns:a="http://schemas.openxmlformats.org/drawingml/2006/main" noGrp="1"/>
          </p:cNvSpPr>
          <p:nvPr/>
        </p:nvSpPr>
        <p:spPr>
          <a:xfrm xmlns:a="http://schemas.openxmlformats.org/drawingml/2006/main">
            <a:off x="11338560" y="6537960"/>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2</a:t>
            </a:r>
            <a:endParaRPr sz="1250"/>
          </a:p>
        </p:txBody>
      </p:sp>
      <p:sp>
        <p:nvSpPr>
          <p:cNvPr id="54" name="rev-2">
            <a:extLst xmlns:a="http://schemas.openxmlformats.org/drawingml/2006/main">
              <a:ext uri="{FF2B5EF4-FFF2-40B4-BE49-F238E27FC236}">
                <a16:creationId xmlns:a16="http://schemas.microsoft.com/office/drawing/2014/main" id="{97DDA08D-B8F3-4338-9C79-621D7F1D96B7}"/>
              </a:ext>
            </a:extLst>
          </p:cNvPr>
          <p:cNvSpPr>
            <a:spLocks xmlns:a="http://schemas.openxmlformats.org/drawingml/2006/main" noGrp="1"/>
          </p:cNvSpPr>
          <p:nvPr/>
        </p:nvSpPr>
        <p:spPr>
          <a:xfrm xmlns:a="http://schemas.openxmlformats.org/drawingml/2006/main">
            <a:off x="457200" y="9810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26B2E"/>
                </a:solidFill>
                <a:latin typeface="Calibri"/>
                <a:ea typeface="Calibri"/>
                <a:cs typeface="Calibri"/>
              </a:defRPr>
            </a:pPr>
            <a:r>
              <a:rPr sz="1500" b="1">
                <a:solidFill>
                  <a:srgbClr val="626B2E"/>
                </a:solidFill>
                <a:latin typeface="Calibri"/>
                <a:ea typeface="Calibri"/>
                <a:cs typeface="Calibri"/>
              </a:rPr>
              <a:t>Proposed solution and how it addresses the problem</a:t>
            </a:r>
          </a:p>
        </p:txBody>
      </p:sp>
      <p:sp>
        <p:nvSpPr>
          <p:cNvPr id="55" name="rev-3">
            <a:extLst xmlns:a="http://schemas.openxmlformats.org/drawingml/2006/main">
              <a:ext uri="{FF2B5EF4-FFF2-40B4-BE49-F238E27FC236}">
                <a16:creationId xmlns:a16="http://schemas.microsoft.com/office/drawing/2014/main" id="{D64E63F1-98FA-44DD-9E27-9F0292406756}"/>
              </a:ext>
            </a:extLst>
          </p:cNvPr>
          <p:cNvSpPr>
            <a:spLocks xmlns:a="http://schemas.openxmlformats.org/drawingml/2006/main" noGrp="1"/>
          </p:cNvSpPr>
          <p:nvPr/>
        </p:nvSpPr>
        <p:spPr>
          <a:xfrm xmlns:a="http://schemas.openxmlformats.org/drawingml/2006/main">
            <a:off x="457200" y="1323975"/>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02B36"/>
                </a:solidFill>
                <a:latin typeface="Calibri"/>
                <a:ea typeface="Calibri"/>
                <a:cs typeface="Calibri"/>
              </a:defRPr>
            </a:pPr>
            <a:r>
              <a:rPr sz="2100" b="1">
                <a:solidFill>
                  <a:srgbClr val="202B36"/>
                </a:solidFill>
                <a:latin typeface="Calibri"/>
                <a:ea typeface="Calibri"/>
                <a:cs typeface="Calibri"/>
              </a:rPr>
              <a:t>A local privacy layer between the screen and the server</a:t>
            </a:r>
          </a:p>
        </p:txBody>
      </p:sp>
      <p:sp>
        <p:nvSpPr>
          <p:cNvPr id="56" name="step-4">
            <a:extLst xmlns:a="http://schemas.openxmlformats.org/drawingml/2006/main">
              <a:ext uri="{FF2B5EF4-FFF2-40B4-BE49-F238E27FC236}">
                <a16:creationId xmlns:a16="http://schemas.microsoft.com/office/drawing/2014/main" id="{B3228DD0-7A0C-4838-8A61-9E52BD4406EE}"/>
              </a:ext>
            </a:extLst>
          </p:cNvPr>
          <p:cNvSpPr>
            <a:spLocks xmlns:a="http://schemas.openxmlformats.org/drawingml/2006/main" noGrp="1"/>
          </p:cNvSpPr>
          <p:nvPr/>
        </p:nvSpPr>
        <p:spPr>
          <a:xfrm xmlns:a="http://schemas.openxmlformats.org/drawingml/2006/main">
            <a:off x="457200" y="1866900"/>
            <a:ext cx="323850" cy="323850"/>
          </a:xfrm>
          <a:prstGeom xmlns:a="http://schemas.openxmlformats.org/drawingml/2006/main" prst="ellipse">
            <a:avLst/>
          </a:prstGeom>
          <a:solidFill xmlns:a="http://schemas.openxmlformats.org/drawingml/2006/main">
            <a:srgbClr val="626B2E"/>
          </a:solidFill>
          <a:ln xmlns:a="http://schemas.openxmlformats.org/drawingml/2006/main" w="0">
            <a:noFill/>
          </a:ln>
        </p:spPr>
      </p:sp>
      <p:sp>
        <p:nvSpPr>
          <p:cNvPr id="57" name="rev-5">
            <a:extLst xmlns:a="http://schemas.openxmlformats.org/drawingml/2006/main">
              <a:ext uri="{FF2B5EF4-FFF2-40B4-BE49-F238E27FC236}">
                <a16:creationId xmlns:a16="http://schemas.microsoft.com/office/drawing/2014/main" id="{A0999AB7-0AD5-4384-8C24-FB4FF979F011}"/>
              </a:ext>
            </a:extLst>
          </p:cNvPr>
          <p:cNvSpPr>
            <a:spLocks xmlns:a="http://schemas.openxmlformats.org/drawingml/2006/main" noGrp="1"/>
          </p:cNvSpPr>
          <p:nvPr/>
        </p:nvSpPr>
        <p:spPr>
          <a:xfrm xmlns:a="http://schemas.openxmlformats.org/drawingml/2006/main">
            <a:off x="457200" y="1885950"/>
            <a:ext cx="323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1</a:t>
            </a:r>
          </a:p>
        </p:txBody>
      </p:sp>
      <p:sp>
        <p:nvSpPr>
          <p:cNvPr id="58" name="rev-6">
            <a:extLst xmlns:a="http://schemas.openxmlformats.org/drawingml/2006/main">
              <a:ext uri="{FF2B5EF4-FFF2-40B4-BE49-F238E27FC236}">
                <a16:creationId xmlns:a16="http://schemas.microsoft.com/office/drawing/2014/main" id="{464C1964-07DA-4FC1-918F-4713879133AB}"/>
              </a:ext>
            </a:extLst>
          </p:cNvPr>
          <p:cNvSpPr>
            <a:spLocks xmlns:a="http://schemas.openxmlformats.org/drawingml/2006/main" noGrp="1"/>
          </p:cNvSpPr>
          <p:nvPr/>
        </p:nvSpPr>
        <p:spPr>
          <a:xfrm xmlns:a="http://schemas.openxmlformats.org/drawingml/2006/main">
            <a:off x="904875" y="1876425"/>
            <a:ext cx="312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26B2E"/>
                </a:solidFill>
                <a:latin typeface="Calibri"/>
                <a:ea typeface="Calibri"/>
                <a:cs typeface="Calibri"/>
              </a:defRPr>
            </a:pPr>
            <a:r>
              <a:rPr sz="1725" b="1">
                <a:solidFill>
                  <a:srgbClr val="626B2E"/>
                </a:solidFill>
                <a:latin typeface="Calibri"/>
                <a:ea typeface="Calibri"/>
                <a:cs typeface="Calibri"/>
              </a:rPr>
              <a:t>Observe privately</a:t>
            </a:r>
          </a:p>
        </p:txBody>
      </p:sp>
      <p:sp>
        <p:nvSpPr>
          <p:cNvPr id="59" name="rev-7">
            <a:extLst xmlns:a="http://schemas.openxmlformats.org/drawingml/2006/main">
              <a:ext uri="{FF2B5EF4-FFF2-40B4-BE49-F238E27FC236}">
                <a16:creationId xmlns:a16="http://schemas.microsoft.com/office/drawing/2014/main" id="{C3217C92-76A1-48F9-9312-4B359800E5AD}"/>
              </a:ext>
            </a:extLst>
          </p:cNvPr>
          <p:cNvSpPr>
            <a:spLocks xmlns:a="http://schemas.openxmlformats.org/drawingml/2006/main" noGrp="1"/>
          </p:cNvSpPr>
          <p:nvPr/>
        </p:nvSpPr>
        <p:spPr>
          <a:xfrm xmlns:a="http://schemas.openxmlformats.org/drawingml/2006/main">
            <a:off x="457200" y="2295525"/>
            <a:ext cx="350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3616D"/>
                </a:solidFill>
                <a:latin typeface="Calibri"/>
                <a:ea typeface="Calibri"/>
                <a:cs typeface="Calibri"/>
              </a:defRPr>
            </a:pPr>
            <a:r>
              <a:rPr sz="1350">
                <a:solidFill>
                  <a:srgbClr val="53616D"/>
                </a:solidFill>
                <a:latin typeface="Calibri"/>
                <a:ea typeface="Calibri"/>
                <a:cs typeface="Calibri"/>
              </a:rPr>
              <a:t>Raw screenshot + DOM</a:t>
            </a:r>
          </a:p>
        </p:txBody>
      </p:sp>
      <p:sp>
        <p:nvSpPr>
          <p:cNvPr id="60" name="rev-8">
            <a:extLst xmlns:a="http://schemas.openxmlformats.org/drawingml/2006/main">
              <a:ext uri="{FF2B5EF4-FFF2-40B4-BE49-F238E27FC236}">
                <a16:creationId xmlns:a16="http://schemas.microsoft.com/office/drawing/2014/main" id="{D4702119-4F6B-4AAD-84BB-FA026A7DEBB2}"/>
              </a:ext>
            </a:extLst>
          </p:cNvPr>
          <p:cNvSpPr>
            <a:spLocks xmlns:a="http://schemas.openxmlformats.org/drawingml/2006/main" noGrp="1"/>
          </p:cNvSpPr>
          <p:nvPr/>
        </p:nvSpPr>
        <p:spPr>
          <a:xfrm xmlns:a="http://schemas.openxmlformats.org/drawingml/2006/main">
            <a:off x="457200" y="2686050"/>
            <a:ext cx="35052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CBD3DA"/>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a5c541cd4ae4c2c"/>
          <a:stretch xmlns:a="http://schemas.openxmlformats.org/drawingml/2006/main"/>
        </p:blipFill>
        <p:spPr>
          <a:xfrm xmlns:a="http://schemas.openxmlformats.org/drawingml/2006/main">
            <a:off x="466725" y="2696954"/>
            <a:ext cx="3486150" cy="2064168"/>
          </a:xfrm>
          <a:prstGeom xmlns:a="http://schemas.openxmlformats.org/drawingml/2006/main" prst="rect">
            <a:avLst/>
          </a:prstGeom>
        </p:spPr>
      </p:pic>
      <p:sp>
        <p:nvSpPr>
          <p:cNvPr id="62" name="step-9">
            <a:extLst xmlns:a="http://schemas.openxmlformats.org/drawingml/2006/main">
              <a:ext uri="{FF2B5EF4-FFF2-40B4-BE49-F238E27FC236}">
                <a16:creationId xmlns:a16="http://schemas.microsoft.com/office/drawing/2014/main" id="{F7C94E70-98C9-46EE-AD4A-45543AD6B5CB}"/>
              </a:ext>
            </a:extLst>
          </p:cNvPr>
          <p:cNvSpPr>
            <a:spLocks xmlns:a="http://schemas.openxmlformats.org/drawingml/2006/main" noGrp="1"/>
          </p:cNvSpPr>
          <p:nvPr/>
        </p:nvSpPr>
        <p:spPr>
          <a:xfrm xmlns:a="http://schemas.openxmlformats.org/drawingml/2006/main">
            <a:off x="4343400" y="1866900"/>
            <a:ext cx="323850" cy="323850"/>
          </a:xfrm>
          <a:prstGeom xmlns:a="http://schemas.openxmlformats.org/drawingml/2006/main" prst="ellipse">
            <a:avLst/>
          </a:prstGeom>
          <a:solidFill xmlns:a="http://schemas.openxmlformats.org/drawingml/2006/main">
            <a:srgbClr val="626B2E"/>
          </a:solidFill>
          <a:ln xmlns:a="http://schemas.openxmlformats.org/drawingml/2006/main" w="0">
            <a:noFill/>
          </a:ln>
        </p:spPr>
      </p:sp>
      <p:sp>
        <p:nvSpPr>
          <p:cNvPr id="63" name="rev-10">
            <a:extLst xmlns:a="http://schemas.openxmlformats.org/drawingml/2006/main">
              <a:ext uri="{FF2B5EF4-FFF2-40B4-BE49-F238E27FC236}">
                <a16:creationId xmlns:a16="http://schemas.microsoft.com/office/drawing/2014/main" id="{B103DFE5-43D3-4A3B-AB0F-91E572F945FA}"/>
              </a:ext>
            </a:extLst>
          </p:cNvPr>
          <p:cNvSpPr>
            <a:spLocks xmlns:a="http://schemas.openxmlformats.org/drawingml/2006/main" noGrp="1"/>
          </p:cNvSpPr>
          <p:nvPr/>
        </p:nvSpPr>
        <p:spPr>
          <a:xfrm xmlns:a="http://schemas.openxmlformats.org/drawingml/2006/main">
            <a:off x="4343400" y="1885950"/>
            <a:ext cx="323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2</a:t>
            </a:r>
          </a:p>
        </p:txBody>
      </p:sp>
      <p:sp>
        <p:nvSpPr>
          <p:cNvPr id="64" name="rev-11">
            <a:extLst xmlns:a="http://schemas.openxmlformats.org/drawingml/2006/main">
              <a:ext uri="{FF2B5EF4-FFF2-40B4-BE49-F238E27FC236}">
                <a16:creationId xmlns:a16="http://schemas.microsoft.com/office/drawing/2014/main" id="{6F750DB9-FBF5-4E5E-8B30-6C566E45EC4A}"/>
              </a:ext>
            </a:extLst>
          </p:cNvPr>
          <p:cNvSpPr>
            <a:spLocks xmlns:a="http://schemas.openxmlformats.org/drawingml/2006/main" noGrp="1"/>
          </p:cNvSpPr>
          <p:nvPr/>
        </p:nvSpPr>
        <p:spPr>
          <a:xfrm xmlns:a="http://schemas.openxmlformats.org/drawingml/2006/main">
            <a:off x="4791075" y="1876425"/>
            <a:ext cx="312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26B2E"/>
                </a:solidFill>
                <a:latin typeface="Calibri"/>
                <a:ea typeface="Calibri"/>
                <a:cs typeface="Calibri"/>
              </a:defRPr>
            </a:pPr>
            <a:r>
              <a:rPr sz="1725" b="1">
                <a:solidFill>
                  <a:srgbClr val="626B2E"/>
                </a:solidFill>
                <a:latin typeface="Calibri"/>
                <a:ea typeface="Calibri"/>
                <a:cs typeface="Calibri"/>
              </a:rPr>
              <a:t>Locate sensitive regions</a:t>
            </a:r>
          </a:p>
        </p:txBody>
      </p:sp>
      <p:sp>
        <p:nvSpPr>
          <p:cNvPr id="65" name="rev-12">
            <a:extLst xmlns:a="http://schemas.openxmlformats.org/drawingml/2006/main">
              <a:ext uri="{FF2B5EF4-FFF2-40B4-BE49-F238E27FC236}">
                <a16:creationId xmlns:a16="http://schemas.microsoft.com/office/drawing/2014/main" id="{0D79CB9E-1EDE-4B8C-A19F-C8EE245E3ACE}"/>
              </a:ext>
            </a:extLst>
          </p:cNvPr>
          <p:cNvSpPr>
            <a:spLocks xmlns:a="http://schemas.openxmlformats.org/drawingml/2006/main" noGrp="1"/>
          </p:cNvSpPr>
          <p:nvPr/>
        </p:nvSpPr>
        <p:spPr>
          <a:xfrm xmlns:a="http://schemas.openxmlformats.org/drawingml/2006/main">
            <a:off x="4343400" y="2295525"/>
            <a:ext cx="350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3616D"/>
                </a:solidFill>
                <a:latin typeface="Calibri"/>
                <a:ea typeface="Calibri"/>
                <a:cs typeface="Calibri"/>
              </a:defRPr>
            </a:pPr>
            <a:r>
              <a:rPr sz="1350">
                <a:solidFill>
                  <a:srgbClr val="53616D"/>
                </a:solidFill>
                <a:latin typeface="Calibri"/>
                <a:ea typeface="Calibri"/>
                <a:cs typeface="Calibri"/>
              </a:rPr>
              <a:t>DOM signals / reference CV overlay</a:t>
            </a:r>
          </a:p>
        </p:txBody>
      </p:sp>
      <p:sp>
        <p:nvSpPr>
          <p:cNvPr id="66" name="rev-13">
            <a:extLst xmlns:a="http://schemas.openxmlformats.org/drawingml/2006/main">
              <a:ext uri="{FF2B5EF4-FFF2-40B4-BE49-F238E27FC236}">
                <a16:creationId xmlns:a16="http://schemas.microsoft.com/office/drawing/2014/main" id="{98B4CC6E-70F4-4BDC-BE99-39A15A44EC83}"/>
              </a:ext>
            </a:extLst>
          </p:cNvPr>
          <p:cNvSpPr>
            <a:spLocks xmlns:a="http://schemas.openxmlformats.org/drawingml/2006/main" noGrp="1"/>
          </p:cNvSpPr>
          <p:nvPr/>
        </p:nvSpPr>
        <p:spPr>
          <a:xfrm xmlns:a="http://schemas.openxmlformats.org/drawingml/2006/main">
            <a:off x="4343400" y="2686050"/>
            <a:ext cx="35052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CBD3DA"/>
            </a:solidFill>
          </a:ln>
        </p:spPr>
      </p:sp>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c3be5115fbd74190"/>
          <a:stretch xmlns:a="http://schemas.openxmlformats.org/drawingml/2006/main"/>
        </p:blipFill>
        <p:spPr>
          <a:xfrm xmlns:a="http://schemas.openxmlformats.org/drawingml/2006/main">
            <a:off x="4352925" y="2696954"/>
            <a:ext cx="3486150" cy="2064168"/>
          </a:xfrm>
          <a:prstGeom xmlns:a="http://schemas.openxmlformats.org/drawingml/2006/main" prst="rect">
            <a:avLst/>
          </a:prstGeom>
        </p:spPr>
      </p:pic>
      <p:sp>
        <p:nvSpPr>
          <p:cNvPr id="68" name="step-14">
            <a:extLst xmlns:a="http://schemas.openxmlformats.org/drawingml/2006/main">
              <a:ext uri="{FF2B5EF4-FFF2-40B4-BE49-F238E27FC236}">
                <a16:creationId xmlns:a16="http://schemas.microsoft.com/office/drawing/2014/main" id="{E888FCF9-8025-4AD2-9F19-AE05990405C1}"/>
              </a:ext>
            </a:extLst>
          </p:cNvPr>
          <p:cNvSpPr>
            <a:spLocks xmlns:a="http://schemas.openxmlformats.org/drawingml/2006/main" noGrp="1"/>
          </p:cNvSpPr>
          <p:nvPr/>
        </p:nvSpPr>
        <p:spPr>
          <a:xfrm xmlns:a="http://schemas.openxmlformats.org/drawingml/2006/main">
            <a:off x="8229600" y="1866900"/>
            <a:ext cx="323850" cy="323850"/>
          </a:xfrm>
          <a:prstGeom xmlns:a="http://schemas.openxmlformats.org/drawingml/2006/main" prst="ellipse">
            <a:avLst/>
          </a:prstGeom>
          <a:solidFill xmlns:a="http://schemas.openxmlformats.org/drawingml/2006/main">
            <a:srgbClr val="626B2E"/>
          </a:solidFill>
          <a:ln xmlns:a="http://schemas.openxmlformats.org/drawingml/2006/main" w="0">
            <a:noFill/>
          </a:ln>
        </p:spPr>
      </p:sp>
      <p:sp>
        <p:nvSpPr>
          <p:cNvPr id="69" name="rev-15">
            <a:extLst xmlns:a="http://schemas.openxmlformats.org/drawingml/2006/main">
              <a:ext uri="{FF2B5EF4-FFF2-40B4-BE49-F238E27FC236}">
                <a16:creationId xmlns:a16="http://schemas.microsoft.com/office/drawing/2014/main" id="{8DE6C329-B023-466B-8C0E-4A49BB84CCB4}"/>
              </a:ext>
            </a:extLst>
          </p:cNvPr>
          <p:cNvSpPr>
            <a:spLocks xmlns:a="http://schemas.openxmlformats.org/drawingml/2006/main" noGrp="1"/>
          </p:cNvSpPr>
          <p:nvPr/>
        </p:nvSpPr>
        <p:spPr>
          <a:xfrm xmlns:a="http://schemas.openxmlformats.org/drawingml/2006/main">
            <a:off x="8229600" y="1885950"/>
            <a:ext cx="323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3</a:t>
            </a:r>
          </a:p>
        </p:txBody>
      </p:sp>
      <p:sp>
        <p:nvSpPr>
          <p:cNvPr id="70" name="rev-16">
            <a:extLst xmlns:a="http://schemas.openxmlformats.org/drawingml/2006/main">
              <a:ext uri="{FF2B5EF4-FFF2-40B4-BE49-F238E27FC236}">
                <a16:creationId xmlns:a16="http://schemas.microsoft.com/office/drawing/2014/main" id="{FD11856B-4359-4F78-9D23-BBB4CBDF5CE3}"/>
              </a:ext>
            </a:extLst>
          </p:cNvPr>
          <p:cNvSpPr>
            <a:spLocks xmlns:a="http://schemas.openxmlformats.org/drawingml/2006/main" noGrp="1"/>
          </p:cNvSpPr>
          <p:nvPr/>
        </p:nvSpPr>
        <p:spPr>
          <a:xfrm xmlns:a="http://schemas.openxmlformats.org/drawingml/2006/main">
            <a:off x="8677275" y="1876425"/>
            <a:ext cx="312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626B2E"/>
                </a:solidFill>
                <a:latin typeface="Calibri"/>
                <a:ea typeface="Calibri"/>
                <a:cs typeface="Calibri"/>
              </a:defRPr>
            </a:pPr>
            <a:r>
              <a:rPr sz="1725" b="1">
                <a:solidFill>
                  <a:srgbClr val="626B2E"/>
                </a:solidFill>
                <a:latin typeface="Calibri"/>
                <a:ea typeface="Calibri"/>
                <a:cs typeface="Calibri"/>
              </a:rPr>
              <a:t>Prepare safe context</a:t>
            </a:r>
          </a:p>
        </p:txBody>
      </p:sp>
      <p:sp>
        <p:nvSpPr>
          <p:cNvPr id="71" name="rev-17">
            <a:extLst xmlns:a="http://schemas.openxmlformats.org/drawingml/2006/main">
              <a:ext uri="{FF2B5EF4-FFF2-40B4-BE49-F238E27FC236}">
                <a16:creationId xmlns:a16="http://schemas.microsoft.com/office/drawing/2014/main" id="{310927BD-D740-44C1-B56D-8E825D63DF41}"/>
              </a:ext>
            </a:extLst>
          </p:cNvPr>
          <p:cNvSpPr>
            <a:spLocks xmlns:a="http://schemas.openxmlformats.org/drawingml/2006/main" noGrp="1"/>
          </p:cNvSpPr>
          <p:nvPr/>
        </p:nvSpPr>
        <p:spPr>
          <a:xfrm xmlns:a="http://schemas.openxmlformats.org/drawingml/2006/main">
            <a:off x="8229600" y="2295525"/>
            <a:ext cx="350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3616D"/>
                </a:solidFill>
                <a:latin typeface="Calibri"/>
                <a:ea typeface="Calibri"/>
                <a:cs typeface="Calibri"/>
              </a:defRPr>
            </a:pPr>
            <a:r>
              <a:rPr sz="1350">
                <a:solidFill>
                  <a:srgbClr val="53616D"/>
                </a:solidFill>
                <a:latin typeface="Calibri"/>
                <a:ea typeface="Calibri"/>
                <a:cs typeface="Calibri"/>
              </a:rPr>
              <a:t>Redacted pixels + metadata</a:t>
            </a:r>
          </a:p>
        </p:txBody>
      </p:sp>
      <p:sp>
        <p:nvSpPr>
          <p:cNvPr id="72" name="rev-18">
            <a:extLst xmlns:a="http://schemas.openxmlformats.org/drawingml/2006/main">
              <a:ext uri="{FF2B5EF4-FFF2-40B4-BE49-F238E27FC236}">
                <a16:creationId xmlns:a16="http://schemas.microsoft.com/office/drawing/2014/main" id="{956C7A6B-C00C-4327-A9FA-02CD3D2A6C13}"/>
              </a:ext>
            </a:extLst>
          </p:cNvPr>
          <p:cNvSpPr>
            <a:spLocks xmlns:a="http://schemas.openxmlformats.org/drawingml/2006/main" noGrp="1"/>
          </p:cNvSpPr>
          <p:nvPr/>
        </p:nvSpPr>
        <p:spPr>
          <a:xfrm xmlns:a="http://schemas.openxmlformats.org/drawingml/2006/main">
            <a:off x="8229600" y="2686050"/>
            <a:ext cx="35052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CBD3DA"/>
            </a:solidFill>
          </a:ln>
        </p:spPr>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57b40524e5cd4523"/>
          <a:stretch xmlns:a="http://schemas.openxmlformats.org/drawingml/2006/main"/>
        </p:blipFill>
        <p:spPr>
          <a:xfrm xmlns:a="http://schemas.openxmlformats.org/drawingml/2006/main">
            <a:off x="8239125" y="2696954"/>
            <a:ext cx="3486150" cy="2064168"/>
          </a:xfrm>
          <a:prstGeom xmlns:a="http://schemas.openxmlformats.org/drawingml/2006/main" prst="rect">
            <a:avLst/>
          </a:prstGeom>
        </p:spPr>
      </p:pic>
      <p:sp>
        <p:nvSpPr>
          <p:cNvPr id="74" name="rev-19">
            <a:extLst xmlns:a="http://schemas.openxmlformats.org/drawingml/2006/main">
              <a:ext uri="{FF2B5EF4-FFF2-40B4-BE49-F238E27FC236}">
                <a16:creationId xmlns:a16="http://schemas.microsoft.com/office/drawing/2014/main" id="{76D62C0D-E0D4-4CD1-8FF8-DDD54B08EDB5}"/>
              </a:ext>
            </a:extLst>
          </p:cNvPr>
          <p:cNvSpPr>
            <a:spLocks xmlns:a="http://schemas.openxmlformats.org/drawingml/2006/main" noGrp="1"/>
          </p:cNvSpPr>
          <p:nvPr/>
        </p:nvSpPr>
        <p:spPr>
          <a:xfrm xmlns:a="http://schemas.openxmlformats.org/drawingml/2006/main">
            <a:off x="8229600" y="2514600"/>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3616D"/>
                </a:solidFill>
                <a:latin typeface="Calibri"/>
                <a:ea typeface="Calibri"/>
                <a:cs typeface="Calibri"/>
              </a:defRPr>
            </a:pPr>
            <a:r>
              <a:rPr sz="975">
                <a:solidFill>
                  <a:srgbClr val="53616D"/>
                </a:solidFill>
                <a:latin typeface="Calibri"/>
                <a:ea typeface="Calibri"/>
                <a:cs typeface="Calibri"/>
              </a:rPr>
              <a:t>Illustration, not browser-model output</a:t>
            </a:r>
          </a:p>
        </p:txBody>
      </p:sp>
      <p:sp>
        <p:nvSpPr>
          <p:cNvPr id="75" name="">
            <a:extLst xmlns:a="http://schemas.openxmlformats.org/drawingml/2006/main">
              <a:ext uri="{FF2B5EF4-FFF2-40B4-BE49-F238E27FC236}">
                <a16:creationId xmlns:a16="http://schemas.microsoft.com/office/drawing/2014/main" id="{53817546-492A-438D-8A58-04F7B5401C27}"/>
              </a:ext>
            </a:extLst>
          </p:cNvPr>
          <p:cNvSpPr>
            <a:spLocks xmlns:a="http://schemas.openxmlformats.org/drawingml/2006/main" noGrp="1"/>
          </p:cNvSpPr>
          <p:nvPr/>
        </p:nvSpPr>
        <p:spPr>
          <a:xfrm xmlns:a="http://schemas.openxmlformats.org/drawingml/2006/main">
            <a:off x="4000500" y="3571875"/>
            <a:ext cx="257175" cy="333375"/>
          </a:xfrm>
          <a:prstGeom xmlns:a="http://schemas.openxmlformats.org/drawingml/2006/main" prst="chevron">
            <a:avLst/>
          </a:prstGeom>
          <a:solidFill xmlns:a="http://schemas.openxmlformats.org/drawingml/2006/main">
            <a:srgbClr val="626B2E"/>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2FCFBAE3-263A-4920-984D-4C02EA6E0C53}"/>
              </a:ext>
            </a:extLst>
          </p:cNvPr>
          <p:cNvSpPr>
            <a:spLocks xmlns:a="http://schemas.openxmlformats.org/drawingml/2006/main" noGrp="1"/>
          </p:cNvSpPr>
          <p:nvPr/>
        </p:nvSpPr>
        <p:spPr>
          <a:xfrm xmlns:a="http://schemas.openxmlformats.org/drawingml/2006/main">
            <a:off x="7886700" y="3571875"/>
            <a:ext cx="257175" cy="333375"/>
          </a:xfrm>
          <a:prstGeom xmlns:a="http://schemas.openxmlformats.org/drawingml/2006/main" prst="chevron">
            <a:avLst/>
          </a:prstGeom>
          <a:solidFill xmlns:a="http://schemas.openxmlformats.org/drawingml/2006/main">
            <a:srgbClr val="626B2E"/>
          </a:solidFill>
          <a:ln xmlns:a="http://schemas.openxmlformats.org/drawingml/2006/main" w="0">
            <a:noFill/>
          </a:ln>
        </p:spPr>
      </p:sp>
      <p:sp>
        <p:nvSpPr>
          <p:cNvPr id="77" name="rev-20">
            <a:extLst xmlns:a="http://schemas.openxmlformats.org/drawingml/2006/main">
              <a:ext uri="{FF2B5EF4-FFF2-40B4-BE49-F238E27FC236}">
                <a16:creationId xmlns:a16="http://schemas.microsoft.com/office/drawing/2014/main" id="{F9A8D6BD-61F4-4627-B8E6-254850ABE45B}"/>
              </a:ext>
            </a:extLst>
          </p:cNvPr>
          <p:cNvSpPr>
            <a:spLocks xmlns:a="http://schemas.openxmlformats.org/drawingml/2006/main" noGrp="1"/>
          </p:cNvSpPr>
          <p:nvPr/>
        </p:nvSpPr>
        <p:spPr>
          <a:xfrm xmlns:a="http://schemas.openxmlformats.org/drawingml/2006/main">
            <a:off x="457200" y="4876800"/>
            <a:ext cx="7296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626B2E"/>
                </a:solidFill>
                <a:latin typeface="Calibri"/>
                <a:ea typeface="Calibri"/>
                <a:cs typeface="Calibri"/>
              </a:defRPr>
            </a:pPr>
            <a:r>
              <a:rPr sz="1200" b="1">
                <a:solidFill>
                  <a:srgbClr val="626B2E"/>
                </a:solidFill>
                <a:latin typeface="Calibri"/>
                <a:ea typeface="Calibri"/>
                <a:cs typeface="Calibri"/>
              </a:rPr>
              <a:t>CAPTURE AND REDACTION STAY ON THE DEVICE</a:t>
            </a:r>
          </a:p>
        </p:txBody>
      </p:sp>
      <p:sp>
        <p:nvSpPr>
          <p:cNvPr id="78" name="rev-21">
            <a:extLst xmlns:a="http://schemas.openxmlformats.org/drawingml/2006/main">
              <a:ext uri="{FF2B5EF4-FFF2-40B4-BE49-F238E27FC236}">
                <a16:creationId xmlns:a16="http://schemas.microsoft.com/office/drawing/2014/main" id="{AC476EBB-9D18-4557-A8F5-FB3BA0FD381E}"/>
              </a:ext>
            </a:extLst>
          </p:cNvPr>
          <p:cNvSpPr>
            <a:spLocks xmlns:a="http://schemas.openxmlformats.org/drawingml/2006/main" noGrp="1"/>
          </p:cNvSpPr>
          <p:nvPr/>
        </p:nvSpPr>
        <p:spPr>
          <a:xfrm xmlns:a="http://schemas.openxmlformats.org/drawingml/2006/main">
            <a:off x="8229600" y="4876800"/>
            <a:ext cx="350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626B2E"/>
                </a:solidFill>
                <a:latin typeface="Calibri"/>
                <a:ea typeface="Calibri"/>
                <a:cs typeface="Calibri"/>
              </a:defRPr>
            </a:pPr>
            <a:r>
              <a:rPr sz="1350" b="1">
                <a:solidFill>
                  <a:srgbClr val="626B2E"/>
                </a:solidFill>
                <a:latin typeface="Calibri"/>
                <a:ea typeface="Calibri"/>
                <a:cs typeface="Calibri"/>
              </a:rPr>
              <a:t>Then select only task-relevant context for the server</a:t>
            </a:r>
          </a:p>
        </p:txBody>
      </p:sp>
      <p:sp>
        <p:nvSpPr>
          <p:cNvPr id="79" name="path-22">
            <a:extLst xmlns:a="http://schemas.openxmlformats.org/drawingml/2006/main">
              <a:ext uri="{FF2B5EF4-FFF2-40B4-BE49-F238E27FC236}">
                <a16:creationId xmlns:a16="http://schemas.microsoft.com/office/drawing/2014/main" id="{97E46718-9372-43DE-863B-8C4DCBB1BE2A}"/>
              </a:ext>
            </a:extLst>
          </p:cNvPr>
          <p:cNvSpPr>
            <a:spLocks xmlns:a="http://schemas.openxmlformats.org/drawingml/2006/main" noGrp="1"/>
          </p:cNvSpPr>
          <p:nvPr/>
        </p:nvSpPr>
        <p:spPr>
          <a:xfrm xmlns:a="http://schemas.openxmlformats.org/drawingml/2006/main">
            <a:off x="457200" y="5210175"/>
            <a:ext cx="7200900" cy="0"/>
          </a:xfrm>
          <a:prstGeom xmlns:a="http://schemas.openxmlformats.org/drawingml/2006/main" prst="line">
            <a:avLst/>
          </a:prstGeom>
          <a:noFill xmlns:a="http://schemas.openxmlformats.org/drawingml/2006/main"/>
          <a:ln xmlns:a="http://schemas.openxmlformats.org/drawingml/2006/main" w="14288">
            <a:solidFill>
              <a:srgbClr val="CBD3DA"/>
            </a:solidFill>
            <a:prstDash val="solid"/>
          </a:ln>
        </p:spPr>
      </p:sp>
      <p:sp>
        <p:nvSpPr>
          <p:cNvPr id="80" name="rev-23">
            <a:extLst xmlns:a="http://schemas.openxmlformats.org/drawingml/2006/main">
              <a:ext uri="{FF2B5EF4-FFF2-40B4-BE49-F238E27FC236}">
                <a16:creationId xmlns:a16="http://schemas.microsoft.com/office/drawing/2014/main" id="{3374697C-6E8A-498F-BC85-3E764933F051}"/>
              </a:ext>
            </a:extLst>
          </p:cNvPr>
          <p:cNvSpPr>
            <a:spLocks xmlns:a="http://schemas.openxmlformats.org/drawingml/2006/main" noGrp="1"/>
          </p:cNvSpPr>
          <p:nvPr/>
        </p:nvSpPr>
        <p:spPr>
          <a:xfrm xmlns:a="http://schemas.openxmlformats.org/drawingml/2006/main">
            <a:off x="457200" y="538162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626B2E"/>
                </a:solidFill>
                <a:latin typeface="Calibri"/>
                <a:ea typeface="Calibri"/>
                <a:cs typeface="Calibri"/>
              </a:defRPr>
            </a:pPr>
            <a:r>
              <a:rPr sz="1500" b="1">
                <a:solidFill>
                  <a:srgbClr val="626B2E"/>
                </a:solidFill>
                <a:latin typeface="Calibri"/>
                <a:ea typeface="Calibri"/>
                <a:cs typeface="Calibri"/>
              </a:rPr>
              <a:t>Innovation and uniqueness</a:t>
            </a:r>
          </a:p>
        </p:txBody>
      </p:sp>
      <p:sp>
        <p:nvSpPr>
          <p:cNvPr id="81" name="rev-24">
            <a:extLst xmlns:a="http://schemas.openxmlformats.org/drawingml/2006/main">
              <a:ext uri="{FF2B5EF4-FFF2-40B4-BE49-F238E27FC236}">
                <a16:creationId xmlns:a16="http://schemas.microsoft.com/office/drawing/2014/main" id="{998D7038-BB7F-48EC-AC82-DC95121C07A6}"/>
              </a:ext>
            </a:extLst>
          </p:cNvPr>
          <p:cNvSpPr>
            <a:spLocks xmlns:a="http://schemas.openxmlformats.org/drawingml/2006/main" noGrp="1"/>
          </p:cNvSpPr>
          <p:nvPr/>
        </p:nvSpPr>
        <p:spPr>
          <a:xfrm xmlns:a="http://schemas.openxmlformats.org/drawingml/2006/main">
            <a:off x="457200" y="5743575"/>
            <a:ext cx="3400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26B2E"/>
                </a:solidFill>
                <a:latin typeface="Calibri"/>
                <a:ea typeface="Calibri"/>
                <a:cs typeface="Calibri"/>
              </a:defRPr>
            </a:pPr>
            <a:r>
              <a:rPr sz="1650" b="1">
                <a:solidFill>
                  <a:srgbClr val="626B2E"/>
                </a:solidFill>
                <a:latin typeface="Calibri"/>
                <a:ea typeface="Calibri"/>
                <a:cs typeface="Calibri"/>
              </a:rPr>
              <a:t>Fuse privacy signals</a:t>
            </a:r>
          </a:p>
        </p:txBody>
      </p:sp>
      <p:sp>
        <p:nvSpPr>
          <p:cNvPr id="82" name="rev-25">
            <a:extLst xmlns:a="http://schemas.openxmlformats.org/drawingml/2006/main">
              <a:ext uri="{FF2B5EF4-FFF2-40B4-BE49-F238E27FC236}">
                <a16:creationId xmlns:a16="http://schemas.microsoft.com/office/drawing/2014/main" id="{08F93DCD-95BA-44E2-B39B-69D7569E7AAF}"/>
              </a:ext>
            </a:extLst>
          </p:cNvPr>
          <p:cNvSpPr>
            <a:spLocks xmlns:a="http://schemas.openxmlformats.org/drawingml/2006/main" noGrp="1"/>
          </p:cNvSpPr>
          <p:nvPr/>
        </p:nvSpPr>
        <p:spPr>
          <a:xfrm xmlns:a="http://schemas.openxmlformats.org/drawingml/2006/main">
            <a:off x="457200" y="6038850"/>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Browser: pixels + metadata filtering</a:t>
            </a:r>
          </a:p>
        </p:txBody>
      </p:sp>
      <p:sp>
        <p:nvSpPr>
          <p:cNvPr id="83" name="rev-26">
            <a:extLst xmlns:a="http://schemas.openxmlformats.org/drawingml/2006/main">
              <a:ext uri="{FF2B5EF4-FFF2-40B4-BE49-F238E27FC236}">
                <a16:creationId xmlns:a16="http://schemas.microsoft.com/office/drawing/2014/main" id="{D6F50D66-56C4-471E-9ADD-6A1FB2B1C582}"/>
              </a:ext>
            </a:extLst>
          </p:cNvPr>
          <p:cNvSpPr>
            <a:spLocks xmlns:a="http://schemas.openxmlformats.org/drawingml/2006/main" noGrp="1"/>
          </p:cNvSpPr>
          <p:nvPr/>
        </p:nvSpPr>
        <p:spPr>
          <a:xfrm xmlns:a="http://schemas.openxmlformats.org/drawingml/2006/main">
            <a:off x="4343400" y="5743575"/>
            <a:ext cx="3400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26B2E"/>
                </a:solidFill>
                <a:latin typeface="Calibri"/>
                <a:ea typeface="Calibri"/>
                <a:cs typeface="Calibri"/>
              </a:defRPr>
            </a:pPr>
            <a:r>
              <a:rPr sz="1650" b="1">
                <a:solidFill>
                  <a:srgbClr val="626B2E"/>
                </a:solidFill>
                <a:latin typeface="Calibri"/>
                <a:ea typeface="Calibri"/>
                <a:cs typeface="Calibri"/>
              </a:rPr>
              <a:t>Escalate selectively</a:t>
            </a:r>
          </a:p>
        </p:txBody>
      </p:sp>
      <p:sp>
        <p:nvSpPr>
          <p:cNvPr id="84" name="rev-27">
            <a:extLst xmlns:a="http://schemas.openxmlformats.org/drawingml/2006/main">
              <a:ext uri="{FF2B5EF4-FFF2-40B4-BE49-F238E27FC236}">
                <a16:creationId xmlns:a16="http://schemas.microsoft.com/office/drawing/2014/main" id="{7981BBCD-C64B-45B5-A73B-AFBDCB169A9C}"/>
              </a:ext>
            </a:extLst>
          </p:cNvPr>
          <p:cNvSpPr>
            <a:spLocks xmlns:a="http://schemas.openxmlformats.org/drawingml/2006/main" noGrp="1"/>
          </p:cNvSpPr>
          <p:nvPr/>
        </p:nvSpPr>
        <p:spPr>
          <a:xfrm xmlns:a="http://schemas.openxmlformats.org/drawingml/2006/main">
            <a:off x="4343400" y="6038850"/>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CPU benchmark: OCR on DOM gaps</a:t>
            </a:r>
          </a:p>
        </p:txBody>
      </p:sp>
      <p:sp>
        <p:nvSpPr>
          <p:cNvPr id="85" name="rev-28">
            <a:extLst xmlns:a="http://schemas.openxmlformats.org/drawingml/2006/main">
              <a:ext uri="{FF2B5EF4-FFF2-40B4-BE49-F238E27FC236}">
                <a16:creationId xmlns:a16="http://schemas.microsoft.com/office/drawing/2014/main" id="{DDD4D30E-D629-4C7E-A06F-BF445EE66DA2}"/>
              </a:ext>
            </a:extLst>
          </p:cNvPr>
          <p:cNvSpPr>
            <a:spLocks xmlns:a="http://schemas.openxmlformats.org/drawingml/2006/main" noGrp="1"/>
          </p:cNvSpPr>
          <p:nvPr/>
        </p:nvSpPr>
        <p:spPr>
          <a:xfrm xmlns:a="http://schemas.openxmlformats.org/drawingml/2006/main">
            <a:off x="8229600" y="5743575"/>
            <a:ext cx="3400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26B2E"/>
                </a:solidFill>
                <a:latin typeface="Calibri"/>
                <a:ea typeface="Calibri"/>
                <a:cs typeface="Calibri"/>
              </a:defRPr>
            </a:pPr>
            <a:r>
              <a:rPr sz="1650" b="1">
                <a:solidFill>
                  <a:srgbClr val="626B2E"/>
                </a:solidFill>
                <a:latin typeface="Calibri"/>
                <a:ea typeface="Calibri"/>
                <a:cs typeface="Calibri"/>
              </a:rPr>
              <a:t>Disclose by task</a:t>
            </a:r>
          </a:p>
        </p:txBody>
      </p:sp>
      <p:sp>
        <p:nvSpPr>
          <p:cNvPr id="86" name="rev-29">
            <a:extLst xmlns:a="http://schemas.openxmlformats.org/drawingml/2006/main">
              <a:ext uri="{FF2B5EF4-FFF2-40B4-BE49-F238E27FC236}">
                <a16:creationId xmlns:a16="http://schemas.microsoft.com/office/drawing/2014/main" id="{CEE1BCB1-6FA6-465E-91C2-DE24BA10628C}"/>
              </a:ext>
            </a:extLst>
          </p:cNvPr>
          <p:cNvSpPr>
            <a:spLocks xmlns:a="http://schemas.openxmlformats.org/drawingml/2006/main" noGrp="1"/>
          </p:cNvSpPr>
          <p:nvPr/>
        </p:nvSpPr>
        <p:spPr>
          <a:xfrm xmlns:a="http://schemas.openxmlformats.org/drawingml/2006/main">
            <a:off x="8229600" y="6038850"/>
            <a:ext cx="347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Browser: crop + selected controls</a:t>
            </a:r>
          </a:p>
        </p:txBody>
      </p:sp>
    </p:spTree>
    <p:extLst>
      <p:ext uri="{BB962C8B-B14F-4D97-AF65-F5344CB8AC3E}">
        <p14:creationId xmlns:p14="http://schemas.microsoft.com/office/powerpoint/2010/main" val="46317416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E724757-1BAA-4E15-8C69-6C7EF02090F1}"/>
              </a:ext>
            </a:extLst>
          </p:cNvPr>
          <p:cNvSpPr>
            <a:spLocks xmlns:a="http://schemas.openxmlformats.org/drawingml/2006/main" noGrp="1"/>
          </p:cNvSpPr>
          <p:nvPr/>
        </p:nvSpPr>
        <p:spPr>
          <a:xfrm xmlns:a="http://schemas.openxmlformats.org/drawingml/2006/main">
            <a:off x="384048" y="201168"/>
            <a:ext cx="1371600" cy="530352"/>
          </a:xfrm>
          <a:prstGeom xmlns:a="http://schemas.openxmlformats.org/drawingml/2006/main" prst="ellipse">
            <a:avLst/>
          </a:prstGeom>
          <a:solidFill xmlns:a="http://schemas.openxmlformats.org/drawingml/2006/main">
            <a:srgbClr val="E3F1F2"/>
          </a:solidFill>
          <a:ln xmlns:a="http://schemas.openxmlformats.org/drawingml/2006/main" w="19050">
            <a:solidFill>
              <a:srgbClr val="0E7C86"/>
            </a:solidFill>
            <a:prstDash val="solid"/>
          </a:ln>
          <a:effectLst xmlns:a="http://schemas.openxmlformats.org/drawingml/2006/main">
            <a:outerShdw blurRad="76200" dist="12700" dir="5400000" algn="bl" rotWithShape="0">
              <a:srgbClr val="9FB0C0">
                <a:alpha val="28000"/>
              </a:srgbClr>
            </a:outerShdw>
          </a:effectLst>
        </p:spPr>
      </p:sp>
      <p:sp>
        <p:nvSpPr>
          <p:cNvPr id="3" name="Text 1">
            <a:extLst xmlns:a="http://schemas.openxmlformats.org/drawingml/2006/main">
              <a:ext uri="{FF2B5EF4-FFF2-40B4-BE49-F238E27FC236}">
                <a16:creationId xmlns:a16="http://schemas.microsoft.com/office/drawing/2014/main" id="{BB5BF03E-E1F7-4CEA-B8C6-38D83EDB03EA}"/>
              </a:ext>
            </a:extLst>
          </p:cNvPr>
          <p:cNvSpPr>
            <a:spLocks xmlns:a="http://schemas.openxmlformats.org/drawingml/2006/main" noGrp="1"/>
          </p:cNvSpPr>
          <p:nvPr/>
        </p:nvSpPr>
        <p:spPr>
          <a:xfrm xmlns:a="http://schemas.openxmlformats.org/drawingml/2006/main">
            <a:off x="384048" y="320040"/>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A5F67"/>
                </a:solidFill>
                <a:latin typeface="Calibri"/>
                <a:ea typeface="Calibri"/>
                <a:cs typeface="Calibri"/>
              </a:rPr>
              <a:t>NEXORA</a:t>
            </a:r>
            <a:endParaRPr sz="1250"/>
          </a:p>
        </p:txBody>
      </p:sp>
      <p:sp>
        <p:nvSpPr>
          <p:cNvPr id="4" name="Text 2">
            <a:extLst xmlns:a="http://schemas.openxmlformats.org/drawingml/2006/main">
              <a:ext uri="{FF2B5EF4-FFF2-40B4-BE49-F238E27FC236}">
                <a16:creationId xmlns:a16="http://schemas.microsoft.com/office/drawing/2014/main" id="{D35AE9D8-4D34-41C7-AD1C-60F62009145E}"/>
              </a:ext>
            </a:extLst>
          </p:cNvPr>
          <p:cNvSpPr>
            <a:spLocks xmlns:a="http://schemas.openxmlformats.org/drawingml/2006/main" noGrp="1"/>
          </p:cNvSpPr>
          <p:nvPr/>
        </p:nvSpPr>
        <p:spPr>
          <a:xfrm xmlns:a="http://schemas.openxmlformats.org/drawingml/2006/main">
            <a:off x="2011680" y="201168"/>
            <a:ext cx="7863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1F4E79"/>
                </a:solidFill>
                <a:latin typeface="Cambria"/>
                <a:ea typeface="Cambria"/>
                <a:cs typeface="Cambria"/>
              </a:rPr>
              <a:t>TECHNICAL APPROACH</a:t>
            </a:r>
            <a:endParaRPr sz="2800"/>
          </a:p>
        </p:txBody>
      </p:sp>
      <p:pic>
        <p:nvPicPr>
          <p:cNvPr id="142" name="Image 0"/>
          <p:cNvPicPr>
            <a:picLocks xmlns:a="http://schemas.openxmlformats.org/drawingml/2006/main" noChangeAspect="1"/>
          </p:cNvPicPr>
          <p:nvPr/>
        </p:nvPicPr>
        <p:blipFill>
          <a:blip xmlns:r="http://schemas.openxmlformats.org/officeDocument/2006/relationships" xmlns:a="http://schemas.openxmlformats.org/drawingml/2006/main" r:embed="Rbb2c54bab4d6416c"/>
          <a:stretch xmlns:a="http://schemas.openxmlformats.org/drawingml/2006/main">
            <a:fillRect l="0" t="0" r="0" b="0"/>
          </a:stretch>
        </p:blipFill>
        <p:spPr>
          <a:xfrm xmlns:a="http://schemas.openxmlformats.org/drawingml/2006/main">
            <a:off x="10287000" y="164592"/>
            <a:ext cx="1554480" cy="731520"/>
          </a:xfrm>
          <a:prstGeom xmlns:a="http://schemas.openxmlformats.org/drawingml/2006/main" prst="rect">
            <a:avLst/>
          </a:prstGeom>
          <a:effectLst xmlns:a="http://schemas.openxmlformats.org/drawingml/2006/main">
            <a:outerShdw blurRad="76200" dist="12700" dir="5400000" algn="bl" rotWithShape="0">
              <a:srgbClr val="9FB0C0">
                <a:alpha val="28000"/>
              </a:srgbClr>
            </a:outerShdw>
          </a:effectLst>
        </p:spPr>
      </p:pic>
      <p:sp>
        <p:nvSpPr>
          <p:cNvPr id="7" name="Shape 4">
            <a:extLst xmlns:a="http://schemas.openxmlformats.org/drawingml/2006/main">
              <a:ext uri="{FF2B5EF4-FFF2-40B4-BE49-F238E27FC236}">
                <a16:creationId xmlns:a16="http://schemas.microsoft.com/office/drawing/2014/main" id="{F17DFBD7-5647-4708-8E81-C0ABBCD27F8F}"/>
              </a:ext>
            </a:extLst>
          </p:cNvPr>
          <p:cNvSpPr>
            <a:spLocks xmlns:a="http://schemas.openxmlformats.org/drawingml/2006/main" noGrp="1"/>
          </p:cNvSpPr>
          <p:nvPr/>
        </p:nvSpPr>
        <p:spPr>
          <a:xfrm xmlns:a="http://schemas.openxmlformats.org/drawingml/2006/main">
            <a:off x="0" y="6446520"/>
            <a:ext cx="12191695" cy="411480"/>
          </a:xfrm>
          <a:prstGeom xmlns:a="http://schemas.openxmlformats.org/drawingml/2006/main" prst="rect">
            <a:avLst/>
          </a:prstGeom>
          <a:solidFill xmlns:a="http://schemas.openxmlformats.org/drawingml/2006/main">
            <a:srgbClr val="0071C1"/>
          </a:solidFill>
        </p:spPr>
      </p:sp>
      <p:sp>
        <p:nvSpPr>
          <p:cNvPr id="9" name="Text 6">
            <a:extLst xmlns:a="http://schemas.openxmlformats.org/drawingml/2006/main">
              <a:ext uri="{FF2B5EF4-FFF2-40B4-BE49-F238E27FC236}">
                <a16:creationId xmlns:a16="http://schemas.microsoft.com/office/drawing/2014/main" id="{64C6C344-2278-47B0-A3D5-9F7B48D686AC}"/>
              </a:ext>
            </a:extLst>
          </p:cNvPr>
          <p:cNvSpPr>
            <a:spLocks xmlns:a="http://schemas.openxmlformats.org/drawingml/2006/main" noGrp="1"/>
          </p:cNvSpPr>
          <p:nvPr/>
        </p:nvSpPr>
        <p:spPr>
          <a:xfrm xmlns:a="http://schemas.openxmlformats.org/drawingml/2006/main">
            <a:off x="11338560" y="6537960"/>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3</a:t>
            </a:r>
            <a:endParaRPr sz="1250"/>
          </a:p>
        </p:txBody>
      </p:sp>
      <p:sp>
        <p:nvSpPr>
          <p:cNvPr id="92" name="rev-30">
            <a:extLst xmlns:a="http://schemas.openxmlformats.org/drawingml/2006/main">
              <a:ext uri="{FF2B5EF4-FFF2-40B4-BE49-F238E27FC236}">
                <a16:creationId xmlns:a16="http://schemas.microsoft.com/office/drawing/2014/main" id="{9FB2B01D-C42F-4F1B-92B4-31D51964C289}"/>
              </a:ext>
            </a:extLst>
          </p:cNvPr>
          <p:cNvSpPr>
            <a:spLocks xmlns:a="http://schemas.openxmlformats.org/drawingml/2006/main" noGrp="1"/>
          </p:cNvSpPr>
          <p:nvPr/>
        </p:nvSpPr>
        <p:spPr>
          <a:xfrm xmlns:a="http://schemas.openxmlformats.org/drawingml/2006/main">
            <a:off x="457200" y="9810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594463"/>
                </a:solidFill>
                <a:latin typeface="Calibri"/>
                <a:ea typeface="Calibri"/>
                <a:cs typeface="Calibri"/>
              </a:defRPr>
            </a:pPr>
            <a:r>
              <a:rPr sz="1500" b="1">
                <a:solidFill>
                  <a:srgbClr val="594463"/>
                </a:solidFill>
                <a:latin typeface="Calibri"/>
                <a:ea typeface="Calibri"/>
                <a:cs typeface="Calibri"/>
              </a:rPr>
              <a:t>Technologies and implementation approach</a:t>
            </a:r>
          </a:p>
        </p:txBody>
      </p:sp>
      <p:sp>
        <p:nvSpPr>
          <p:cNvPr id="93" name="rev-31">
            <a:extLst xmlns:a="http://schemas.openxmlformats.org/drawingml/2006/main">
              <a:ext uri="{FF2B5EF4-FFF2-40B4-BE49-F238E27FC236}">
                <a16:creationId xmlns:a16="http://schemas.microsoft.com/office/drawing/2014/main" id="{7B441A04-0760-4CF9-8F40-D4FE41CD1824}"/>
              </a:ext>
            </a:extLst>
          </p:cNvPr>
          <p:cNvSpPr>
            <a:spLocks xmlns:a="http://schemas.openxmlformats.org/drawingml/2006/main" noGrp="1"/>
          </p:cNvSpPr>
          <p:nvPr/>
        </p:nvSpPr>
        <p:spPr>
          <a:xfrm xmlns:a="http://schemas.openxmlformats.org/drawingml/2006/main">
            <a:off x="457200" y="132397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02B36"/>
                </a:solidFill>
                <a:latin typeface="Calibri"/>
                <a:ea typeface="Calibri"/>
                <a:cs typeface="Calibri"/>
              </a:defRPr>
            </a:pPr>
            <a:r>
              <a:rPr sz="2100" b="1">
                <a:solidFill>
                  <a:srgbClr val="202B36"/>
                </a:solidFill>
                <a:latin typeface="Calibri"/>
                <a:ea typeface="Calibri"/>
                <a:cs typeface="Calibri"/>
              </a:rPr>
              <a:t>One user-triggered step, with privacy before transmission</a:t>
            </a:r>
          </a:p>
        </p:txBody>
      </p:sp>
      <p:sp>
        <p:nvSpPr>
          <p:cNvPr id="94" name="rev-32">
            <a:extLst xmlns:a="http://schemas.openxmlformats.org/drawingml/2006/main">
              <a:ext uri="{FF2B5EF4-FFF2-40B4-BE49-F238E27FC236}">
                <a16:creationId xmlns:a16="http://schemas.microsoft.com/office/drawing/2014/main" id="{EB453FE5-518F-449F-ACC0-AF1BF4AB6C08}"/>
              </a:ext>
            </a:extLst>
          </p:cNvPr>
          <p:cNvSpPr>
            <a:spLocks xmlns:a="http://schemas.openxmlformats.org/drawingml/2006/main" noGrp="1"/>
          </p:cNvSpPr>
          <p:nvPr/>
        </p:nvSpPr>
        <p:spPr>
          <a:xfrm xmlns:a="http://schemas.openxmlformats.org/drawingml/2006/main">
            <a:off x="457200" y="1857375"/>
            <a:ext cx="7686675" cy="2990850"/>
          </a:xfrm>
          <a:prstGeom xmlns:a="http://schemas.openxmlformats.org/drawingml/2006/main" prst="rect">
            <a:avLst/>
          </a:prstGeom>
          <a:solidFill xmlns:a="http://schemas.openxmlformats.org/drawingml/2006/main">
            <a:srgbClr val="F1EDF3"/>
          </a:solidFill>
          <a:ln xmlns:a="http://schemas.openxmlformats.org/drawingml/2006/main" w="9525">
            <a:solidFill>
              <a:srgbClr val="F1EDF3"/>
            </a:solidFill>
          </a:ln>
        </p:spPr>
      </p:sp>
      <p:sp>
        <p:nvSpPr>
          <p:cNvPr id="95" name="rev-33">
            <a:extLst xmlns:a="http://schemas.openxmlformats.org/drawingml/2006/main">
              <a:ext uri="{FF2B5EF4-FFF2-40B4-BE49-F238E27FC236}">
                <a16:creationId xmlns:a16="http://schemas.microsoft.com/office/drawing/2014/main" id="{50815575-2640-497E-9472-1149C90EDEF5}"/>
              </a:ext>
            </a:extLst>
          </p:cNvPr>
          <p:cNvSpPr>
            <a:spLocks xmlns:a="http://schemas.openxmlformats.org/drawingml/2006/main" noGrp="1"/>
          </p:cNvSpPr>
          <p:nvPr/>
        </p:nvSpPr>
        <p:spPr>
          <a:xfrm xmlns:a="http://schemas.openxmlformats.org/drawingml/2006/main">
            <a:off x="638175" y="198120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594463"/>
                </a:solidFill>
                <a:latin typeface="Calibri"/>
                <a:ea typeface="Calibri"/>
                <a:cs typeface="Calibri"/>
              </a:defRPr>
            </a:pPr>
            <a:r>
              <a:rPr sz="1350" b="1">
                <a:solidFill>
                  <a:srgbClr val="594463"/>
                </a:solidFill>
                <a:latin typeface="Calibri"/>
                <a:ea typeface="Calibri"/>
                <a:cs typeface="Calibri"/>
              </a:rPr>
              <a:t>CHROME EXTENSION</a:t>
            </a:r>
          </a:p>
        </p:txBody>
      </p:sp>
      <p:sp>
        <p:nvSpPr>
          <p:cNvPr id="96" name="rev-34">
            <a:extLst xmlns:a="http://schemas.openxmlformats.org/drawingml/2006/main">
              <a:ext uri="{FF2B5EF4-FFF2-40B4-BE49-F238E27FC236}">
                <a16:creationId xmlns:a16="http://schemas.microsoft.com/office/drawing/2014/main" id="{03431F45-DE0A-43CA-B75C-9B2F916801F7}"/>
              </a:ext>
            </a:extLst>
          </p:cNvPr>
          <p:cNvSpPr>
            <a:spLocks xmlns:a="http://schemas.openxmlformats.org/drawingml/2006/main" noGrp="1"/>
          </p:cNvSpPr>
          <p:nvPr/>
        </p:nvSpPr>
        <p:spPr>
          <a:xfrm xmlns:a="http://schemas.openxmlformats.org/drawingml/2006/main">
            <a:off x="9258300" y="1981200"/>
            <a:ext cx="247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594463"/>
                </a:solidFill>
                <a:latin typeface="Calibri"/>
                <a:ea typeface="Calibri"/>
                <a:cs typeface="Calibri"/>
              </a:defRPr>
            </a:pPr>
            <a:r>
              <a:rPr sz="1275" b="1">
                <a:solidFill>
                  <a:srgbClr val="594463"/>
                </a:solidFill>
                <a:latin typeface="Calibri"/>
                <a:ea typeface="Calibri"/>
                <a:cs typeface="Calibri"/>
              </a:rPr>
              <a:t>LOCAL FASTAPI SERVER</a:t>
            </a:r>
          </a:p>
        </p:txBody>
      </p:sp>
      <p:sp>
        <p:nvSpPr>
          <p:cNvPr id="97" name="rev-35">
            <a:extLst xmlns:a="http://schemas.openxmlformats.org/drawingml/2006/main">
              <a:ext uri="{FF2B5EF4-FFF2-40B4-BE49-F238E27FC236}">
                <a16:creationId xmlns:a16="http://schemas.microsoft.com/office/drawing/2014/main" id="{F0EC485B-1445-497F-BC5B-109283883D12}"/>
              </a:ext>
            </a:extLst>
          </p:cNvPr>
          <p:cNvSpPr>
            <a:spLocks xmlns:a="http://schemas.openxmlformats.org/drawingml/2006/main" noGrp="1"/>
          </p:cNvSpPr>
          <p:nvPr/>
        </p:nvSpPr>
        <p:spPr>
          <a:xfrm xmlns:a="http://schemas.openxmlformats.org/drawingml/2006/main">
            <a:off x="638175" y="2400300"/>
            <a:ext cx="20383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594463"/>
            </a:solidFill>
          </a:ln>
        </p:spPr>
      </p:sp>
      <p:sp>
        <p:nvSpPr>
          <p:cNvPr id="98" name="rev-36">
            <a:extLst xmlns:a="http://schemas.openxmlformats.org/drawingml/2006/main">
              <a:ext uri="{FF2B5EF4-FFF2-40B4-BE49-F238E27FC236}">
                <a16:creationId xmlns:a16="http://schemas.microsoft.com/office/drawing/2014/main" id="{501CBCFE-310C-4BC6-B622-34822A4F1EF5}"/>
              </a:ext>
            </a:extLst>
          </p:cNvPr>
          <p:cNvSpPr>
            <a:spLocks xmlns:a="http://schemas.openxmlformats.org/drawingml/2006/main" noGrp="1"/>
          </p:cNvSpPr>
          <p:nvPr/>
        </p:nvSpPr>
        <p:spPr>
          <a:xfrm xmlns:a="http://schemas.openxmlformats.org/drawingml/2006/main">
            <a:off x="790575" y="2524125"/>
            <a:ext cx="1733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594463"/>
                </a:solidFill>
                <a:latin typeface="Calibri"/>
                <a:ea typeface="Calibri"/>
                <a:cs typeface="Calibri"/>
              </a:defRPr>
            </a:pPr>
            <a:r>
              <a:rPr sz="1575" b="1">
                <a:solidFill>
                  <a:srgbClr val="594463"/>
                </a:solidFill>
                <a:latin typeface="Calibri"/>
                <a:ea typeface="Calibri"/>
                <a:cs typeface="Calibri"/>
              </a:rPr>
              <a:t>1  Observe</a:t>
            </a:r>
          </a:p>
        </p:txBody>
      </p:sp>
      <p:sp>
        <p:nvSpPr>
          <p:cNvPr id="99" name="rev-37">
            <a:extLst xmlns:a="http://schemas.openxmlformats.org/drawingml/2006/main">
              <a:ext uri="{FF2B5EF4-FFF2-40B4-BE49-F238E27FC236}">
                <a16:creationId xmlns:a16="http://schemas.microsoft.com/office/drawing/2014/main" id="{2151AC68-7DD9-45E6-91D8-7884349B96E6}"/>
              </a:ext>
            </a:extLst>
          </p:cNvPr>
          <p:cNvSpPr>
            <a:spLocks xmlns:a="http://schemas.openxmlformats.org/drawingml/2006/main" noGrp="1"/>
          </p:cNvSpPr>
          <p:nvPr/>
        </p:nvSpPr>
        <p:spPr>
          <a:xfrm xmlns:a="http://schemas.openxmlformats.org/drawingml/2006/main">
            <a:off x="790575" y="2857500"/>
            <a:ext cx="1733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Screenshot + DOM</a:t>
            </a:r>
          </a:p>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Role, label, position</a:t>
            </a:r>
          </a:p>
        </p:txBody>
      </p:sp>
      <p:sp>
        <p:nvSpPr>
          <p:cNvPr id="100" name="rev-38">
            <a:extLst xmlns:a="http://schemas.openxmlformats.org/drawingml/2006/main">
              <a:ext uri="{FF2B5EF4-FFF2-40B4-BE49-F238E27FC236}">
                <a16:creationId xmlns:a16="http://schemas.microsoft.com/office/drawing/2014/main" id="{5C205B9A-DA79-45F3-B4B1-2812EBEDB805}"/>
              </a:ext>
            </a:extLst>
          </p:cNvPr>
          <p:cNvSpPr>
            <a:spLocks xmlns:a="http://schemas.openxmlformats.org/drawingml/2006/main" noGrp="1"/>
          </p:cNvSpPr>
          <p:nvPr/>
        </p:nvSpPr>
        <p:spPr>
          <a:xfrm xmlns:a="http://schemas.openxmlformats.org/drawingml/2006/main">
            <a:off x="2962275" y="2400300"/>
            <a:ext cx="22098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594463"/>
            </a:solidFill>
          </a:ln>
        </p:spPr>
      </p:sp>
      <p:sp>
        <p:nvSpPr>
          <p:cNvPr id="101" name="rev-39">
            <a:extLst xmlns:a="http://schemas.openxmlformats.org/drawingml/2006/main">
              <a:ext uri="{FF2B5EF4-FFF2-40B4-BE49-F238E27FC236}">
                <a16:creationId xmlns:a16="http://schemas.microsoft.com/office/drawing/2014/main" id="{85D904F5-6424-440C-B4D9-637C24D7B759}"/>
              </a:ext>
            </a:extLst>
          </p:cNvPr>
          <p:cNvSpPr>
            <a:spLocks xmlns:a="http://schemas.openxmlformats.org/drawingml/2006/main" noGrp="1"/>
          </p:cNvSpPr>
          <p:nvPr/>
        </p:nvSpPr>
        <p:spPr>
          <a:xfrm xmlns:a="http://schemas.openxmlformats.org/drawingml/2006/main">
            <a:off x="3114675" y="2524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594463"/>
                </a:solidFill>
                <a:latin typeface="Calibri"/>
                <a:ea typeface="Calibri"/>
                <a:cs typeface="Calibri"/>
              </a:defRPr>
            </a:pPr>
            <a:r>
              <a:rPr sz="1575" b="1">
                <a:solidFill>
                  <a:srgbClr val="594463"/>
                </a:solidFill>
                <a:latin typeface="Calibri"/>
                <a:ea typeface="Calibri"/>
                <a:cs typeface="Calibri"/>
              </a:rPr>
              <a:t>2  Redact</a:t>
            </a:r>
          </a:p>
        </p:txBody>
      </p:sp>
      <p:sp>
        <p:nvSpPr>
          <p:cNvPr id="102" name="rev-40">
            <a:extLst xmlns:a="http://schemas.openxmlformats.org/drawingml/2006/main">
              <a:ext uri="{FF2B5EF4-FFF2-40B4-BE49-F238E27FC236}">
                <a16:creationId xmlns:a16="http://schemas.microsoft.com/office/drawing/2014/main" id="{25CADEE2-7995-4A9E-8843-B593BB5B0AC7}"/>
              </a:ext>
            </a:extLst>
          </p:cNvPr>
          <p:cNvSpPr>
            <a:spLocks xmlns:a="http://schemas.openxmlformats.org/drawingml/2006/main" noGrp="1"/>
          </p:cNvSpPr>
          <p:nvPr/>
        </p:nvSpPr>
        <p:spPr>
          <a:xfrm xmlns:a="http://schemas.openxmlformats.org/drawingml/2006/main">
            <a:off x="3114675" y="2857500"/>
            <a:ext cx="190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Mask recognized PII</a:t>
            </a:r>
          </a:p>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Filter sensitive controls</a:t>
            </a:r>
          </a:p>
        </p:txBody>
      </p:sp>
      <p:sp>
        <p:nvSpPr>
          <p:cNvPr id="103" name="rev-41">
            <a:extLst xmlns:a="http://schemas.openxmlformats.org/drawingml/2006/main">
              <a:ext uri="{FF2B5EF4-FFF2-40B4-BE49-F238E27FC236}">
                <a16:creationId xmlns:a16="http://schemas.microsoft.com/office/drawing/2014/main" id="{12015DE3-A5DA-44DC-809B-8824CDB95322}"/>
              </a:ext>
            </a:extLst>
          </p:cNvPr>
          <p:cNvSpPr>
            <a:spLocks xmlns:a="http://schemas.openxmlformats.org/drawingml/2006/main" noGrp="1"/>
          </p:cNvSpPr>
          <p:nvPr/>
        </p:nvSpPr>
        <p:spPr>
          <a:xfrm xmlns:a="http://schemas.openxmlformats.org/drawingml/2006/main">
            <a:off x="5457825" y="2400300"/>
            <a:ext cx="2486025"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594463"/>
            </a:solidFill>
          </a:ln>
        </p:spPr>
      </p:sp>
      <p:sp>
        <p:nvSpPr>
          <p:cNvPr id="104" name="rev-42">
            <a:extLst xmlns:a="http://schemas.openxmlformats.org/drawingml/2006/main">
              <a:ext uri="{FF2B5EF4-FFF2-40B4-BE49-F238E27FC236}">
                <a16:creationId xmlns:a16="http://schemas.microsoft.com/office/drawing/2014/main" id="{DA493822-AA45-4054-9E04-7D9EDB291375}"/>
              </a:ext>
            </a:extLst>
          </p:cNvPr>
          <p:cNvSpPr>
            <a:spLocks xmlns:a="http://schemas.openxmlformats.org/drawingml/2006/main" noGrp="1"/>
          </p:cNvSpPr>
          <p:nvPr/>
        </p:nvSpPr>
        <p:spPr>
          <a:xfrm xmlns:a="http://schemas.openxmlformats.org/drawingml/2006/main">
            <a:off x="5610225" y="2524125"/>
            <a:ext cx="2181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594463"/>
                </a:solidFill>
                <a:latin typeface="Calibri"/>
                <a:ea typeface="Calibri"/>
                <a:cs typeface="Calibri"/>
              </a:defRPr>
            </a:pPr>
            <a:r>
              <a:rPr sz="1575" b="1">
                <a:solidFill>
                  <a:srgbClr val="594463"/>
                </a:solidFill>
                <a:latin typeface="Calibri"/>
                <a:ea typeface="Calibri"/>
                <a:cs typeface="Calibri"/>
              </a:rPr>
              <a:t>3  Minimize</a:t>
            </a:r>
          </a:p>
        </p:txBody>
      </p:sp>
      <p:sp>
        <p:nvSpPr>
          <p:cNvPr id="105" name="rev-43">
            <a:extLst xmlns:a="http://schemas.openxmlformats.org/drawingml/2006/main">
              <a:ext uri="{FF2B5EF4-FFF2-40B4-BE49-F238E27FC236}">
                <a16:creationId xmlns:a16="http://schemas.microsoft.com/office/drawing/2014/main" id="{F4393019-3704-4F8D-96D7-DB516A6955C8}"/>
              </a:ext>
            </a:extLst>
          </p:cNvPr>
          <p:cNvSpPr>
            <a:spLocks xmlns:a="http://schemas.openxmlformats.org/drawingml/2006/main" noGrp="1"/>
          </p:cNvSpPr>
          <p:nvPr/>
        </p:nvSpPr>
        <p:spPr>
          <a:xfrm xmlns:a="http://schemas.openxmlformats.org/drawingml/2006/main">
            <a:off x="5610225" y="2857500"/>
            <a:ext cx="2181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Crop by task</a:t>
            </a:r>
          </a:p>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Tokenize PII in goal</a:t>
            </a:r>
          </a:p>
        </p:txBody>
      </p:sp>
      <p:sp>
        <p:nvSpPr>
          <p:cNvPr id="106" name="rev-44">
            <a:extLst xmlns:a="http://schemas.openxmlformats.org/drawingml/2006/main">
              <a:ext uri="{FF2B5EF4-FFF2-40B4-BE49-F238E27FC236}">
                <a16:creationId xmlns:a16="http://schemas.microsoft.com/office/drawing/2014/main" id="{0B7F0D81-8459-4E91-B337-89DEA8D4292E}"/>
              </a:ext>
            </a:extLst>
          </p:cNvPr>
          <p:cNvSpPr>
            <a:spLocks xmlns:a="http://schemas.openxmlformats.org/drawingml/2006/main" noGrp="1"/>
          </p:cNvSpPr>
          <p:nvPr/>
        </p:nvSpPr>
        <p:spPr>
          <a:xfrm xmlns:a="http://schemas.openxmlformats.org/drawingml/2006/main">
            <a:off x="9467850" y="2400300"/>
            <a:ext cx="2266950" cy="914400"/>
          </a:xfrm>
          <a:prstGeom xmlns:a="http://schemas.openxmlformats.org/drawingml/2006/main" prst="rect">
            <a:avLst/>
          </a:prstGeom>
          <a:solidFill xmlns:a="http://schemas.openxmlformats.org/drawingml/2006/main">
            <a:srgbClr val="594463"/>
          </a:solidFill>
          <a:ln xmlns:a="http://schemas.openxmlformats.org/drawingml/2006/main" w="9525">
            <a:solidFill>
              <a:srgbClr val="594463"/>
            </a:solidFill>
          </a:ln>
        </p:spPr>
      </p:sp>
      <p:sp>
        <p:nvSpPr>
          <p:cNvPr id="107" name="rev-45">
            <a:extLst xmlns:a="http://schemas.openxmlformats.org/drawingml/2006/main">
              <a:ext uri="{FF2B5EF4-FFF2-40B4-BE49-F238E27FC236}">
                <a16:creationId xmlns:a16="http://schemas.microsoft.com/office/drawing/2014/main" id="{880974FC-43AF-41E9-BB13-B7366486F493}"/>
              </a:ext>
            </a:extLst>
          </p:cNvPr>
          <p:cNvSpPr>
            <a:spLocks xmlns:a="http://schemas.openxmlformats.org/drawingml/2006/main" noGrp="1"/>
          </p:cNvSpPr>
          <p:nvPr/>
        </p:nvSpPr>
        <p:spPr>
          <a:xfrm xmlns:a="http://schemas.openxmlformats.org/drawingml/2006/main">
            <a:off x="9620250" y="2524125"/>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FFFFFF"/>
                </a:solidFill>
                <a:latin typeface="Calibri"/>
                <a:ea typeface="Calibri"/>
                <a:cs typeface="Calibri"/>
              </a:defRPr>
            </a:pPr>
            <a:r>
              <a:rPr sz="1575" b="1">
                <a:solidFill>
                  <a:srgbClr val="FFFFFF"/>
                </a:solidFill>
                <a:latin typeface="Calibri"/>
                <a:ea typeface="Calibri"/>
                <a:cs typeface="Calibri"/>
              </a:rPr>
              <a:t>4  Plan</a:t>
            </a:r>
          </a:p>
        </p:txBody>
      </p:sp>
      <p:sp>
        <p:nvSpPr>
          <p:cNvPr id="108" name="rev-46">
            <a:extLst xmlns:a="http://schemas.openxmlformats.org/drawingml/2006/main">
              <a:ext uri="{FF2B5EF4-FFF2-40B4-BE49-F238E27FC236}">
                <a16:creationId xmlns:a16="http://schemas.microsoft.com/office/drawing/2014/main" id="{1787E023-205B-426E-844A-D2C91A3CB69C}"/>
              </a:ext>
            </a:extLst>
          </p:cNvPr>
          <p:cNvSpPr>
            <a:spLocks xmlns:a="http://schemas.openxmlformats.org/drawingml/2006/main" noGrp="1"/>
          </p:cNvSpPr>
          <p:nvPr/>
        </p:nvSpPr>
        <p:spPr>
          <a:xfrm xmlns:a="http://schemas.openxmlformats.org/drawingml/2006/main">
            <a:off x="9620250" y="2857500"/>
            <a:ext cx="196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FFFFFF"/>
                </a:solidFill>
                <a:latin typeface="Calibri"/>
                <a:ea typeface="Calibri"/>
                <a:cs typeface="Calibri"/>
              </a:defRPr>
            </a:pPr>
            <a:r>
              <a:rPr sz="1350">
                <a:solidFill>
                  <a:srgbClr val="FFFFFF"/>
                </a:solidFill>
                <a:latin typeface="Calibri"/>
                <a:ea typeface="Calibri"/>
                <a:cs typeface="Calibri"/>
              </a:rPr>
              <a:t>Rules select a control</a:t>
            </a:r>
          </a:p>
          <a:p xmlns:a="http://schemas.openxmlformats.org/drawingml/2006/main">
            <a:pPr>
              <a:defRPr sz="1350">
                <a:solidFill>
                  <a:srgbClr val="FFFFFF"/>
                </a:solidFill>
                <a:latin typeface="Calibri"/>
                <a:ea typeface="Calibri"/>
                <a:cs typeface="Calibri"/>
              </a:defRPr>
            </a:pPr>
            <a:r>
              <a:rPr sz="1350">
                <a:solidFill>
                  <a:srgbClr val="FFFFFF"/>
                </a:solidFill>
                <a:latin typeface="Calibri"/>
                <a:ea typeface="Calibri"/>
                <a:cs typeface="Calibri"/>
              </a:rPr>
              <a:t>Return a JSON action</a:t>
            </a:r>
          </a:p>
        </p:txBody>
      </p:sp>
      <p:cxnSp>
        <p:nvCxnSpPr>
          <p:cNvPr id="162" name=""/>
          <p:cNvCxnSpPr>
            <a:stCxn xmlns:a="http://schemas.openxmlformats.org/drawingml/2006/main" id="97" idx="3"/>
            <a:endCxn xmlns:a="http://schemas.openxmlformats.org/drawingml/2006/main" id="100" idx="1"/>
          </p:cNvCxnSpPr>
          <p:nvPr/>
        </p:nvCxnSpPr>
        <p:spPr>
          <a:xfrm xmlns:a="http://schemas.openxmlformats.org/drawingml/2006/main">
            <a:off x="2676525" y="2857500"/>
            <a:ext cx="285750" cy="0"/>
          </a:xfrm>
          <a:prstGeom xmlns:a="http://schemas.openxmlformats.org/drawingml/2006/main" prst="straightConnector1">
            <a:avLst/>
          </a:prstGeom>
          <a:ln xmlns:a="http://schemas.openxmlformats.org/drawingml/2006/main" w="19050">
            <a:solidFill>
              <a:srgbClr val="594463"/>
            </a:solidFill>
            <a:tailEnd type="triangle" w="sm" len="sm"/>
          </a:ln>
        </p:spPr>
      </p:cxnSp>
      <p:cxnSp>
        <p:nvCxnSpPr>
          <p:cNvPr id="163" name=""/>
          <p:cNvCxnSpPr>
            <a:stCxn xmlns:a="http://schemas.openxmlformats.org/drawingml/2006/main" id="100" idx="3"/>
            <a:endCxn xmlns:a="http://schemas.openxmlformats.org/drawingml/2006/main" id="103" idx="1"/>
          </p:cNvCxnSpPr>
          <p:nvPr/>
        </p:nvCxnSpPr>
        <p:spPr>
          <a:xfrm xmlns:a="http://schemas.openxmlformats.org/drawingml/2006/main">
            <a:off x="5172075" y="2857500"/>
            <a:ext cx="285750" cy="0"/>
          </a:xfrm>
          <a:prstGeom xmlns:a="http://schemas.openxmlformats.org/drawingml/2006/main" prst="straightConnector1">
            <a:avLst/>
          </a:prstGeom>
          <a:ln xmlns:a="http://schemas.openxmlformats.org/drawingml/2006/main" w="19050">
            <a:solidFill>
              <a:srgbClr val="594463"/>
            </a:solidFill>
            <a:tailEnd type="triangle" w="sm" len="sm"/>
          </a:ln>
        </p:spPr>
      </p:cxnSp>
      <p:sp>
        <p:nvSpPr>
          <p:cNvPr id="111" name="path-47">
            <a:extLst xmlns:a="http://schemas.openxmlformats.org/drawingml/2006/main">
              <a:ext uri="{FF2B5EF4-FFF2-40B4-BE49-F238E27FC236}">
                <a16:creationId xmlns:a16="http://schemas.microsoft.com/office/drawing/2014/main" id="{DE16B43E-1B2F-44CD-97DC-18B7B9716522}"/>
              </a:ext>
            </a:extLst>
          </p:cNvPr>
          <p:cNvSpPr>
            <a:spLocks xmlns:a="http://schemas.openxmlformats.org/drawingml/2006/main" noGrp="1"/>
          </p:cNvSpPr>
          <p:nvPr/>
        </p:nvSpPr>
        <p:spPr>
          <a:xfrm xmlns:a="http://schemas.openxmlformats.org/drawingml/2006/main">
            <a:off x="8791575" y="2143125"/>
            <a:ext cx="0" cy="2619375"/>
          </a:xfrm>
          <a:prstGeom xmlns:a="http://schemas.openxmlformats.org/drawingml/2006/main" prst="line">
            <a:avLst/>
          </a:prstGeom>
          <a:noFill xmlns:a="http://schemas.openxmlformats.org/drawingml/2006/main"/>
          <a:ln xmlns:a="http://schemas.openxmlformats.org/drawingml/2006/main" w="14288">
            <a:solidFill>
              <a:srgbClr val="CBD3DA"/>
            </a:solidFill>
            <a:prstDash val="dash"/>
          </a:ln>
        </p:spPr>
      </p:sp>
      <p:sp>
        <p:nvSpPr>
          <p:cNvPr id="112" name="rev-48">
            <a:extLst xmlns:a="http://schemas.openxmlformats.org/drawingml/2006/main">
              <a:ext uri="{FF2B5EF4-FFF2-40B4-BE49-F238E27FC236}">
                <a16:creationId xmlns:a16="http://schemas.microsoft.com/office/drawing/2014/main" id="{E93BA72E-7A44-43A2-88E8-00970CA08485}"/>
              </a:ext>
            </a:extLst>
          </p:cNvPr>
          <p:cNvSpPr>
            <a:spLocks xmlns:a="http://schemas.openxmlformats.org/drawingml/2006/main" noGrp="1"/>
          </p:cNvSpPr>
          <p:nvPr/>
        </p:nvSpPr>
        <p:spPr>
          <a:xfrm xmlns:a="http://schemas.openxmlformats.org/drawingml/2006/main">
            <a:off x="8277225" y="1781175"/>
            <a:ext cx="1009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a:solidFill>
                  <a:srgbClr val="53616D"/>
                </a:solidFill>
                <a:latin typeface="Calibri"/>
                <a:ea typeface="Calibri"/>
                <a:cs typeface="Calibri"/>
              </a:defRPr>
            </a:pPr>
            <a:r>
              <a:rPr sz="975" b="1">
                <a:solidFill>
                  <a:srgbClr val="53616D"/>
                </a:solidFill>
                <a:latin typeface="Calibri"/>
                <a:ea typeface="Calibri"/>
                <a:cs typeface="Calibri"/>
              </a:rPr>
              <a:t>REQUEST</a:t>
            </a:r>
          </a:p>
          <a:p xmlns:a="http://schemas.openxmlformats.org/drawingml/2006/main">
            <a:pPr algn="ctr">
              <a:defRPr sz="975" b="1">
                <a:solidFill>
                  <a:srgbClr val="53616D"/>
                </a:solidFill>
                <a:latin typeface="Calibri"/>
                <a:ea typeface="Calibri"/>
                <a:cs typeface="Calibri"/>
              </a:defRPr>
            </a:pPr>
            <a:r>
              <a:rPr sz="975" b="1">
                <a:solidFill>
                  <a:srgbClr val="53616D"/>
                </a:solidFill>
                <a:latin typeface="Calibri"/>
                <a:ea typeface="Calibri"/>
                <a:cs typeface="Calibri"/>
              </a:rPr>
              <a:t>BOUNDARY</a:t>
            </a:r>
          </a:p>
        </p:txBody>
      </p:sp>
      <p:cxnSp>
        <p:nvCxnSpPr>
          <p:cNvPr id="166" name=""/>
          <p:cNvCxnSpPr>
            <a:stCxn xmlns:a="http://schemas.openxmlformats.org/drawingml/2006/main" id="103" idx="3"/>
            <a:endCxn xmlns:a="http://schemas.openxmlformats.org/drawingml/2006/main" id="106" idx="1"/>
          </p:cNvCxnSpPr>
          <p:nvPr/>
        </p:nvCxnSpPr>
        <p:spPr>
          <a:xfrm xmlns:a="http://schemas.openxmlformats.org/drawingml/2006/main">
            <a:off x="7943850" y="2857500"/>
            <a:ext cx="1524000" cy="0"/>
          </a:xfrm>
          <a:prstGeom xmlns:a="http://schemas.openxmlformats.org/drawingml/2006/main" prst="straightConnector1">
            <a:avLst/>
          </a:prstGeom>
          <a:ln xmlns:a="http://schemas.openxmlformats.org/drawingml/2006/main" w="19050">
            <a:solidFill>
              <a:srgbClr val="594463"/>
            </a:solidFill>
            <a:tailEnd type="triangle" w="sm" len="sm"/>
          </a:ln>
        </p:spPr>
      </p:cxnSp>
      <p:sp>
        <p:nvSpPr>
          <p:cNvPr id="114" name="rev-49">
            <a:extLst xmlns:a="http://schemas.openxmlformats.org/drawingml/2006/main">
              <a:ext uri="{FF2B5EF4-FFF2-40B4-BE49-F238E27FC236}">
                <a16:creationId xmlns:a16="http://schemas.microsoft.com/office/drawing/2014/main" id="{944EC878-1579-4441-89A7-DCFB999D1FA1}"/>
              </a:ext>
            </a:extLst>
          </p:cNvPr>
          <p:cNvSpPr>
            <a:spLocks xmlns:a="http://schemas.openxmlformats.org/drawingml/2006/main" noGrp="1"/>
          </p:cNvSpPr>
          <p:nvPr/>
        </p:nvSpPr>
        <p:spPr>
          <a:xfrm xmlns:a="http://schemas.openxmlformats.org/drawingml/2006/main">
            <a:off x="8096250" y="2333625"/>
            <a:ext cx="133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a:solidFill>
                  <a:srgbClr val="594463"/>
                </a:solidFill>
                <a:latin typeface="Calibri"/>
                <a:ea typeface="Calibri"/>
                <a:cs typeface="Calibri"/>
              </a:defRPr>
            </a:pPr>
            <a:r>
              <a:rPr sz="1200">
                <a:solidFill>
                  <a:srgbClr val="594463"/>
                </a:solidFill>
                <a:latin typeface="Calibri"/>
                <a:ea typeface="Calibri"/>
                <a:cs typeface="Calibri"/>
              </a:rPr>
              <a:t>Filtered PNG</a:t>
            </a:r>
          </a:p>
          <a:p xmlns:a="http://schemas.openxmlformats.org/drawingml/2006/main">
            <a:pPr algn="ctr">
              <a:defRPr sz="1200">
                <a:solidFill>
                  <a:srgbClr val="594463"/>
                </a:solidFill>
                <a:latin typeface="Calibri"/>
                <a:ea typeface="Calibri"/>
                <a:cs typeface="Calibri"/>
              </a:defRPr>
            </a:pPr>
            <a:r>
              <a:rPr sz="1200">
                <a:solidFill>
                  <a:srgbClr val="594463"/>
                </a:solidFill>
                <a:latin typeface="Calibri"/>
                <a:ea typeface="Calibri"/>
                <a:cs typeface="Calibri"/>
              </a:rPr>
              <a:t>+ metadata</a:t>
            </a:r>
          </a:p>
        </p:txBody>
      </p:sp>
      <p:sp>
        <p:nvSpPr>
          <p:cNvPr id="115" name="local-action-gate">
            <a:extLst xmlns:a="http://schemas.openxmlformats.org/drawingml/2006/main">
              <a:ext uri="{FF2B5EF4-FFF2-40B4-BE49-F238E27FC236}">
                <a16:creationId xmlns:a16="http://schemas.microsoft.com/office/drawing/2014/main" id="{348E2863-AFF6-40D6-89B8-965710379C55}"/>
              </a:ext>
            </a:extLst>
          </p:cNvPr>
          <p:cNvSpPr>
            <a:spLocks xmlns:a="http://schemas.openxmlformats.org/drawingml/2006/main" noGrp="1"/>
          </p:cNvSpPr>
          <p:nvPr/>
        </p:nvSpPr>
        <p:spPr>
          <a:xfrm xmlns:a="http://schemas.openxmlformats.org/drawingml/2006/main">
            <a:off x="6067425" y="3562350"/>
            <a:ext cx="1876425" cy="990600"/>
          </a:xfrm>
          <a:prstGeom xmlns:a="http://schemas.openxmlformats.org/drawingml/2006/main" prst="diamond">
            <a:avLst/>
          </a:prstGeom>
          <a:solidFill xmlns:a="http://schemas.openxmlformats.org/drawingml/2006/main">
            <a:srgbClr val="FFFFFF"/>
          </a:solidFill>
          <a:ln xmlns:a="http://schemas.openxmlformats.org/drawingml/2006/main" w="14288">
            <a:solidFill>
              <a:srgbClr val="594463"/>
            </a:solidFill>
          </a:ln>
        </p:spPr>
      </p:sp>
      <p:sp>
        <p:nvSpPr>
          <p:cNvPr id="116" name="rev-50">
            <a:extLst xmlns:a="http://schemas.openxmlformats.org/drawingml/2006/main">
              <a:ext uri="{FF2B5EF4-FFF2-40B4-BE49-F238E27FC236}">
                <a16:creationId xmlns:a16="http://schemas.microsoft.com/office/drawing/2014/main" id="{D89AEC68-2EB8-4AD8-9AA1-2467E62AE135}"/>
              </a:ext>
            </a:extLst>
          </p:cNvPr>
          <p:cNvSpPr>
            <a:spLocks xmlns:a="http://schemas.openxmlformats.org/drawingml/2006/main" noGrp="1"/>
          </p:cNvSpPr>
          <p:nvPr/>
        </p:nvSpPr>
        <p:spPr>
          <a:xfrm xmlns:a="http://schemas.openxmlformats.org/drawingml/2006/main">
            <a:off x="6391275" y="38100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a:solidFill>
                  <a:srgbClr val="594463"/>
                </a:solidFill>
                <a:latin typeface="Calibri"/>
                <a:ea typeface="Calibri"/>
                <a:cs typeface="Calibri"/>
              </a:defRPr>
            </a:pPr>
            <a:r>
              <a:rPr sz="1575" b="1">
                <a:solidFill>
                  <a:srgbClr val="594463"/>
                </a:solidFill>
                <a:latin typeface="Calibri"/>
                <a:ea typeface="Calibri"/>
                <a:cs typeface="Calibri"/>
              </a:rPr>
              <a:t>5  Gate</a:t>
            </a:r>
          </a:p>
        </p:txBody>
      </p:sp>
      <p:sp>
        <p:nvSpPr>
          <p:cNvPr id="117" name="rev-51">
            <a:extLst xmlns:a="http://schemas.openxmlformats.org/drawingml/2006/main">
              <a:ext uri="{FF2B5EF4-FFF2-40B4-BE49-F238E27FC236}">
                <a16:creationId xmlns:a16="http://schemas.microsoft.com/office/drawing/2014/main" id="{83EDE391-366B-44BC-8DF6-7F5542E16057}"/>
              </a:ext>
            </a:extLst>
          </p:cNvPr>
          <p:cNvSpPr>
            <a:spLocks xmlns:a="http://schemas.openxmlformats.org/drawingml/2006/main" noGrp="1"/>
          </p:cNvSpPr>
          <p:nvPr/>
        </p:nvSpPr>
        <p:spPr>
          <a:xfrm xmlns:a="http://schemas.openxmlformats.org/drawingml/2006/main">
            <a:off x="6305550" y="4086225"/>
            <a:ext cx="14192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a:solidFill>
                  <a:srgbClr val="202B36"/>
                </a:solidFill>
                <a:latin typeface="Calibri"/>
                <a:ea typeface="Calibri"/>
                <a:cs typeface="Calibri"/>
              </a:defRPr>
            </a:pPr>
            <a:r>
              <a:rPr sz="1200">
                <a:solidFill>
                  <a:srgbClr val="202B36"/>
                </a:solidFill>
                <a:latin typeface="Calibri"/>
                <a:ea typeface="Calibri"/>
                <a:cs typeface="Calibri"/>
              </a:rPr>
              <a:t>Target + origin</a:t>
            </a:r>
          </a:p>
        </p:txBody>
      </p:sp>
      <p:sp>
        <p:nvSpPr>
          <p:cNvPr id="118" name="rev-52">
            <a:extLst xmlns:a="http://schemas.openxmlformats.org/drawingml/2006/main">
              <a:ext uri="{FF2B5EF4-FFF2-40B4-BE49-F238E27FC236}">
                <a16:creationId xmlns:a16="http://schemas.microsoft.com/office/drawing/2014/main" id="{D09B3CD3-25F8-427E-AF72-64C6F0F0EFD0}"/>
              </a:ext>
            </a:extLst>
          </p:cNvPr>
          <p:cNvSpPr>
            <a:spLocks xmlns:a="http://schemas.openxmlformats.org/drawingml/2006/main" noGrp="1"/>
          </p:cNvSpPr>
          <p:nvPr/>
        </p:nvSpPr>
        <p:spPr>
          <a:xfrm xmlns:a="http://schemas.openxmlformats.org/drawingml/2006/main">
            <a:off x="3448050" y="3600450"/>
            <a:ext cx="2085975" cy="923925"/>
          </a:xfrm>
          <a:prstGeom xmlns:a="http://schemas.openxmlformats.org/drawingml/2006/main" prst="rect">
            <a:avLst/>
          </a:prstGeom>
          <a:solidFill xmlns:a="http://schemas.openxmlformats.org/drawingml/2006/main">
            <a:srgbClr val="FFFFFF"/>
          </a:solidFill>
          <a:ln xmlns:a="http://schemas.openxmlformats.org/drawingml/2006/main" w="9525">
            <a:solidFill>
              <a:srgbClr val="594463"/>
            </a:solidFill>
          </a:ln>
        </p:spPr>
      </p:sp>
      <p:sp>
        <p:nvSpPr>
          <p:cNvPr id="119" name="rev-53">
            <a:extLst xmlns:a="http://schemas.openxmlformats.org/drawingml/2006/main">
              <a:ext uri="{FF2B5EF4-FFF2-40B4-BE49-F238E27FC236}">
                <a16:creationId xmlns:a16="http://schemas.microsoft.com/office/drawing/2014/main" id="{CEBF90E3-939D-4F85-8A43-E26D3DF4C575}"/>
              </a:ext>
            </a:extLst>
          </p:cNvPr>
          <p:cNvSpPr>
            <a:spLocks xmlns:a="http://schemas.openxmlformats.org/drawingml/2006/main" noGrp="1"/>
          </p:cNvSpPr>
          <p:nvPr/>
        </p:nvSpPr>
        <p:spPr>
          <a:xfrm xmlns:a="http://schemas.openxmlformats.org/drawingml/2006/main">
            <a:off x="3600450" y="3724275"/>
            <a:ext cx="1781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594463"/>
                </a:solidFill>
                <a:latin typeface="Calibri"/>
                <a:ea typeface="Calibri"/>
                <a:cs typeface="Calibri"/>
              </a:defRPr>
            </a:pPr>
            <a:r>
              <a:rPr sz="1575" b="1">
                <a:solidFill>
                  <a:srgbClr val="594463"/>
                </a:solidFill>
                <a:latin typeface="Calibri"/>
                <a:ea typeface="Calibri"/>
                <a:cs typeface="Calibri"/>
              </a:rPr>
              <a:t>6  Execute</a:t>
            </a:r>
          </a:p>
        </p:txBody>
      </p:sp>
      <p:sp>
        <p:nvSpPr>
          <p:cNvPr id="120" name="rev-54">
            <a:extLst xmlns:a="http://schemas.openxmlformats.org/drawingml/2006/main">
              <a:ext uri="{FF2B5EF4-FFF2-40B4-BE49-F238E27FC236}">
                <a16:creationId xmlns:a16="http://schemas.microsoft.com/office/drawing/2014/main" id="{4E3F7C06-097D-477F-B0FB-3903101F2EFB}"/>
              </a:ext>
            </a:extLst>
          </p:cNvPr>
          <p:cNvSpPr>
            <a:spLocks xmlns:a="http://schemas.openxmlformats.org/drawingml/2006/main" noGrp="1"/>
          </p:cNvSpPr>
          <p:nvPr/>
        </p:nvSpPr>
        <p:spPr>
          <a:xfrm xmlns:a="http://schemas.openxmlformats.org/drawingml/2006/main">
            <a:off x="3600450" y="4057650"/>
            <a:ext cx="1781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Recheck live target</a:t>
            </a:r>
          </a:p>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Perform allowed action</a:t>
            </a:r>
          </a:p>
        </p:txBody>
      </p:sp>
      <p:sp>
        <p:nvSpPr>
          <p:cNvPr id="121" name="rev-55">
            <a:extLst xmlns:a="http://schemas.openxmlformats.org/drawingml/2006/main">
              <a:ext uri="{FF2B5EF4-FFF2-40B4-BE49-F238E27FC236}">
                <a16:creationId xmlns:a16="http://schemas.microsoft.com/office/drawing/2014/main" id="{CEF6CCB7-151E-420B-9BA7-C3DBFC7A100E}"/>
              </a:ext>
            </a:extLst>
          </p:cNvPr>
          <p:cNvSpPr>
            <a:spLocks xmlns:a="http://schemas.openxmlformats.org/drawingml/2006/main" noGrp="1"/>
          </p:cNvSpPr>
          <p:nvPr/>
        </p:nvSpPr>
        <p:spPr>
          <a:xfrm xmlns:a="http://schemas.openxmlformats.org/drawingml/2006/main">
            <a:off x="638175" y="3600450"/>
            <a:ext cx="2276475" cy="923925"/>
          </a:xfrm>
          <a:prstGeom xmlns:a="http://schemas.openxmlformats.org/drawingml/2006/main" prst="rect">
            <a:avLst/>
          </a:prstGeom>
          <a:solidFill xmlns:a="http://schemas.openxmlformats.org/drawingml/2006/main">
            <a:srgbClr val="FFFFFF"/>
          </a:solidFill>
          <a:ln xmlns:a="http://schemas.openxmlformats.org/drawingml/2006/main" w="9525">
            <a:solidFill>
              <a:srgbClr val="594463"/>
            </a:solidFill>
          </a:ln>
        </p:spPr>
      </p:sp>
      <p:sp>
        <p:nvSpPr>
          <p:cNvPr id="122" name="rev-56">
            <a:extLst xmlns:a="http://schemas.openxmlformats.org/drawingml/2006/main">
              <a:ext uri="{FF2B5EF4-FFF2-40B4-BE49-F238E27FC236}">
                <a16:creationId xmlns:a16="http://schemas.microsoft.com/office/drawing/2014/main" id="{29A58C71-AA95-4A54-A9CB-AC8A9F1735B0}"/>
              </a:ext>
            </a:extLst>
          </p:cNvPr>
          <p:cNvSpPr>
            <a:spLocks xmlns:a="http://schemas.openxmlformats.org/drawingml/2006/main" noGrp="1"/>
          </p:cNvSpPr>
          <p:nvPr/>
        </p:nvSpPr>
        <p:spPr>
          <a:xfrm xmlns:a="http://schemas.openxmlformats.org/drawingml/2006/main">
            <a:off x="790575" y="3724275"/>
            <a:ext cx="1971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594463"/>
                </a:solidFill>
                <a:latin typeface="Calibri"/>
                <a:ea typeface="Calibri"/>
                <a:cs typeface="Calibri"/>
              </a:defRPr>
            </a:pPr>
            <a:r>
              <a:rPr sz="1575" b="1">
                <a:solidFill>
                  <a:srgbClr val="594463"/>
                </a:solidFill>
                <a:latin typeface="Calibri"/>
                <a:ea typeface="Calibri"/>
                <a:cs typeface="Calibri"/>
              </a:rPr>
              <a:t>7  Verify</a:t>
            </a:r>
          </a:p>
        </p:txBody>
      </p:sp>
      <p:sp>
        <p:nvSpPr>
          <p:cNvPr id="123" name="rev-57">
            <a:extLst xmlns:a="http://schemas.openxmlformats.org/drawingml/2006/main">
              <a:ext uri="{FF2B5EF4-FFF2-40B4-BE49-F238E27FC236}">
                <a16:creationId xmlns:a16="http://schemas.microsoft.com/office/drawing/2014/main" id="{D2C235E7-6410-4604-8A8A-7A30F36DA649}"/>
              </a:ext>
            </a:extLst>
          </p:cNvPr>
          <p:cNvSpPr>
            <a:spLocks xmlns:a="http://schemas.openxmlformats.org/drawingml/2006/main" noGrp="1"/>
          </p:cNvSpPr>
          <p:nvPr/>
        </p:nvSpPr>
        <p:spPr>
          <a:xfrm xmlns:a="http://schemas.openxmlformats.org/drawingml/2006/main">
            <a:off x="790575" y="4057650"/>
            <a:ext cx="1971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Check download / UI</a:t>
            </a:r>
          </a:p>
          <a:p xmlns:a="http://schemas.openxmlformats.org/drawingml/2006/main">
            <a:pPr>
              <a:defRPr sz="1350">
                <a:solidFill>
                  <a:srgbClr val="202B36"/>
                </a:solidFill>
                <a:latin typeface="Calibri"/>
                <a:ea typeface="Calibri"/>
                <a:cs typeface="Calibri"/>
              </a:defRPr>
            </a:pPr>
            <a:r>
              <a:rPr sz="1350">
                <a:solidFill>
                  <a:srgbClr val="202B36"/>
                </a:solidFill>
                <a:latin typeface="Calibri"/>
                <a:ea typeface="Calibri"/>
                <a:cs typeface="Calibri"/>
              </a:rPr>
              <a:t>Report result to user</a:t>
            </a:r>
          </a:p>
        </p:txBody>
      </p:sp>
      <p:cxnSp>
        <p:nvCxnSpPr>
          <p:cNvPr id="177" name=""/>
          <p:cNvCxnSpPr>
            <a:stCxn xmlns:a="http://schemas.openxmlformats.org/drawingml/2006/main" id="115" idx="1"/>
            <a:endCxn xmlns:a="http://schemas.openxmlformats.org/drawingml/2006/main" id="118" idx="3"/>
          </p:cNvCxnSpPr>
          <p:nvPr/>
        </p:nvCxnSpPr>
        <p:spPr>
          <a:xfrm xmlns:a="http://schemas.openxmlformats.org/drawingml/2006/main" flipH="1">
            <a:off x="5534025" y="4057650"/>
            <a:ext cx="533400" cy="4763"/>
          </a:xfrm>
          <a:prstGeom xmlns:a="http://schemas.openxmlformats.org/drawingml/2006/main" prst="straightConnector1">
            <a:avLst/>
          </a:prstGeom>
          <a:ln xmlns:a="http://schemas.openxmlformats.org/drawingml/2006/main" w="19050">
            <a:solidFill>
              <a:srgbClr val="594463"/>
            </a:solidFill>
            <a:tailEnd type="triangle" w="sm" len="sm"/>
          </a:ln>
        </p:spPr>
      </p:cxnSp>
      <p:cxnSp>
        <p:nvCxnSpPr>
          <p:cNvPr id="178" name=""/>
          <p:cNvCxnSpPr>
            <a:stCxn xmlns:a="http://schemas.openxmlformats.org/drawingml/2006/main" id="118" idx="1"/>
            <a:endCxn xmlns:a="http://schemas.openxmlformats.org/drawingml/2006/main" id="121" idx="3"/>
          </p:cNvCxnSpPr>
          <p:nvPr/>
        </p:nvCxnSpPr>
        <p:spPr>
          <a:xfrm xmlns:a="http://schemas.openxmlformats.org/drawingml/2006/main" flipH="1">
            <a:off x="2914650" y="4062413"/>
            <a:ext cx="533400" cy="0"/>
          </a:xfrm>
          <a:prstGeom xmlns:a="http://schemas.openxmlformats.org/drawingml/2006/main" prst="straightConnector1">
            <a:avLst/>
          </a:prstGeom>
          <a:ln xmlns:a="http://schemas.openxmlformats.org/drawingml/2006/main" w="19050">
            <a:solidFill>
              <a:srgbClr val="594463"/>
            </a:solidFill>
            <a:tailEnd type="triangle" w="sm" len="sm"/>
          </a:ln>
        </p:spPr>
      </p:cxnSp>
      <p:sp>
        <p:nvSpPr>
          <p:cNvPr id="126" name="rev-58">
            <a:extLst xmlns:a="http://schemas.openxmlformats.org/drawingml/2006/main">
              <a:ext uri="{FF2B5EF4-FFF2-40B4-BE49-F238E27FC236}">
                <a16:creationId xmlns:a16="http://schemas.microsoft.com/office/drawing/2014/main" id="{DEF92435-72ED-434A-8009-655FC72931EE}"/>
              </a:ext>
            </a:extLst>
          </p:cNvPr>
          <p:cNvSpPr>
            <a:spLocks xmlns:a="http://schemas.openxmlformats.org/drawingml/2006/main" noGrp="1"/>
          </p:cNvSpPr>
          <p:nvPr/>
        </p:nvSpPr>
        <p:spPr>
          <a:xfrm xmlns:a="http://schemas.openxmlformats.org/drawingml/2006/main">
            <a:off x="5553075" y="374332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a:solidFill>
                  <a:srgbClr val="594463"/>
                </a:solidFill>
                <a:latin typeface="Calibri"/>
                <a:ea typeface="Calibri"/>
                <a:cs typeface="Calibri"/>
              </a:defRPr>
            </a:pPr>
            <a:r>
              <a:rPr sz="975">
                <a:solidFill>
                  <a:srgbClr val="594463"/>
                </a:solidFill>
                <a:latin typeface="Calibri"/>
                <a:ea typeface="Calibri"/>
                <a:cs typeface="Calibri"/>
              </a:rPr>
              <a:t>Allow</a:t>
            </a:r>
          </a:p>
        </p:txBody>
      </p:sp>
      <p:sp>
        <p:nvSpPr>
          <p:cNvPr id="127" name="path-59">
            <a:extLst xmlns:a="http://schemas.openxmlformats.org/drawingml/2006/main">
              <a:ext uri="{FF2B5EF4-FFF2-40B4-BE49-F238E27FC236}">
                <a16:creationId xmlns:a16="http://schemas.microsoft.com/office/drawing/2014/main" id="{417597D3-B7D9-4439-95EB-E944FD35C8F7}"/>
              </a:ext>
            </a:extLst>
          </p:cNvPr>
          <p:cNvSpPr>
            <a:spLocks xmlns:a="http://schemas.openxmlformats.org/drawingml/2006/main" noGrp="1"/>
          </p:cNvSpPr>
          <p:nvPr/>
        </p:nvSpPr>
        <p:spPr>
          <a:xfrm xmlns:a="http://schemas.openxmlformats.org/drawingml/2006/main">
            <a:off x="10601325" y="3314700"/>
            <a:ext cx="0" cy="742950"/>
          </a:xfrm>
          <a:prstGeom xmlns:a="http://schemas.openxmlformats.org/drawingml/2006/main" prst="line">
            <a:avLst/>
          </a:prstGeom>
          <a:noFill xmlns:a="http://schemas.openxmlformats.org/drawingml/2006/main"/>
          <a:ln xmlns:a="http://schemas.openxmlformats.org/drawingml/2006/main" w="14288">
            <a:solidFill>
              <a:srgbClr val="594463"/>
            </a:solidFill>
            <a:prstDash val="solid"/>
          </a:ln>
        </p:spPr>
      </p:sp>
      <p:sp>
        <p:nvSpPr>
          <p:cNvPr id="128" name="path-60">
            <a:extLst xmlns:a="http://schemas.openxmlformats.org/drawingml/2006/main">
              <a:ext uri="{FF2B5EF4-FFF2-40B4-BE49-F238E27FC236}">
                <a16:creationId xmlns:a16="http://schemas.microsoft.com/office/drawing/2014/main" id="{76322C6B-9B1D-49AD-921E-80D555FDC9C6}"/>
              </a:ext>
            </a:extLst>
          </p:cNvPr>
          <p:cNvSpPr>
            <a:spLocks xmlns:a="http://schemas.openxmlformats.org/drawingml/2006/main" noGrp="1"/>
          </p:cNvSpPr>
          <p:nvPr/>
        </p:nvSpPr>
        <p:spPr>
          <a:xfrm xmlns:a="http://schemas.openxmlformats.org/drawingml/2006/main">
            <a:off x="8115300" y="4057650"/>
            <a:ext cx="2486025" cy="0"/>
          </a:xfrm>
          <a:prstGeom xmlns:a="http://schemas.openxmlformats.org/drawingml/2006/main" prst="line">
            <a:avLst/>
          </a:prstGeom>
          <a:noFill xmlns:a="http://schemas.openxmlformats.org/drawingml/2006/main"/>
          <a:ln xmlns:a="http://schemas.openxmlformats.org/drawingml/2006/main" w="14288">
            <a:solidFill>
              <a:srgbClr val="594463"/>
            </a:solidFill>
            <a:prstDash val="solid"/>
          </a:ln>
        </p:spPr>
      </p:sp>
      <p:sp>
        <p:nvSpPr>
          <p:cNvPr id="129" name="">
            <a:extLst xmlns:a="http://schemas.openxmlformats.org/drawingml/2006/main">
              <a:ext uri="{FF2B5EF4-FFF2-40B4-BE49-F238E27FC236}">
                <a16:creationId xmlns:a16="http://schemas.microsoft.com/office/drawing/2014/main" id="{7F7AECAF-F406-45BF-89F7-9CA9F29250B7}"/>
              </a:ext>
            </a:extLst>
          </p:cNvPr>
          <p:cNvSpPr>
            <a:spLocks xmlns:a="http://schemas.openxmlformats.org/drawingml/2006/main" noGrp="1"/>
          </p:cNvSpPr>
          <p:nvPr/>
        </p:nvSpPr>
        <p:spPr>
          <a:xfrm xmlns:a="http://schemas.openxmlformats.org/drawingml/2006/main">
            <a:off x="7943850" y="4000500"/>
            <a:ext cx="238125" cy="114300"/>
          </a:xfrm>
          <a:prstGeom xmlns:a="http://schemas.openxmlformats.org/drawingml/2006/main" prst="leftArrow">
            <a:avLst/>
          </a:prstGeom>
          <a:solidFill xmlns:a="http://schemas.openxmlformats.org/drawingml/2006/main">
            <a:srgbClr val="594463"/>
          </a:solidFill>
          <a:ln xmlns:a="http://schemas.openxmlformats.org/drawingml/2006/main" w="0">
            <a:noFill/>
          </a:ln>
        </p:spPr>
      </p:sp>
      <p:sp>
        <p:nvSpPr>
          <p:cNvPr id="130" name="rev-61">
            <a:extLst xmlns:a="http://schemas.openxmlformats.org/drawingml/2006/main">
              <a:ext uri="{FF2B5EF4-FFF2-40B4-BE49-F238E27FC236}">
                <a16:creationId xmlns:a16="http://schemas.microsoft.com/office/drawing/2014/main" id="{9A850307-AA70-4F2C-8DA2-6B32C71F00E1}"/>
              </a:ext>
            </a:extLst>
          </p:cNvPr>
          <p:cNvSpPr>
            <a:spLocks xmlns:a="http://schemas.openxmlformats.org/drawingml/2006/main" noGrp="1"/>
          </p:cNvSpPr>
          <p:nvPr/>
        </p:nvSpPr>
        <p:spPr>
          <a:xfrm xmlns:a="http://schemas.openxmlformats.org/drawingml/2006/main">
            <a:off x="9277350" y="3705225"/>
            <a:ext cx="1543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594463"/>
                </a:solidFill>
                <a:latin typeface="Calibri"/>
                <a:ea typeface="Calibri"/>
                <a:cs typeface="Calibri"/>
              </a:defRPr>
            </a:pPr>
            <a:r>
              <a:rPr sz="1200">
                <a:solidFill>
                  <a:srgbClr val="594463"/>
                </a:solidFill>
                <a:latin typeface="Calibri"/>
                <a:ea typeface="Calibri"/>
                <a:cs typeface="Calibri"/>
              </a:rPr>
              <a:t>JSON action</a:t>
            </a:r>
          </a:p>
        </p:txBody>
      </p:sp>
      <p:sp>
        <p:nvSpPr>
          <p:cNvPr id="131" name="rev-62">
            <a:extLst xmlns:a="http://schemas.openxmlformats.org/drawingml/2006/main">
              <a:ext uri="{FF2B5EF4-FFF2-40B4-BE49-F238E27FC236}">
                <a16:creationId xmlns:a16="http://schemas.microsoft.com/office/drawing/2014/main" id="{3211EA1D-7A66-4710-B1BB-07A85D7CC67E}"/>
              </a:ext>
            </a:extLst>
          </p:cNvPr>
          <p:cNvSpPr>
            <a:spLocks xmlns:a="http://schemas.openxmlformats.org/drawingml/2006/main" noGrp="1"/>
          </p:cNvSpPr>
          <p:nvPr/>
        </p:nvSpPr>
        <p:spPr>
          <a:xfrm xmlns:a="http://schemas.openxmlformats.org/drawingml/2006/main">
            <a:off x="4829175" y="4591050"/>
            <a:ext cx="3190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594463"/>
                </a:solidFill>
                <a:latin typeface="Calibri"/>
                <a:ea typeface="Calibri"/>
                <a:cs typeface="Calibri"/>
              </a:defRPr>
            </a:pPr>
            <a:r>
              <a:rPr sz="1050" b="1">
                <a:solidFill>
                  <a:srgbClr val="594463"/>
                </a:solidFill>
                <a:latin typeface="Calibri"/>
                <a:ea typeface="Calibri"/>
                <a:cs typeface="Calibri"/>
              </a:rPr>
              <a:t>Blocked: stop. TYPE: request confirmation.</a:t>
            </a:r>
          </a:p>
        </p:txBody>
      </p:sp>
      <p:sp>
        <p:nvSpPr>
          <p:cNvPr id="132" name="rev-63">
            <a:extLst xmlns:a="http://schemas.openxmlformats.org/drawingml/2006/main">
              <a:ext uri="{FF2B5EF4-FFF2-40B4-BE49-F238E27FC236}">
                <a16:creationId xmlns:a16="http://schemas.microsoft.com/office/drawing/2014/main" id="{9057863F-6FE6-4D7D-8FE5-FE84823D06BC}"/>
              </a:ext>
            </a:extLst>
          </p:cNvPr>
          <p:cNvSpPr>
            <a:spLocks xmlns:a="http://schemas.openxmlformats.org/drawingml/2006/main" noGrp="1"/>
          </p:cNvSpPr>
          <p:nvPr/>
        </p:nvSpPr>
        <p:spPr>
          <a:xfrm xmlns:a="http://schemas.openxmlformats.org/drawingml/2006/main">
            <a:off x="638175" y="4600575"/>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a:solidFill>
                  <a:srgbClr val="53616D"/>
                </a:solidFill>
                <a:latin typeface="Calibri"/>
                <a:ea typeface="Calibri"/>
                <a:cs typeface="Calibri"/>
              </a:defRPr>
            </a:pPr>
            <a:r>
              <a:rPr sz="1125">
                <a:solidFill>
                  <a:srgbClr val="53616D"/>
                </a:solidFill>
                <a:latin typeface="Calibri"/>
                <a:ea typeface="Calibri"/>
                <a:cs typeface="Calibri"/>
              </a:rPr>
              <a:t>User can run the next step after verification.</a:t>
            </a:r>
          </a:p>
        </p:txBody>
      </p:sp>
      <p:sp>
        <p:nvSpPr>
          <p:cNvPr id="133" name="rev-64">
            <a:extLst xmlns:a="http://schemas.openxmlformats.org/drawingml/2006/main">
              <a:ext uri="{FF2B5EF4-FFF2-40B4-BE49-F238E27FC236}">
                <a16:creationId xmlns:a16="http://schemas.microsoft.com/office/drawing/2014/main" id="{7885DD9F-F4F0-4265-ACA5-AA57A1925A41}"/>
              </a:ext>
            </a:extLst>
          </p:cNvPr>
          <p:cNvSpPr>
            <a:spLocks xmlns:a="http://schemas.openxmlformats.org/drawingml/2006/main" noGrp="1"/>
          </p:cNvSpPr>
          <p:nvPr/>
        </p:nvSpPr>
        <p:spPr>
          <a:xfrm xmlns:a="http://schemas.openxmlformats.org/drawingml/2006/main">
            <a:off x="9029700" y="4581525"/>
            <a:ext cx="2705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25">
                <a:solidFill>
                  <a:srgbClr val="53616D"/>
                </a:solidFill>
                <a:latin typeface="Calibri"/>
                <a:ea typeface="Calibri"/>
                <a:cs typeface="Calibri"/>
              </a:defRPr>
            </a:pPr>
            <a:r>
              <a:rPr sz="1125">
                <a:solidFill>
                  <a:srgbClr val="53616D"/>
                </a:solidFill>
                <a:latin typeface="Calibri"/>
                <a:ea typeface="Calibri"/>
                <a:cs typeface="Calibri"/>
              </a:rPr>
              <a:t>Demo endpoint: localhost:8000</a:t>
            </a:r>
          </a:p>
        </p:txBody>
      </p:sp>
      <p:sp>
        <p:nvSpPr>
          <p:cNvPr id="134" name="rev-65">
            <a:extLst xmlns:a="http://schemas.openxmlformats.org/drawingml/2006/main">
              <a:ext uri="{FF2B5EF4-FFF2-40B4-BE49-F238E27FC236}">
                <a16:creationId xmlns:a16="http://schemas.microsoft.com/office/drawing/2014/main" id="{96085A5A-AD8B-4A1A-AA84-49227667179E}"/>
              </a:ext>
            </a:extLst>
          </p:cNvPr>
          <p:cNvSpPr>
            <a:spLocks xmlns:a="http://schemas.openxmlformats.org/drawingml/2006/main" noGrp="1"/>
          </p:cNvSpPr>
          <p:nvPr/>
        </p:nvSpPr>
        <p:spPr>
          <a:xfrm xmlns:a="http://schemas.openxmlformats.org/drawingml/2006/main">
            <a:off x="457200" y="5114925"/>
            <a:ext cx="523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594463"/>
                </a:solidFill>
                <a:latin typeface="Calibri"/>
                <a:ea typeface="Calibri"/>
                <a:cs typeface="Calibri"/>
              </a:defRPr>
            </a:pPr>
            <a:r>
              <a:rPr sz="1500" b="1">
                <a:solidFill>
                  <a:srgbClr val="594463"/>
                </a:solidFill>
                <a:latin typeface="Calibri"/>
                <a:ea typeface="Calibri"/>
                <a:cs typeface="Calibri"/>
              </a:rPr>
              <a:t>Demo stage</a:t>
            </a:r>
          </a:p>
        </p:txBody>
      </p:sp>
      <p:sp>
        <p:nvSpPr>
          <p:cNvPr id="135" name="rev-66">
            <a:extLst xmlns:a="http://schemas.openxmlformats.org/drawingml/2006/main">
              <a:ext uri="{FF2B5EF4-FFF2-40B4-BE49-F238E27FC236}">
                <a16:creationId xmlns:a16="http://schemas.microsoft.com/office/drawing/2014/main" id="{3B7E2DB5-BCFE-43CC-A39C-153D0D92D7CB}"/>
              </a:ext>
            </a:extLst>
          </p:cNvPr>
          <p:cNvSpPr>
            <a:spLocks xmlns:a="http://schemas.openxmlformats.org/drawingml/2006/main" noGrp="1"/>
          </p:cNvSpPr>
          <p:nvPr/>
        </p:nvSpPr>
        <p:spPr>
          <a:xfrm xmlns:a="http://schemas.openxmlformats.org/drawingml/2006/main">
            <a:off x="457200" y="5495925"/>
            <a:ext cx="5400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202B36"/>
                </a:solidFill>
                <a:latin typeface="Calibri"/>
                <a:ea typeface="Calibri"/>
                <a:cs typeface="Calibri"/>
              </a:defRPr>
            </a:pPr>
            <a:r>
              <a:rPr sz="1500">
                <a:solidFill>
                  <a:srgbClr val="202B36"/>
                </a:solidFill>
                <a:latin typeface="Calibri"/>
                <a:ea typeface="Calibri"/>
                <a:cs typeface="Calibri"/>
              </a:rPr>
              <a:t>DOM privacy + goal crop + guarded execution</a:t>
            </a:r>
          </a:p>
          <a:p xmlns:a="http://schemas.openxmlformats.org/drawingml/2006/main">
            <a:pPr>
              <a:defRPr sz="1500">
                <a:solidFill>
                  <a:srgbClr val="202B36"/>
                </a:solidFill>
                <a:latin typeface="Calibri"/>
                <a:ea typeface="Calibri"/>
                <a:cs typeface="Calibri"/>
              </a:defRPr>
            </a:pPr>
            <a:r>
              <a:rPr sz="1500">
                <a:solidFill>
                  <a:srgbClr val="202B36"/>
                </a:solidFill>
                <a:latin typeface="Calibri"/>
                <a:ea typeface="Calibri"/>
                <a:cs typeface="Calibri"/>
              </a:rPr>
              <a:t>Rules planner uses disclosed control metadata</a:t>
            </a:r>
          </a:p>
        </p:txBody>
      </p:sp>
      <p:sp>
        <p:nvSpPr>
          <p:cNvPr id="136" name="rev-67">
            <a:extLst xmlns:a="http://schemas.openxmlformats.org/drawingml/2006/main">
              <a:ext uri="{FF2B5EF4-FFF2-40B4-BE49-F238E27FC236}">
                <a16:creationId xmlns:a16="http://schemas.microsoft.com/office/drawing/2014/main" id="{8FED531C-4156-43EF-9A70-CB020A0530B7}"/>
              </a:ext>
            </a:extLst>
          </p:cNvPr>
          <p:cNvSpPr>
            <a:spLocks xmlns:a="http://schemas.openxmlformats.org/drawingml/2006/main" noGrp="1"/>
          </p:cNvSpPr>
          <p:nvPr/>
        </p:nvSpPr>
        <p:spPr>
          <a:xfrm xmlns:a="http://schemas.openxmlformats.org/drawingml/2006/main">
            <a:off x="6276975" y="5114925"/>
            <a:ext cx="5457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594463"/>
                </a:solidFill>
                <a:latin typeface="Calibri"/>
                <a:ea typeface="Calibri"/>
                <a:cs typeface="Calibri"/>
              </a:defRPr>
            </a:pPr>
            <a:r>
              <a:rPr sz="1500" b="1">
                <a:solidFill>
                  <a:srgbClr val="594463"/>
                </a:solidFill>
                <a:latin typeface="Calibri"/>
                <a:ea typeface="Calibri"/>
                <a:cs typeface="Calibri"/>
              </a:rPr>
              <a:t>ONNX Runtime Web: integration scaffold</a:t>
            </a:r>
          </a:p>
        </p:txBody>
      </p:sp>
      <p:sp>
        <p:nvSpPr>
          <p:cNvPr id="137" name="rev-68">
            <a:extLst xmlns:a="http://schemas.openxmlformats.org/drawingml/2006/main">
              <a:ext uri="{FF2B5EF4-FFF2-40B4-BE49-F238E27FC236}">
                <a16:creationId xmlns:a16="http://schemas.microsoft.com/office/drawing/2014/main" id="{60672CB8-77FD-446F-BACC-E50D11FDA3F4}"/>
              </a:ext>
            </a:extLst>
          </p:cNvPr>
          <p:cNvSpPr>
            <a:spLocks xmlns:a="http://schemas.openxmlformats.org/drawingml/2006/main" noGrp="1"/>
          </p:cNvSpPr>
          <p:nvPr/>
        </p:nvSpPr>
        <p:spPr>
          <a:xfrm xmlns:a="http://schemas.openxmlformats.org/drawingml/2006/main">
            <a:off x="6276975" y="5495925"/>
            <a:ext cx="5457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202B36"/>
                </a:solidFill>
                <a:latin typeface="Calibri"/>
                <a:ea typeface="Calibri"/>
                <a:cs typeface="Calibri"/>
              </a:defRPr>
            </a:pPr>
            <a:r>
              <a:rPr sz="1500">
                <a:solidFill>
                  <a:srgbClr val="202B36"/>
                </a:solidFill>
                <a:latin typeface="Calibri"/>
                <a:ea typeface="Calibri"/>
                <a:cs typeface="Calibri"/>
              </a:rPr>
              <a:t>Optional loader with DOM fallback is in place.</a:t>
            </a:r>
          </a:p>
          <a:p xmlns:a="http://schemas.openxmlformats.org/drawingml/2006/main">
            <a:pPr>
              <a:defRPr sz="1500">
                <a:solidFill>
                  <a:srgbClr val="202B36"/>
                </a:solidFill>
                <a:latin typeface="Calibri"/>
                <a:ea typeface="Calibri"/>
                <a:cs typeface="Calibri"/>
              </a:defRPr>
            </a:pPr>
            <a:r>
              <a:rPr sz="1500">
                <a:solidFill>
                  <a:srgbClr val="202B36"/>
                </a:solidFill>
                <a:latin typeface="Calibri"/>
                <a:ea typeface="Calibri"/>
                <a:cs typeface="Calibri"/>
              </a:rPr>
              <a:t>Trained detector + real runtime assets are pending.</a:t>
            </a:r>
          </a:p>
        </p:txBody>
      </p:sp>
      <p:sp>
        <p:nvSpPr>
          <p:cNvPr id="138" name="rev-69">
            <a:extLst xmlns:a="http://schemas.openxmlformats.org/drawingml/2006/main">
              <a:ext uri="{FF2B5EF4-FFF2-40B4-BE49-F238E27FC236}">
                <a16:creationId xmlns:a16="http://schemas.microsoft.com/office/drawing/2014/main" id="{FF02A56C-21FC-4289-A72A-6BAD78747772}"/>
              </a:ext>
            </a:extLst>
          </p:cNvPr>
          <p:cNvSpPr>
            <a:spLocks xmlns:a="http://schemas.openxmlformats.org/drawingml/2006/main" noGrp="1"/>
          </p:cNvSpPr>
          <p:nvPr/>
        </p:nvSpPr>
        <p:spPr>
          <a:xfrm xmlns:a="http://schemas.openxmlformats.org/drawingml/2006/main">
            <a:off x="457200" y="6181725"/>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a:solidFill>
                  <a:srgbClr val="53616D"/>
                </a:solidFill>
                <a:latin typeface="Calibri"/>
                <a:ea typeface="Calibri"/>
                <a:cs typeface="Calibri"/>
              </a:defRPr>
            </a:pPr>
            <a:r>
              <a:rPr sz="1125">
                <a:solidFill>
                  <a:srgbClr val="53616D"/>
                </a:solidFill>
                <a:latin typeface="Calibri"/>
                <a:ea typeface="Calibri"/>
                <a:cs typeface="Calibri"/>
              </a:rPr>
              <a:t>Next: browser visual/OCR path, WebGPU / WASM timing, VLM integration tests and Firefox validation.</a:t>
            </a:r>
          </a:p>
        </p:txBody>
      </p:sp>
    </p:spTree>
    <p:extLst>
      <p:ext uri="{BB962C8B-B14F-4D97-AF65-F5344CB8AC3E}">
        <p14:creationId xmlns:p14="http://schemas.microsoft.com/office/powerpoint/2010/main" val="14963664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948E927-D752-4F09-B9B1-372C73BD1FA4}"/>
              </a:ext>
            </a:extLst>
          </p:cNvPr>
          <p:cNvSpPr>
            <a:spLocks xmlns:a="http://schemas.openxmlformats.org/drawingml/2006/main" noGrp="1"/>
          </p:cNvSpPr>
          <p:nvPr/>
        </p:nvSpPr>
        <p:spPr>
          <a:xfrm xmlns:a="http://schemas.openxmlformats.org/drawingml/2006/main">
            <a:off x="384048" y="201168"/>
            <a:ext cx="1371600" cy="530352"/>
          </a:xfrm>
          <a:prstGeom xmlns:a="http://schemas.openxmlformats.org/drawingml/2006/main" prst="ellipse">
            <a:avLst/>
          </a:prstGeom>
          <a:solidFill xmlns:a="http://schemas.openxmlformats.org/drawingml/2006/main">
            <a:srgbClr val="E3F1F2"/>
          </a:solidFill>
          <a:ln xmlns:a="http://schemas.openxmlformats.org/drawingml/2006/main" w="19050">
            <a:solidFill>
              <a:srgbClr val="0E7C86"/>
            </a:solidFill>
            <a:prstDash val="solid"/>
          </a:ln>
          <a:effectLst xmlns:a="http://schemas.openxmlformats.org/drawingml/2006/main">
            <a:outerShdw blurRad="76200" dist="12700" dir="5400000" algn="bl" rotWithShape="0">
              <a:srgbClr val="9FB0C0">
                <a:alpha val="28000"/>
              </a:srgbClr>
            </a:outerShdw>
          </a:effectLst>
        </p:spPr>
      </p:sp>
      <p:sp>
        <p:nvSpPr>
          <p:cNvPr id="3" name="Text 1">
            <a:extLst xmlns:a="http://schemas.openxmlformats.org/drawingml/2006/main">
              <a:ext uri="{FF2B5EF4-FFF2-40B4-BE49-F238E27FC236}">
                <a16:creationId xmlns:a16="http://schemas.microsoft.com/office/drawing/2014/main" id="{FB986ADB-69BB-4FC2-BA42-F09E3775F52D}"/>
              </a:ext>
            </a:extLst>
          </p:cNvPr>
          <p:cNvSpPr>
            <a:spLocks xmlns:a="http://schemas.openxmlformats.org/drawingml/2006/main" noGrp="1"/>
          </p:cNvSpPr>
          <p:nvPr/>
        </p:nvSpPr>
        <p:spPr>
          <a:xfrm xmlns:a="http://schemas.openxmlformats.org/drawingml/2006/main">
            <a:off x="384048" y="320040"/>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A5F67"/>
                </a:solidFill>
                <a:latin typeface="Calibri"/>
                <a:ea typeface="Calibri"/>
                <a:cs typeface="Calibri"/>
              </a:rPr>
              <a:t>NEXORA</a:t>
            </a:r>
            <a:endParaRPr sz="1250"/>
          </a:p>
        </p:txBody>
      </p:sp>
      <p:sp>
        <p:nvSpPr>
          <p:cNvPr id="4" name="Text 2">
            <a:extLst xmlns:a="http://schemas.openxmlformats.org/drawingml/2006/main">
              <a:ext uri="{FF2B5EF4-FFF2-40B4-BE49-F238E27FC236}">
                <a16:creationId xmlns:a16="http://schemas.microsoft.com/office/drawing/2014/main" id="{4AFE63F5-1941-49F5-BCF0-19A200FDBD2C}"/>
              </a:ext>
            </a:extLst>
          </p:cNvPr>
          <p:cNvSpPr>
            <a:spLocks xmlns:a="http://schemas.openxmlformats.org/drawingml/2006/main" noGrp="1"/>
          </p:cNvSpPr>
          <p:nvPr/>
        </p:nvSpPr>
        <p:spPr>
          <a:xfrm xmlns:a="http://schemas.openxmlformats.org/drawingml/2006/main">
            <a:off x="2011680" y="201168"/>
            <a:ext cx="7863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1F4E79"/>
                </a:solidFill>
                <a:latin typeface="Cambria"/>
                <a:ea typeface="Cambria"/>
                <a:cs typeface="Cambria"/>
              </a:rPr>
              <a:t>FEASIBILITY AND VIABILITY</a:t>
            </a:r>
            <a:endParaRPr sz="2800"/>
          </a:p>
        </p:txBody>
      </p:sp>
      <p:pic>
        <p:nvPicPr>
          <p:cNvPr id="121" name="Image 0"/>
          <p:cNvPicPr>
            <a:picLocks xmlns:a="http://schemas.openxmlformats.org/drawingml/2006/main" noChangeAspect="1"/>
          </p:cNvPicPr>
          <p:nvPr/>
        </p:nvPicPr>
        <p:blipFill>
          <a:blip xmlns:r="http://schemas.openxmlformats.org/officeDocument/2006/relationships" xmlns:a="http://schemas.openxmlformats.org/drawingml/2006/main" r:embed="R4299a0c252894dd2"/>
          <a:stretch xmlns:a="http://schemas.openxmlformats.org/drawingml/2006/main">
            <a:fillRect l="0" t="0" r="0" b="0"/>
          </a:stretch>
        </p:blipFill>
        <p:spPr>
          <a:xfrm xmlns:a="http://schemas.openxmlformats.org/drawingml/2006/main">
            <a:off x="10287000" y="164592"/>
            <a:ext cx="1554480" cy="731520"/>
          </a:xfrm>
          <a:prstGeom xmlns:a="http://schemas.openxmlformats.org/drawingml/2006/main" prst="rect">
            <a:avLst/>
          </a:prstGeom>
          <a:effectLst xmlns:a="http://schemas.openxmlformats.org/drawingml/2006/main">
            <a:outerShdw blurRad="76200" dist="12700" dir="5400000" algn="bl" rotWithShape="0">
              <a:srgbClr val="9FB0C0">
                <a:alpha val="28000"/>
              </a:srgbClr>
            </a:outerShdw>
          </a:effectLst>
        </p:spPr>
      </p:pic>
      <p:sp>
        <p:nvSpPr>
          <p:cNvPr id="7" name="Shape 4">
            <a:extLst xmlns:a="http://schemas.openxmlformats.org/drawingml/2006/main">
              <a:ext uri="{FF2B5EF4-FFF2-40B4-BE49-F238E27FC236}">
                <a16:creationId xmlns:a16="http://schemas.microsoft.com/office/drawing/2014/main" id="{169F2EC0-C456-42E4-9377-CCE555ECA369}"/>
              </a:ext>
            </a:extLst>
          </p:cNvPr>
          <p:cNvSpPr>
            <a:spLocks xmlns:a="http://schemas.openxmlformats.org/drawingml/2006/main" noGrp="1"/>
          </p:cNvSpPr>
          <p:nvPr/>
        </p:nvSpPr>
        <p:spPr>
          <a:xfrm xmlns:a="http://schemas.openxmlformats.org/drawingml/2006/main">
            <a:off x="0" y="6446520"/>
            <a:ext cx="12191695" cy="411480"/>
          </a:xfrm>
          <a:prstGeom xmlns:a="http://schemas.openxmlformats.org/drawingml/2006/main" prst="rect">
            <a:avLst/>
          </a:prstGeom>
          <a:solidFill xmlns:a="http://schemas.openxmlformats.org/drawingml/2006/main">
            <a:srgbClr val="0071C1"/>
          </a:solidFill>
        </p:spPr>
      </p:sp>
      <p:sp>
        <p:nvSpPr>
          <p:cNvPr id="9" name="Text 6">
            <a:extLst xmlns:a="http://schemas.openxmlformats.org/drawingml/2006/main">
              <a:ext uri="{FF2B5EF4-FFF2-40B4-BE49-F238E27FC236}">
                <a16:creationId xmlns:a16="http://schemas.microsoft.com/office/drawing/2014/main" id="{D6F065A1-7CF6-4134-9D2C-46A02C654709}"/>
              </a:ext>
            </a:extLst>
          </p:cNvPr>
          <p:cNvSpPr>
            <a:spLocks xmlns:a="http://schemas.openxmlformats.org/drawingml/2006/main" noGrp="1"/>
          </p:cNvSpPr>
          <p:nvPr/>
        </p:nvSpPr>
        <p:spPr>
          <a:xfrm xmlns:a="http://schemas.openxmlformats.org/drawingml/2006/main">
            <a:off x="11338560" y="6537960"/>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4</a:t>
            </a:r>
            <a:endParaRPr sz="1250"/>
          </a:p>
        </p:txBody>
      </p:sp>
      <p:sp>
        <p:nvSpPr>
          <p:cNvPr id="98" name="rev-70">
            <a:extLst xmlns:a="http://schemas.openxmlformats.org/drawingml/2006/main">
              <a:ext uri="{FF2B5EF4-FFF2-40B4-BE49-F238E27FC236}">
                <a16:creationId xmlns:a16="http://schemas.microsoft.com/office/drawing/2014/main" id="{3954B6F9-FF04-4DD2-9F00-9F4D0DD2BF03}"/>
              </a:ext>
            </a:extLst>
          </p:cNvPr>
          <p:cNvSpPr>
            <a:spLocks xmlns:a="http://schemas.openxmlformats.org/drawingml/2006/main" noGrp="1"/>
          </p:cNvSpPr>
          <p:nvPr/>
        </p:nvSpPr>
        <p:spPr>
          <a:xfrm xmlns:a="http://schemas.openxmlformats.org/drawingml/2006/main">
            <a:off x="457200" y="9810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36514"/>
                </a:solidFill>
                <a:latin typeface="Calibri"/>
                <a:ea typeface="Calibri"/>
                <a:cs typeface="Calibri"/>
              </a:defRPr>
            </a:pPr>
            <a:r>
              <a:rPr sz="1500" b="1">
                <a:solidFill>
                  <a:srgbClr val="936514"/>
                </a:solidFill>
                <a:latin typeface="Calibri"/>
                <a:ea typeface="Calibri"/>
                <a:cs typeface="Calibri"/>
              </a:rPr>
              <a:t>Analysis of feasibility</a:t>
            </a:r>
          </a:p>
        </p:txBody>
      </p:sp>
      <p:sp>
        <p:nvSpPr>
          <p:cNvPr id="99" name="rev-71">
            <a:extLst xmlns:a="http://schemas.openxmlformats.org/drawingml/2006/main">
              <a:ext uri="{FF2B5EF4-FFF2-40B4-BE49-F238E27FC236}">
                <a16:creationId xmlns:a16="http://schemas.microsoft.com/office/drawing/2014/main" id="{321D6175-A2D5-4A05-AF93-6B89CFDAF6DA}"/>
              </a:ext>
            </a:extLst>
          </p:cNvPr>
          <p:cNvSpPr>
            <a:spLocks xmlns:a="http://schemas.openxmlformats.org/drawingml/2006/main" noGrp="1"/>
          </p:cNvSpPr>
          <p:nvPr/>
        </p:nvSpPr>
        <p:spPr>
          <a:xfrm xmlns:a="http://schemas.openxmlformats.org/drawingml/2006/main">
            <a:off x="457200" y="133350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2B36"/>
                </a:solidFill>
                <a:latin typeface="Calibri"/>
                <a:ea typeface="Calibri"/>
                <a:cs typeface="Calibri"/>
              </a:defRPr>
            </a:pPr>
            <a:r>
              <a:rPr sz="1650" b="1">
                <a:solidFill>
                  <a:srgbClr val="202B36"/>
                </a:solidFill>
                <a:latin typeface="Calibri"/>
                <a:ea typeface="Calibri"/>
                <a:cs typeface="Calibri"/>
              </a:rPr>
              <a:t>CPU reference benchmark: 48 fresh synthetic pages / 408 sensitive annotations</a:t>
            </a:r>
          </a:p>
        </p:txBody>
      </p:sp>
      <p:graphicFrame>
        <p:nvGraphicFramePr>
          <p:cNvPr id="126" name=""/>
          <p:cNvGraphicFramePr/>
          <p:nvPr/>
        </p:nvGraphicFramePr>
        <p:xfrm>
          <a:off xmlns:a="http://schemas.openxmlformats.org/drawingml/2006/main" x="457200" y="1743075"/>
          <a:ext xmlns:a="http://schemas.openxmlformats.org/drawingml/2006/main" cx="11277600" cy="2114550"/>
        </p:xfrm>
        <a:graphic xmlns:a="http://schemas.openxmlformats.org/drawingml/2006/main">
          <a:graphicData uri="http://schemas.openxmlformats.org/drawingml/2006/table">
            <a:tbl>
              <a:tblPr/>
              <a:tblGrid>
                <a:gridCol w="6191250"/>
                <a:gridCol w="2543175"/>
                <a:gridCol w="2543175"/>
              </a:tblGrid>
              <a:tr h="352425">
                <a:tc>
                  <a:txBody>
                    <a:bodyPr lIns="76200" tIns="57150" rIns="76200" bIns="57150">
                      <a:noAutofit/>
                    </a:bodyPr>
                    <a:lstStyle/>
                    <a:p>
                      <a:pPr algn="l"/>
                      <a:r>
                        <a:rPr sz="1388" b="1">
                          <a:solidFill>
                            <a:srgbClr val="FFFFFF"/>
                          </a:solidFill>
                          <a:latin typeface="Calibri"/>
                          <a:ea typeface="Calibri"/>
                          <a:cs typeface="Calibri"/>
                        </a:rPr>
                        <a:t>Criterion and measure</a:t>
                      </a:r>
                    </a:p>
                  </a:txBody>
                  <a:tcPr marL="91440" marR="91440" marT="45720" marB="45720" anchor="ctr">
                    <a:solidFill>
                      <a:srgbClr val="936514"/>
                    </a:solidFill>
                  </a:tcPr>
                </a:tc>
                <a:tc>
                  <a:txBody>
                    <a:bodyPr lIns="76200" tIns="57150" rIns="76200" bIns="57150">
                      <a:noAutofit/>
                    </a:bodyPr>
                    <a:lstStyle/>
                    <a:p>
                      <a:pPr algn="ctr"/>
                      <a:r>
                        <a:rPr sz="1388" b="1">
                          <a:solidFill>
                            <a:srgbClr val="FFFFFF"/>
                          </a:solidFill>
                          <a:latin typeface="Calibri"/>
                          <a:ea typeface="Calibri"/>
                          <a:cs typeface="Calibri"/>
                        </a:rPr>
                        <a:t>Always-on</a:t>
                      </a:r>
                    </a:p>
                  </a:txBody>
                  <a:tcPr marL="91440" marR="91440" marT="45720" marB="45720" anchor="ctr">
                    <a:solidFill>
                      <a:srgbClr val="936514"/>
                    </a:solidFill>
                  </a:tcPr>
                </a:tc>
                <a:tc>
                  <a:txBody>
                    <a:bodyPr lIns="76200" tIns="57150" rIns="76200" bIns="57150">
                      <a:noAutofit/>
                    </a:bodyPr>
                    <a:lstStyle/>
                    <a:p>
                      <a:pPr algn="ctr"/>
                      <a:r>
                        <a:rPr sz="1388" b="1">
                          <a:solidFill>
                            <a:srgbClr val="FFFFFF"/>
                          </a:solidFill>
                          <a:latin typeface="Calibri"/>
                          <a:ea typeface="Calibri"/>
                          <a:cs typeface="Calibri"/>
                        </a:rPr>
                        <a:t>Selective</a:t>
                      </a:r>
                    </a:p>
                  </a:txBody>
                  <a:tcPr marL="91440" marR="91440" marT="45720" marB="45720" anchor="ctr">
                    <a:solidFill>
                      <a:srgbClr val="936514"/>
                    </a:solidFill>
                  </a:tcPr>
                </a:tc>
              </a:tr>
              <a:tr h="352425">
                <a:tc>
                  <a:txBody>
                    <a:bodyPr lIns="76200" tIns="57150" rIns="76200" bIns="57150">
                      <a:noAutofit/>
                    </a:bodyPr>
                    <a:lstStyle/>
                    <a:p>
                      <a:pPr algn="l"/>
                      <a:r>
                        <a:rPr sz="1388" b="0">
                          <a:solidFill>
                            <a:srgbClr val="202B36"/>
                          </a:solidFill>
                          <a:latin typeface="Calibri"/>
                          <a:ea typeface="Calibri"/>
                          <a:cs typeface="Calibri"/>
                        </a:rPr>
                        <a:t>Visual context (25%)  UI F1 @ IoU ≥ 0.5</a:t>
                      </a:r>
                    </a:p>
                  </a:txBody>
                  <a:tcPr marL="91440" marR="91440" marT="45720" marB="45720" anchor="ctr">
                    <a:solidFill>
                      <a:srgbClr val="FFFFFF"/>
                    </a:solidFill>
                  </a:tcPr>
                </a:tc>
                <a:tc>
                  <a:txBody>
                    <a:bodyPr lIns="76200" tIns="57150" rIns="76200" bIns="57150">
                      <a:noAutofit/>
                    </a:bodyPr>
                    <a:lstStyle/>
                    <a:p>
                      <a:pPr algn="ctr"/>
                      <a:r>
                        <a:rPr sz="1388" b="0">
                          <a:solidFill>
                            <a:srgbClr val="202B36"/>
                          </a:solidFill>
                          <a:latin typeface="Calibri"/>
                          <a:ea typeface="Calibri"/>
                          <a:cs typeface="Calibri"/>
                        </a:rPr>
                        <a:t>0.924</a:t>
                      </a:r>
                    </a:p>
                  </a:txBody>
                  <a:tcPr marL="91440" marR="91440" marT="45720" marB="45720" anchor="ctr">
                    <a:solidFill>
                      <a:srgbClr val="FFFFFF"/>
                    </a:solidFill>
                  </a:tcPr>
                </a:tc>
                <a:tc>
                  <a:txBody>
                    <a:bodyPr lIns="76200" tIns="57150" rIns="76200" bIns="57150">
                      <a:noAutofit/>
                    </a:bodyPr>
                    <a:lstStyle/>
                    <a:p>
                      <a:pPr algn="ctr"/>
                      <a:r>
                        <a:rPr sz="1388" b="1">
                          <a:solidFill>
                            <a:srgbClr val="202B36"/>
                          </a:solidFill>
                          <a:latin typeface="Calibri"/>
                          <a:ea typeface="Calibri"/>
                          <a:cs typeface="Calibri"/>
                        </a:rPr>
                        <a:t>0.924</a:t>
                      </a:r>
                    </a:p>
                  </a:txBody>
                  <a:tcPr marL="91440" marR="91440" marT="45720" marB="45720" anchor="ctr">
                    <a:solidFill>
                      <a:srgbClr val="F8F1E3"/>
                    </a:solidFill>
                  </a:tcPr>
                </a:tc>
              </a:tr>
              <a:tr h="352425">
                <a:tc>
                  <a:txBody>
                    <a:bodyPr lIns="76200" tIns="57150" rIns="76200" bIns="57150">
                      <a:noAutofit/>
                    </a:bodyPr>
                    <a:lstStyle/>
                    <a:p>
                      <a:pPr algn="l"/>
                      <a:r>
                        <a:rPr sz="1388" b="0">
                          <a:solidFill>
                            <a:srgbClr val="202B36"/>
                          </a:solidFill>
                          <a:latin typeface="Calibri"/>
                          <a:ea typeface="Calibri"/>
                          <a:cs typeface="Calibri"/>
                        </a:rPr>
                        <a:t>PII detection (20%)  precision / recall</a:t>
                      </a:r>
                    </a:p>
                  </a:txBody>
                  <a:tcPr marL="91440" marR="91440" marT="45720" marB="45720" anchor="ctr">
                    <a:solidFill>
                      <a:srgbClr val="FFFFFF"/>
                    </a:solidFill>
                  </a:tcPr>
                </a:tc>
                <a:tc>
                  <a:txBody>
                    <a:bodyPr lIns="76200" tIns="57150" rIns="76200" bIns="57150">
                      <a:noAutofit/>
                    </a:bodyPr>
                    <a:lstStyle/>
                    <a:p>
                      <a:pPr algn="ctr"/>
                      <a:r>
                        <a:rPr sz="1388" b="0">
                          <a:solidFill>
                            <a:srgbClr val="202B36"/>
                          </a:solidFill>
                          <a:latin typeface="Calibri"/>
                          <a:ea typeface="Calibri"/>
                          <a:cs typeface="Calibri"/>
                        </a:rPr>
                        <a:t>0.937 / 0.955</a:t>
                      </a:r>
                    </a:p>
                  </a:txBody>
                  <a:tcPr marL="91440" marR="91440" marT="45720" marB="45720" anchor="ctr">
                    <a:solidFill>
                      <a:srgbClr val="FFFFFF"/>
                    </a:solidFill>
                  </a:tcPr>
                </a:tc>
                <a:tc>
                  <a:txBody>
                    <a:bodyPr lIns="76200" tIns="57150" rIns="76200" bIns="57150">
                      <a:noAutofit/>
                    </a:bodyPr>
                    <a:lstStyle/>
                    <a:p>
                      <a:pPr algn="ctr"/>
                      <a:r>
                        <a:rPr sz="1388" b="1">
                          <a:solidFill>
                            <a:srgbClr val="202B36"/>
                          </a:solidFill>
                          <a:latin typeface="Calibri"/>
                          <a:ea typeface="Calibri"/>
                          <a:cs typeface="Calibri"/>
                        </a:rPr>
                        <a:t>1.000 / 0.958</a:t>
                      </a:r>
                    </a:p>
                  </a:txBody>
                  <a:tcPr marL="91440" marR="91440" marT="45720" marB="45720" anchor="ctr">
                    <a:solidFill>
                      <a:srgbClr val="F8F1E3"/>
                    </a:solidFill>
                  </a:tcPr>
                </a:tc>
              </a:tr>
              <a:tr h="352425">
                <a:tc>
                  <a:txBody>
                    <a:bodyPr lIns="76200" tIns="57150" rIns="76200" bIns="57150">
                      <a:noAutofit/>
                    </a:bodyPr>
                    <a:lstStyle/>
                    <a:p>
                      <a:pPr algn="l"/>
                      <a:r>
                        <a:rPr sz="1388" b="0">
                          <a:solidFill>
                            <a:srgbClr val="202B36"/>
                          </a:solidFill>
                          <a:latin typeface="Calibri"/>
                          <a:ea typeface="Calibri"/>
                          <a:cs typeface="Calibri"/>
                        </a:rPr>
                        <a:t>Redaction (20%)  pixel precision / recall</a:t>
                      </a:r>
                    </a:p>
                  </a:txBody>
                  <a:tcPr marL="91440" marR="91440" marT="45720" marB="45720" anchor="ctr">
                    <a:solidFill>
                      <a:srgbClr val="FFFFFF"/>
                    </a:solidFill>
                  </a:tcPr>
                </a:tc>
                <a:tc>
                  <a:txBody>
                    <a:bodyPr lIns="76200" tIns="57150" rIns="76200" bIns="57150">
                      <a:noAutofit/>
                    </a:bodyPr>
                    <a:lstStyle/>
                    <a:p>
                      <a:pPr algn="ctr"/>
                      <a:r>
                        <a:rPr sz="1388" b="0">
                          <a:solidFill>
                            <a:srgbClr val="202B36"/>
                          </a:solidFill>
                          <a:latin typeface="Calibri"/>
                          <a:ea typeface="Calibri"/>
                          <a:cs typeface="Calibri"/>
                        </a:rPr>
                        <a:t>0.643 / 0.977</a:t>
                      </a:r>
                    </a:p>
                  </a:txBody>
                  <a:tcPr marL="91440" marR="91440" marT="45720" marB="45720" anchor="ctr">
                    <a:solidFill>
                      <a:srgbClr val="FFFFFF"/>
                    </a:solidFill>
                  </a:tcPr>
                </a:tc>
                <a:tc>
                  <a:txBody>
                    <a:bodyPr lIns="76200" tIns="57150" rIns="76200" bIns="57150">
                      <a:noAutofit/>
                    </a:bodyPr>
                    <a:lstStyle/>
                    <a:p>
                      <a:pPr algn="ctr"/>
                      <a:r>
                        <a:rPr sz="1388" b="1">
                          <a:solidFill>
                            <a:srgbClr val="202B36"/>
                          </a:solidFill>
                          <a:latin typeface="Calibri"/>
                          <a:ea typeface="Calibri"/>
                          <a:cs typeface="Calibri"/>
                        </a:rPr>
                        <a:t>1.000 / 0.973</a:t>
                      </a:r>
                    </a:p>
                  </a:txBody>
                  <a:tcPr marL="91440" marR="91440" marT="45720" marB="45720" anchor="ctr">
                    <a:solidFill>
                      <a:srgbClr val="F8F1E3"/>
                    </a:solidFill>
                  </a:tcPr>
                </a:tc>
              </a:tr>
              <a:tr h="352425">
                <a:tc>
                  <a:txBody>
                    <a:bodyPr lIns="76200" tIns="57150" rIns="76200" bIns="57150">
                      <a:noAutofit/>
                    </a:bodyPr>
                    <a:lstStyle/>
                    <a:p>
                      <a:pPr algn="l"/>
                      <a:r>
                        <a:rPr sz="1388" b="0">
                          <a:solidFill>
                            <a:srgbClr val="202B36"/>
                          </a:solidFill>
                          <a:latin typeface="Calibri"/>
                          <a:ea typeface="Calibri"/>
                          <a:cs typeface="Calibri"/>
                        </a:rPr>
                        <a:t>Resources (20%)  process RAM / CPU per page</a:t>
                      </a:r>
                    </a:p>
                  </a:txBody>
                  <a:tcPr marL="91440" marR="91440" marT="45720" marB="45720" anchor="ctr">
                    <a:solidFill>
                      <a:srgbClr val="FFFFFF"/>
                    </a:solidFill>
                  </a:tcPr>
                </a:tc>
                <a:tc>
                  <a:txBody>
                    <a:bodyPr lIns="76200" tIns="57150" rIns="76200" bIns="57150">
                      <a:noAutofit/>
                    </a:bodyPr>
                    <a:lstStyle/>
                    <a:p>
                      <a:pPr algn="ctr"/>
                      <a:r>
                        <a:rPr sz="1388" b="0">
                          <a:solidFill>
                            <a:srgbClr val="202B36"/>
                          </a:solidFill>
                          <a:latin typeface="Calibri"/>
                          <a:ea typeface="Calibri"/>
                          <a:cs typeface="Calibri"/>
                        </a:rPr>
                        <a:t>57.3 MB / 52.1 ms</a:t>
                      </a:r>
                    </a:p>
                  </a:txBody>
                  <a:tcPr marL="91440" marR="91440" marT="45720" marB="45720" anchor="ctr">
                    <a:solidFill>
                      <a:srgbClr val="FFFFFF"/>
                    </a:solidFill>
                  </a:tcPr>
                </a:tc>
                <a:tc>
                  <a:txBody>
                    <a:bodyPr lIns="76200" tIns="57150" rIns="76200" bIns="57150">
                      <a:noAutofit/>
                    </a:bodyPr>
                    <a:lstStyle/>
                    <a:p>
                      <a:pPr algn="ctr"/>
                      <a:r>
                        <a:rPr sz="1388" b="1">
                          <a:solidFill>
                            <a:srgbClr val="202B36"/>
                          </a:solidFill>
                          <a:latin typeface="Calibri"/>
                          <a:ea typeface="Calibri"/>
                          <a:cs typeface="Calibri"/>
                        </a:rPr>
                        <a:t>56.4 MB / 25.7 ms</a:t>
                      </a:r>
                    </a:p>
                  </a:txBody>
                  <a:tcPr marL="91440" marR="91440" marT="45720" marB="45720" anchor="ctr">
                    <a:solidFill>
                      <a:srgbClr val="F8F1E3"/>
                    </a:solidFill>
                  </a:tcPr>
                </a:tc>
              </a:tr>
              <a:tr h="352425">
                <a:tc>
                  <a:txBody>
                    <a:bodyPr lIns="76200" tIns="57150" rIns="76200" bIns="57150">
                      <a:noAutofit/>
                    </a:bodyPr>
                    <a:lstStyle/>
                    <a:p>
                      <a:pPr algn="l"/>
                      <a:r>
                        <a:rPr sz="1388" b="0">
                          <a:solidFill>
                            <a:srgbClr val="202B36"/>
                          </a:solidFill>
                          <a:latin typeface="Calibri"/>
                          <a:ea typeface="Calibri"/>
                          <a:cs typeface="Calibri"/>
                        </a:rPr>
                        <a:t>Latency (15%)  sanitize-to-plan median / p95</a:t>
                      </a:r>
                    </a:p>
                  </a:txBody>
                  <a:tcPr marL="91440" marR="91440" marT="45720" marB="45720" anchor="ctr">
                    <a:solidFill>
                      <a:srgbClr val="FFFFFF"/>
                    </a:solidFill>
                  </a:tcPr>
                </a:tc>
                <a:tc>
                  <a:txBody>
                    <a:bodyPr lIns="76200" tIns="57150" rIns="76200" bIns="57150">
                      <a:noAutofit/>
                    </a:bodyPr>
                    <a:lstStyle/>
                    <a:p>
                      <a:pPr algn="ctr"/>
                      <a:r>
                        <a:rPr sz="1388" b="0">
                          <a:solidFill>
                            <a:srgbClr val="202B36"/>
                          </a:solidFill>
                          <a:latin typeface="Calibri"/>
                          <a:ea typeface="Calibri"/>
                          <a:cs typeface="Calibri"/>
                        </a:rPr>
                        <a:t>339 / 467 ms</a:t>
                      </a:r>
                    </a:p>
                  </a:txBody>
                  <a:tcPr marL="91440" marR="91440" marT="45720" marB="45720" anchor="ctr">
                    <a:solidFill>
                      <a:srgbClr val="FFFFFF"/>
                    </a:solidFill>
                  </a:tcPr>
                </a:tc>
                <a:tc>
                  <a:txBody>
                    <a:bodyPr lIns="76200" tIns="57150" rIns="76200" bIns="57150">
                      <a:noAutofit/>
                    </a:bodyPr>
                    <a:lstStyle/>
                    <a:p>
                      <a:pPr algn="ctr"/>
                      <a:r>
                        <a:rPr sz="1388" b="1">
                          <a:solidFill>
                            <a:srgbClr val="202B36"/>
                          </a:solidFill>
                          <a:latin typeface="Calibri"/>
                          <a:ea typeface="Calibri"/>
                          <a:cs typeface="Calibri"/>
                        </a:rPr>
                        <a:t>47 / 48 ms</a:t>
                      </a:r>
                    </a:p>
                  </a:txBody>
                  <a:tcPr marL="91440" marR="91440" marT="45720" marB="45720" anchor="ctr">
                    <a:solidFill>
                      <a:srgbClr val="F8F1E3"/>
                    </a:solidFill>
                  </a:tcPr>
                </a:tc>
              </a:tr>
            </a:tbl>
          </a:graphicData>
        </a:graphic>
      </p:graphicFrame>
      <p:sp>
        <p:nvSpPr>
          <p:cNvPr id="101" name="rev-72">
            <a:extLst xmlns:a="http://schemas.openxmlformats.org/drawingml/2006/main">
              <a:ext uri="{FF2B5EF4-FFF2-40B4-BE49-F238E27FC236}">
                <a16:creationId xmlns:a16="http://schemas.microsoft.com/office/drawing/2014/main" id="{E4A49F45-B239-4CE5-BA2D-D3644EAF0DB4}"/>
              </a:ext>
            </a:extLst>
          </p:cNvPr>
          <p:cNvSpPr>
            <a:spLocks xmlns:a="http://schemas.openxmlformats.org/drawingml/2006/main" noGrp="1"/>
          </p:cNvSpPr>
          <p:nvPr/>
        </p:nvSpPr>
        <p:spPr>
          <a:xfrm xmlns:a="http://schemas.openxmlformats.org/drawingml/2006/main">
            <a:off x="457200" y="3962400"/>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53616D"/>
                </a:solidFill>
                <a:latin typeface="Calibri"/>
                <a:ea typeface="Calibri"/>
                <a:cs typeface="Calibri"/>
              </a:defRPr>
            </a:pPr>
            <a:r>
              <a:rPr sz="1200">
                <a:solidFill>
                  <a:srgbClr val="53616D"/>
                </a:solidFill>
                <a:latin typeface="Calibri"/>
                <a:ea typeface="Calibri"/>
                <a:cs typeface="Calibri"/>
              </a:rPr>
              <a:t>CPU reference harness, Intel Core Ultra 9 275HX: classical CV + rules planner. UI F1 is not mAP.</a:t>
            </a:r>
          </a:p>
        </p:txBody>
      </p:sp>
      <p:sp>
        <p:nvSpPr>
          <p:cNvPr id="102" name="rev-73">
            <a:extLst xmlns:a="http://schemas.openxmlformats.org/drawingml/2006/main">
              <a:ext uri="{FF2B5EF4-FFF2-40B4-BE49-F238E27FC236}">
                <a16:creationId xmlns:a16="http://schemas.microsoft.com/office/drawing/2014/main" id="{D3B2B3C6-99F6-4AA4-994A-1BB1892D1B5F}"/>
              </a:ext>
            </a:extLst>
          </p:cNvPr>
          <p:cNvSpPr>
            <a:spLocks xmlns:a="http://schemas.openxmlformats.org/drawingml/2006/main" noGrp="1"/>
          </p:cNvSpPr>
          <p:nvPr/>
        </p:nvSpPr>
        <p:spPr>
          <a:xfrm xmlns:a="http://schemas.openxmlformats.org/drawingml/2006/main">
            <a:off x="457200" y="4210050"/>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53616D"/>
                </a:solidFill>
                <a:latin typeface="Calibri"/>
                <a:ea typeface="Calibri"/>
                <a:cs typeface="Calibri"/>
              </a:defRPr>
            </a:pPr>
            <a:r>
              <a:rPr sz="1200">
                <a:solidFill>
                  <a:srgbClr val="53616D"/>
                </a:solidFill>
                <a:latin typeface="Calibri"/>
                <a:ea typeface="Calibri"/>
                <a:cs typeface="Calibri"/>
              </a:rPr>
              <a:t>RAM and CPU exclude the Tesseract child process. Latency excludes browser execution and verification.</a:t>
            </a:r>
          </a:p>
        </p:txBody>
      </p:sp>
      <p:sp>
        <p:nvSpPr>
          <p:cNvPr id="103" name="rev-74">
            <a:extLst xmlns:a="http://schemas.openxmlformats.org/drawingml/2006/main">
              <a:ext uri="{FF2B5EF4-FFF2-40B4-BE49-F238E27FC236}">
                <a16:creationId xmlns:a16="http://schemas.microsoft.com/office/drawing/2014/main" id="{A50E234F-0208-45FA-8692-1C8DE1A19AA8}"/>
              </a:ext>
            </a:extLst>
          </p:cNvPr>
          <p:cNvSpPr>
            <a:spLocks xmlns:a="http://schemas.openxmlformats.org/drawingml/2006/main" noGrp="1"/>
          </p:cNvSpPr>
          <p:nvPr/>
        </p:nvSpPr>
        <p:spPr>
          <a:xfrm xmlns:a="http://schemas.openxmlformats.org/drawingml/2006/main">
            <a:off x="457200" y="4572000"/>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36514"/>
                </a:solidFill>
                <a:latin typeface="Calibri"/>
                <a:ea typeface="Calibri"/>
                <a:cs typeface="Calibri"/>
              </a:defRPr>
            </a:pPr>
            <a:r>
              <a:rPr sz="1500" b="1">
                <a:solidFill>
                  <a:srgbClr val="936514"/>
                </a:solidFill>
                <a:latin typeface="Calibri"/>
                <a:ea typeface="Calibri"/>
                <a:cs typeface="Calibri"/>
              </a:rPr>
              <a:t>Challenges and improvement strategy</a:t>
            </a:r>
          </a:p>
        </p:txBody>
      </p:sp>
      <p:sp>
        <p:nvSpPr>
          <p:cNvPr id="104" name="rev-75">
            <a:extLst xmlns:a="http://schemas.openxmlformats.org/drawingml/2006/main">
              <a:ext uri="{FF2B5EF4-FFF2-40B4-BE49-F238E27FC236}">
                <a16:creationId xmlns:a16="http://schemas.microsoft.com/office/drawing/2014/main" id="{2D238F3F-936D-48E2-8A1C-D294B85FD082}"/>
              </a:ext>
            </a:extLst>
          </p:cNvPr>
          <p:cNvSpPr>
            <a:spLocks xmlns:a="http://schemas.openxmlformats.org/drawingml/2006/main" noGrp="1"/>
          </p:cNvSpPr>
          <p:nvPr/>
        </p:nvSpPr>
        <p:spPr>
          <a:xfrm xmlns:a="http://schemas.openxmlformats.org/drawingml/2006/main">
            <a:off x="457200" y="491490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DOM-blind redaction recall: 0.878. Add label-aware OCR, then port and test selective escalation in the browser.</a:t>
            </a:r>
          </a:p>
        </p:txBody>
      </p:sp>
      <p:sp>
        <p:nvSpPr>
          <p:cNvPr id="105" name="rev-76">
            <a:extLst xmlns:a="http://schemas.openxmlformats.org/drawingml/2006/main">
              <a:ext uri="{FF2B5EF4-FFF2-40B4-BE49-F238E27FC236}">
                <a16:creationId xmlns:a16="http://schemas.microsoft.com/office/drawing/2014/main" id="{E830935B-8FC6-4AA0-AB18-63761A7CD4D2}"/>
              </a:ext>
            </a:extLst>
          </p:cNvPr>
          <p:cNvSpPr>
            <a:spLocks xmlns:a="http://schemas.openxmlformats.org/drawingml/2006/main" noGrp="1"/>
          </p:cNvSpPr>
          <p:nvPr/>
        </p:nvSpPr>
        <p:spPr>
          <a:xfrm xmlns:a="http://schemas.openxmlformats.org/drawingml/2006/main">
            <a:off x="457200" y="53625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36514"/>
                </a:solidFill>
                <a:latin typeface="Calibri"/>
                <a:ea typeface="Calibri"/>
                <a:cs typeface="Calibri"/>
              </a:defRPr>
            </a:pPr>
            <a:r>
              <a:rPr sz="1500" b="1">
                <a:solidFill>
                  <a:srgbClr val="936514"/>
                </a:solidFill>
                <a:latin typeface="Calibri"/>
                <a:ea typeface="Calibri"/>
                <a:cs typeface="Calibri"/>
              </a:rPr>
              <a:t>Still not measured</a:t>
            </a:r>
          </a:p>
        </p:txBody>
      </p:sp>
      <p:sp>
        <p:nvSpPr>
          <p:cNvPr id="106" name="step-77">
            <a:extLst xmlns:a="http://schemas.openxmlformats.org/drawingml/2006/main">
              <a:ext uri="{FF2B5EF4-FFF2-40B4-BE49-F238E27FC236}">
                <a16:creationId xmlns:a16="http://schemas.microsoft.com/office/drawing/2014/main" id="{23447DE5-DCC5-4A46-BD71-2FB552CC8E7E}"/>
              </a:ext>
            </a:extLst>
          </p:cNvPr>
          <p:cNvSpPr>
            <a:spLocks xmlns:a="http://schemas.openxmlformats.org/drawingml/2006/main" noGrp="1"/>
          </p:cNvSpPr>
          <p:nvPr/>
        </p:nvSpPr>
        <p:spPr>
          <a:xfrm xmlns:a="http://schemas.openxmlformats.org/drawingml/2006/main">
            <a:off x="457200" y="5743575"/>
            <a:ext cx="276225" cy="276225"/>
          </a:xfrm>
          <a:prstGeom xmlns:a="http://schemas.openxmlformats.org/drawingml/2006/main" prst="ellipse">
            <a:avLst/>
          </a:prstGeom>
          <a:solidFill xmlns:a="http://schemas.openxmlformats.org/drawingml/2006/main">
            <a:srgbClr val="936514"/>
          </a:solidFill>
          <a:ln xmlns:a="http://schemas.openxmlformats.org/drawingml/2006/main" w="0">
            <a:noFill/>
          </a:ln>
        </p:spPr>
      </p:sp>
      <p:sp>
        <p:nvSpPr>
          <p:cNvPr id="107" name="rev-78">
            <a:extLst xmlns:a="http://schemas.openxmlformats.org/drawingml/2006/main">
              <a:ext uri="{FF2B5EF4-FFF2-40B4-BE49-F238E27FC236}">
                <a16:creationId xmlns:a16="http://schemas.microsoft.com/office/drawing/2014/main" id="{B29718D0-B31C-404E-B3D2-194203CD2E21}"/>
              </a:ext>
            </a:extLst>
          </p:cNvPr>
          <p:cNvSpPr>
            <a:spLocks xmlns:a="http://schemas.openxmlformats.org/drawingml/2006/main" noGrp="1"/>
          </p:cNvSpPr>
          <p:nvPr/>
        </p:nvSpPr>
        <p:spPr>
          <a:xfrm xmlns:a="http://schemas.openxmlformats.org/drawingml/2006/main">
            <a:off x="457200" y="5762625"/>
            <a:ext cx="276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1</a:t>
            </a:r>
          </a:p>
        </p:txBody>
      </p:sp>
      <p:sp>
        <p:nvSpPr>
          <p:cNvPr id="108" name="rev-79">
            <a:extLst xmlns:a="http://schemas.openxmlformats.org/drawingml/2006/main">
              <a:ext uri="{FF2B5EF4-FFF2-40B4-BE49-F238E27FC236}">
                <a16:creationId xmlns:a16="http://schemas.microsoft.com/office/drawing/2014/main" id="{D76AFFCB-192D-4E9C-8B3D-A3C1B3302405}"/>
              </a:ext>
            </a:extLst>
          </p:cNvPr>
          <p:cNvSpPr>
            <a:spLocks xmlns:a="http://schemas.openxmlformats.org/drawingml/2006/main" noGrp="1"/>
          </p:cNvSpPr>
          <p:nvPr/>
        </p:nvSpPr>
        <p:spPr>
          <a:xfrm xmlns:a="http://schemas.openxmlformats.org/drawingml/2006/main">
            <a:off x="847725" y="5743575"/>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936514"/>
                </a:solidFill>
                <a:latin typeface="Calibri"/>
                <a:ea typeface="Calibri"/>
                <a:cs typeface="Calibri"/>
              </a:defRPr>
            </a:pPr>
            <a:r>
              <a:rPr sz="1425" b="1">
                <a:solidFill>
                  <a:srgbClr val="936514"/>
                </a:solidFill>
                <a:latin typeface="Calibri"/>
                <a:ea typeface="Calibri"/>
                <a:cs typeface="Calibri"/>
              </a:rPr>
              <a:t>Trained ONNX detector</a:t>
            </a:r>
          </a:p>
        </p:txBody>
      </p:sp>
      <p:sp>
        <p:nvSpPr>
          <p:cNvPr id="109" name="rev-80">
            <a:extLst xmlns:a="http://schemas.openxmlformats.org/drawingml/2006/main">
              <a:ext uri="{FF2B5EF4-FFF2-40B4-BE49-F238E27FC236}">
                <a16:creationId xmlns:a16="http://schemas.microsoft.com/office/drawing/2014/main" id="{5D20AE8A-3797-4D22-80F5-F5CF711F821C}"/>
              </a:ext>
            </a:extLst>
          </p:cNvPr>
          <p:cNvSpPr>
            <a:spLocks xmlns:a="http://schemas.openxmlformats.org/drawingml/2006/main" noGrp="1"/>
          </p:cNvSpPr>
          <p:nvPr/>
        </p:nvSpPr>
        <p:spPr>
          <a:xfrm xmlns:a="http://schemas.openxmlformats.org/drawingml/2006/main">
            <a:off x="847725" y="6048375"/>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53616D"/>
                </a:solidFill>
                <a:latin typeface="Calibri"/>
                <a:ea typeface="Calibri"/>
                <a:cs typeface="Calibri"/>
              </a:defRPr>
            </a:pPr>
            <a:r>
              <a:rPr sz="1200">
                <a:solidFill>
                  <a:srgbClr val="53616D"/>
                </a:solidFill>
                <a:latin typeface="Calibri"/>
                <a:ea typeface="Calibri"/>
                <a:cs typeface="Calibri"/>
              </a:rPr>
              <a:t>Accuracy on held-out screens</a:t>
            </a:r>
          </a:p>
        </p:txBody>
      </p:sp>
      <p:sp>
        <p:nvSpPr>
          <p:cNvPr id="110" name="step-81">
            <a:extLst xmlns:a="http://schemas.openxmlformats.org/drawingml/2006/main">
              <a:ext uri="{FF2B5EF4-FFF2-40B4-BE49-F238E27FC236}">
                <a16:creationId xmlns:a16="http://schemas.microsoft.com/office/drawing/2014/main" id="{0EE94A36-492E-4931-8878-B4F95AE7E171}"/>
              </a:ext>
            </a:extLst>
          </p:cNvPr>
          <p:cNvSpPr>
            <a:spLocks xmlns:a="http://schemas.openxmlformats.org/drawingml/2006/main" noGrp="1"/>
          </p:cNvSpPr>
          <p:nvPr/>
        </p:nvSpPr>
        <p:spPr>
          <a:xfrm xmlns:a="http://schemas.openxmlformats.org/drawingml/2006/main">
            <a:off x="4286250" y="5743575"/>
            <a:ext cx="276225" cy="276225"/>
          </a:xfrm>
          <a:prstGeom xmlns:a="http://schemas.openxmlformats.org/drawingml/2006/main" prst="ellipse">
            <a:avLst/>
          </a:prstGeom>
          <a:solidFill xmlns:a="http://schemas.openxmlformats.org/drawingml/2006/main">
            <a:srgbClr val="936514"/>
          </a:solidFill>
          <a:ln xmlns:a="http://schemas.openxmlformats.org/drawingml/2006/main" w="0">
            <a:noFill/>
          </a:ln>
        </p:spPr>
      </p:sp>
      <p:sp>
        <p:nvSpPr>
          <p:cNvPr id="111" name="rev-82">
            <a:extLst xmlns:a="http://schemas.openxmlformats.org/drawingml/2006/main">
              <a:ext uri="{FF2B5EF4-FFF2-40B4-BE49-F238E27FC236}">
                <a16:creationId xmlns:a16="http://schemas.microsoft.com/office/drawing/2014/main" id="{A2788331-DBF3-4513-9CCD-19A43839AC59}"/>
              </a:ext>
            </a:extLst>
          </p:cNvPr>
          <p:cNvSpPr>
            <a:spLocks xmlns:a="http://schemas.openxmlformats.org/drawingml/2006/main" noGrp="1"/>
          </p:cNvSpPr>
          <p:nvPr/>
        </p:nvSpPr>
        <p:spPr>
          <a:xfrm xmlns:a="http://schemas.openxmlformats.org/drawingml/2006/main">
            <a:off x="4286250" y="5762625"/>
            <a:ext cx="276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2</a:t>
            </a:r>
          </a:p>
        </p:txBody>
      </p:sp>
      <p:sp>
        <p:nvSpPr>
          <p:cNvPr id="112" name="rev-83">
            <a:extLst xmlns:a="http://schemas.openxmlformats.org/drawingml/2006/main">
              <a:ext uri="{FF2B5EF4-FFF2-40B4-BE49-F238E27FC236}">
                <a16:creationId xmlns:a16="http://schemas.microsoft.com/office/drawing/2014/main" id="{0F32349A-9672-4E8A-894C-758C5824ACB4}"/>
              </a:ext>
            </a:extLst>
          </p:cNvPr>
          <p:cNvSpPr>
            <a:spLocks xmlns:a="http://schemas.openxmlformats.org/drawingml/2006/main" noGrp="1"/>
          </p:cNvSpPr>
          <p:nvPr/>
        </p:nvSpPr>
        <p:spPr>
          <a:xfrm xmlns:a="http://schemas.openxmlformats.org/drawingml/2006/main">
            <a:off x="4676775" y="5743575"/>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936514"/>
                </a:solidFill>
                <a:latin typeface="Calibri"/>
                <a:ea typeface="Calibri"/>
                <a:cs typeface="Calibri"/>
              </a:defRPr>
            </a:pPr>
            <a:r>
              <a:rPr sz="1425" b="1">
                <a:solidFill>
                  <a:srgbClr val="936514"/>
                </a:solidFill>
                <a:latin typeface="Calibri"/>
                <a:ea typeface="Calibri"/>
                <a:cs typeface="Calibri"/>
              </a:rPr>
              <a:t>WebGPU timing in the browser</a:t>
            </a:r>
          </a:p>
        </p:txBody>
      </p:sp>
      <p:sp>
        <p:nvSpPr>
          <p:cNvPr id="113" name="rev-84">
            <a:extLst xmlns:a="http://schemas.openxmlformats.org/drawingml/2006/main">
              <a:ext uri="{FF2B5EF4-FFF2-40B4-BE49-F238E27FC236}">
                <a16:creationId xmlns:a16="http://schemas.microsoft.com/office/drawing/2014/main" id="{6C6DB5D8-3350-4972-93FC-59C0D6072286}"/>
              </a:ext>
            </a:extLst>
          </p:cNvPr>
          <p:cNvSpPr>
            <a:spLocks xmlns:a="http://schemas.openxmlformats.org/drawingml/2006/main" noGrp="1"/>
          </p:cNvSpPr>
          <p:nvPr/>
        </p:nvSpPr>
        <p:spPr>
          <a:xfrm xmlns:a="http://schemas.openxmlformats.org/drawingml/2006/main">
            <a:off x="4676775" y="6048375"/>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53616D"/>
                </a:solidFill>
                <a:latin typeface="Calibri"/>
                <a:ea typeface="Calibri"/>
                <a:cs typeface="Calibri"/>
              </a:defRPr>
            </a:pPr>
            <a:r>
              <a:rPr sz="1200">
                <a:solidFill>
                  <a:srgbClr val="53616D"/>
                </a:solidFill>
                <a:latin typeface="Calibri"/>
                <a:ea typeface="Calibri"/>
                <a:cs typeface="Calibri"/>
              </a:rPr>
              <a:t>Cold / warm inference and memory</a:t>
            </a:r>
          </a:p>
        </p:txBody>
      </p:sp>
      <p:sp>
        <p:nvSpPr>
          <p:cNvPr id="114" name="step-85">
            <a:extLst xmlns:a="http://schemas.openxmlformats.org/drawingml/2006/main">
              <a:ext uri="{FF2B5EF4-FFF2-40B4-BE49-F238E27FC236}">
                <a16:creationId xmlns:a16="http://schemas.microsoft.com/office/drawing/2014/main" id="{F02ACD20-E526-443D-866B-71A66E9FA4BD}"/>
              </a:ext>
            </a:extLst>
          </p:cNvPr>
          <p:cNvSpPr>
            <a:spLocks xmlns:a="http://schemas.openxmlformats.org/drawingml/2006/main" noGrp="1"/>
          </p:cNvSpPr>
          <p:nvPr/>
        </p:nvSpPr>
        <p:spPr>
          <a:xfrm xmlns:a="http://schemas.openxmlformats.org/drawingml/2006/main">
            <a:off x="8115300" y="5743575"/>
            <a:ext cx="276225" cy="276225"/>
          </a:xfrm>
          <a:prstGeom xmlns:a="http://schemas.openxmlformats.org/drawingml/2006/main" prst="ellipse">
            <a:avLst/>
          </a:prstGeom>
          <a:solidFill xmlns:a="http://schemas.openxmlformats.org/drawingml/2006/main">
            <a:srgbClr val="936514"/>
          </a:solidFill>
          <a:ln xmlns:a="http://schemas.openxmlformats.org/drawingml/2006/main" w="0">
            <a:noFill/>
          </a:ln>
        </p:spPr>
      </p:sp>
      <p:sp>
        <p:nvSpPr>
          <p:cNvPr id="115" name="rev-86">
            <a:extLst xmlns:a="http://schemas.openxmlformats.org/drawingml/2006/main">
              <a:ext uri="{FF2B5EF4-FFF2-40B4-BE49-F238E27FC236}">
                <a16:creationId xmlns:a16="http://schemas.microsoft.com/office/drawing/2014/main" id="{643860C8-CCCD-4457-A485-7E334B721BF1}"/>
              </a:ext>
            </a:extLst>
          </p:cNvPr>
          <p:cNvSpPr>
            <a:spLocks xmlns:a="http://schemas.openxmlformats.org/drawingml/2006/main" noGrp="1"/>
          </p:cNvSpPr>
          <p:nvPr/>
        </p:nvSpPr>
        <p:spPr>
          <a:xfrm xmlns:a="http://schemas.openxmlformats.org/drawingml/2006/main">
            <a:off x="8115300" y="5762625"/>
            <a:ext cx="276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a:solidFill>
                  <a:srgbClr val="FFFFFF"/>
                </a:solidFill>
                <a:latin typeface="Calibri"/>
                <a:ea typeface="Calibri"/>
                <a:cs typeface="Calibri"/>
              </a:defRPr>
            </a:pPr>
            <a:r>
              <a:rPr sz="1350" b="1">
                <a:solidFill>
                  <a:srgbClr val="FFFFFF"/>
                </a:solidFill>
                <a:latin typeface="Calibri"/>
                <a:ea typeface="Calibri"/>
                <a:cs typeface="Calibri"/>
              </a:rPr>
              <a:t>3</a:t>
            </a:r>
          </a:p>
        </p:txBody>
      </p:sp>
      <p:sp>
        <p:nvSpPr>
          <p:cNvPr id="116" name="rev-87">
            <a:extLst xmlns:a="http://schemas.openxmlformats.org/drawingml/2006/main">
              <a:ext uri="{FF2B5EF4-FFF2-40B4-BE49-F238E27FC236}">
                <a16:creationId xmlns:a16="http://schemas.microsoft.com/office/drawing/2014/main" id="{9469513C-889A-439F-9495-0388F111BFDB}"/>
              </a:ext>
            </a:extLst>
          </p:cNvPr>
          <p:cNvSpPr>
            <a:spLocks xmlns:a="http://schemas.openxmlformats.org/drawingml/2006/main" noGrp="1"/>
          </p:cNvSpPr>
          <p:nvPr/>
        </p:nvSpPr>
        <p:spPr>
          <a:xfrm xmlns:a="http://schemas.openxmlformats.org/drawingml/2006/main">
            <a:off x="8505825" y="5743575"/>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936514"/>
                </a:solidFill>
                <a:latin typeface="Calibri"/>
                <a:ea typeface="Calibri"/>
                <a:cs typeface="Calibri"/>
              </a:defRPr>
            </a:pPr>
            <a:r>
              <a:rPr sz="1425" b="1">
                <a:solidFill>
                  <a:srgbClr val="936514"/>
                </a:solidFill>
                <a:latin typeface="Calibri"/>
                <a:ea typeface="Calibri"/>
                <a:cs typeface="Calibri"/>
              </a:rPr>
              <a:t>Whole-task time inside the browser</a:t>
            </a:r>
          </a:p>
        </p:txBody>
      </p:sp>
      <p:sp>
        <p:nvSpPr>
          <p:cNvPr id="117" name="rev-88">
            <a:extLst xmlns:a="http://schemas.openxmlformats.org/drawingml/2006/main">
              <a:ext uri="{FF2B5EF4-FFF2-40B4-BE49-F238E27FC236}">
                <a16:creationId xmlns:a16="http://schemas.microsoft.com/office/drawing/2014/main" id="{9F0F8AD2-5AC9-40D6-ACB0-03C3780B928A}"/>
              </a:ext>
            </a:extLst>
          </p:cNvPr>
          <p:cNvSpPr>
            <a:spLocks xmlns:a="http://schemas.openxmlformats.org/drawingml/2006/main" noGrp="1"/>
          </p:cNvSpPr>
          <p:nvPr/>
        </p:nvSpPr>
        <p:spPr>
          <a:xfrm xmlns:a="http://schemas.openxmlformats.org/drawingml/2006/main">
            <a:off x="8505825" y="6048375"/>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53616D"/>
                </a:solidFill>
                <a:latin typeface="Calibri"/>
                <a:ea typeface="Calibri"/>
                <a:cs typeface="Calibri"/>
              </a:defRPr>
            </a:pPr>
            <a:r>
              <a:rPr sz="1200">
                <a:solidFill>
                  <a:srgbClr val="53616D"/>
                </a:solidFill>
                <a:latin typeface="Calibri"/>
                <a:ea typeface="Calibri"/>
                <a:cs typeface="Calibri"/>
              </a:rPr>
              <a:t>Observe through verified completion</a:t>
            </a:r>
          </a:p>
        </p:txBody>
      </p:sp>
    </p:spTree>
    <p:extLst>
      <p:ext uri="{BB962C8B-B14F-4D97-AF65-F5344CB8AC3E}">
        <p14:creationId xmlns:p14="http://schemas.microsoft.com/office/powerpoint/2010/main" val="139996905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CF51B21-30AA-49FA-8D89-BF33DCFEBAE5}"/>
              </a:ext>
            </a:extLst>
          </p:cNvPr>
          <p:cNvSpPr>
            <a:spLocks xmlns:a="http://schemas.openxmlformats.org/drawingml/2006/main" noGrp="1"/>
          </p:cNvSpPr>
          <p:nvPr/>
        </p:nvSpPr>
        <p:spPr>
          <a:xfrm xmlns:a="http://schemas.openxmlformats.org/drawingml/2006/main">
            <a:off x="384048" y="201168"/>
            <a:ext cx="1371600" cy="530352"/>
          </a:xfrm>
          <a:prstGeom xmlns:a="http://schemas.openxmlformats.org/drawingml/2006/main" prst="ellipse">
            <a:avLst/>
          </a:prstGeom>
          <a:solidFill xmlns:a="http://schemas.openxmlformats.org/drawingml/2006/main">
            <a:srgbClr val="E3F1F2"/>
          </a:solidFill>
          <a:ln xmlns:a="http://schemas.openxmlformats.org/drawingml/2006/main" w="19050">
            <a:solidFill>
              <a:srgbClr val="0E7C86"/>
            </a:solidFill>
            <a:prstDash val="solid"/>
          </a:ln>
          <a:effectLst xmlns:a="http://schemas.openxmlformats.org/drawingml/2006/main">
            <a:outerShdw blurRad="76200" dist="12700" dir="5400000" algn="bl" rotWithShape="0">
              <a:srgbClr val="9FB0C0">
                <a:alpha val="28000"/>
              </a:srgbClr>
            </a:outerShdw>
          </a:effectLst>
        </p:spPr>
      </p:sp>
      <p:sp>
        <p:nvSpPr>
          <p:cNvPr id="3" name="Text 1">
            <a:extLst xmlns:a="http://schemas.openxmlformats.org/drawingml/2006/main">
              <a:ext uri="{FF2B5EF4-FFF2-40B4-BE49-F238E27FC236}">
                <a16:creationId xmlns:a16="http://schemas.microsoft.com/office/drawing/2014/main" id="{E25A6B43-97A1-426C-BE97-262E8A504593}"/>
              </a:ext>
            </a:extLst>
          </p:cNvPr>
          <p:cNvSpPr>
            <a:spLocks xmlns:a="http://schemas.openxmlformats.org/drawingml/2006/main" noGrp="1"/>
          </p:cNvSpPr>
          <p:nvPr/>
        </p:nvSpPr>
        <p:spPr>
          <a:xfrm xmlns:a="http://schemas.openxmlformats.org/drawingml/2006/main">
            <a:off x="384048" y="320040"/>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A5F67"/>
                </a:solidFill>
                <a:latin typeface="Calibri"/>
                <a:ea typeface="Calibri"/>
                <a:cs typeface="Calibri"/>
              </a:rPr>
              <a:t>NEXORA</a:t>
            </a:r>
            <a:endParaRPr sz="1250"/>
          </a:p>
        </p:txBody>
      </p:sp>
      <p:sp>
        <p:nvSpPr>
          <p:cNvPr id="4" name="Text 2">
            <a:extLst xmlns:a="http://schemas.openxmlformats.org/drawingml/2006/main">
              <a:ext uri="{FF2B5EF4-FFF2-40B4-BE49-F238E27FC236}">
                <a16:creationId xmlns:a16="http://schemas.microsoft.com/office/drawing/2014/main" id="{544C295D-A093-41CA-8ADF-39FEA7D5A937}"/>
              </a:ext>
            </a:extLst>
          </p:cNvPr>
          <p:cNvSpPr>
            <a:spLocks xmlns:a="http://schemas.openxmlformats.org/drawingml/2006/main" noGrp="1"/>
          </p:cNvSpPr>
          <p:nvPr/>
        </p:nvSpPr>
        <p:spPr>
          <a:xfrm xmlns:a="http://schemas.openxmlformats.org/drawingml/2006/main">
            <a:off x="2011680" y="201168"/>
            <a:ext cx="7863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1F4E79"/>
                </a:solidFill>
                <a:latin typeface="Cambria"/>
                <a:ea typeface="Cambria"/>
                <a:cs typeface="Cambria"/>
              </a:rPr>
              <a:t>IMPACT AND BENEFITS</a:t>
            </a:r>
            <a:endParaRPr sz="2800"/>
          </a:p>
        </p:txBody>
      </p:sp>
      <p:pic>
        <p:nvPicPr>
          <p:cNvPr id="110" name="Image 0"/>
          <p:cNvPicPr>
            <a:picLocks xmlns:a="http://schemas.openxmlformats.org/drawingml/2006/main" noChangeAspect="1"/>
          </p:cNvPicPr>
          <p:nvPr/>
        </p:nvPicPr>
        <p:blipFill>
          <a:blip xmlns:r="http://schemas.openxmlformats.org/officeDocument/2006/relationships" xmlns:a="http://schemas.openxmlformats.org/drawingml/2006/main" r:embed="R89c4bca2056844c5"/>
          <a:stretch xmlns:a="http://schemas.openxmlformats.org/drawingml/2006/main">
            <a:fillRect l="0" t="0" r="0" b="0"/>
          </a:stretch>
        </p:blipFill>
        <p:spPr>
          <a:xfrm xmlns:a="http://schemas.openxmlformats.org/drawingml/2006/main">
            <a:off x="10287000" y="164592"/>
            <a:ext cx="1554480" cy="731520"/>
          </a:xfrm>
          <a:prstGeom xmlns:a="http://schemas.openxmlformats.org/drawingml/2006/main" prst="rect">
            <a:avLst/>
          </a:prstGeom>
          <a:effectLst xmlns:a="http://schemas.openxmlformats.org/drawingml/2006/main">
            <a:outerShdw blurRad="76200" dist="12700" dir="5400000" algn="bl" rotWithShape="0">
              <a:srgbClr val="9FB0C0">
                <a:alpha val="28000"/>
              </a:srgbClr>
            </a:outerShdw>
          </a:effectLst>
        </p:spPr>
      </p:pic>
      <p:sp>
        <p:nvSpPr>
          <p:cNvPr id="7" name="Shape 4">
            <a:extLst xmlns:a="http://schemas.openxmlformats.org/drawingml/2006/main">
              <a:ext uri="{FF2B5EF4-FFF2-40B4-BE49-F238E27FC236}">
                <a16:creationId xmlns:a16="http://schemas.microsoft.com/office/drawing/2014/main" id="{550C2030-2162-4359-A507-ED53EAB85406}"/>
              </a:ext>
            </a:extLst>
          </p:cNvPr>
          <p:cNvSpPr>
            <a:spLocks xmlns:a="http://schemas.openxmlformats.org/drawingml/2006/main" noGrp="1"/>
          </p:cNvSpPr>
          <p:nvPr/>
        </p:nvSpPr>
        <p:spPr>
          <a:xfrm xmlns:a="http://schemas.openxmlformats.org/drawingml/2006/main">
            <a:off x="0" y="6446520"/>
            <a:ext cx="12191695" cy="411480"/>
          </a:xfrm>
          <a:prstGeom xmlns:a="http://schemas.openxmlformats.org/drawingml/2006/main" prst="rect">
            <a:avLst/>
          </a:prstGeom>
          <a:solidFill xmlns:a="http://schemas.openxmlformats.org/drawingml/2006/main">
            <a:srgbClr val="0071C1"/>
          </a:solidFill>
        </p:spPr>
      </p:sp>
      <p:sp>
        <p:nvSpPr>
          <p:cNvPr id="9" name="Text 6">
            <a:extLst xmlns:a="http://schemas.openxmlformats.org/drawingml/2006/main">
              <a:ext uri="{FF2B5EF4-FFF2-40B4-BE49-F238E27FC236}">
                <a16:creationId xmlns:a16="http://schemas.microsoft.com/office/drawing/2014/main" id="{9387D32B-91CD-4335-BF12-05D9633B7B7B}"/>
              </a:ext>
            </a:extLst>
          </p:cNvPr>
          <p:cNvSpPr>
            <a:spLocks xmlns:a="http://schemas.openxmlformats.org/drawingml/2006/main" noGrp="1"/>
          </p:cNvSpPr>
          <p:nvPr/>
        </p:nvSpPr>
        <p:spPr>
          <a:xfrm xmlns:a="http://schemas.openxmlformats.org/drawingml/2006/main">
            <a:off x="11338560" y="6537960"/>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5</a:t>
            </a:r>
            <a:endParaRPr sz="1250"/>
          </a:p>
        </p:txBody>
      </p:sp>
      <p:sp>
        <p:nvSpPr>
          <p:cNvPr id="64" name="rev-89">
            <a:extLst xmlns:a="http://schemas.openxmlformats.org/drawingml/2006/main">
              <a:ext uri="{FF2B5EF4-FFF2-40B4-BE49-F238E27FC236}">
                <a16:creationId xmlns:a16="http://schemas.microsoft.com/office/drawing/2014/main" id="{F48BE0D0-70C8-4887-9ABE-D7238B235A6E}"/>
              </a:ext>
            </a:extLst>
          </p:cNvPr>
          <p:cNvSpPr>
            <a:spLocks xmlns:a="http://schemas.openxmlformats.org/drawingml/2006/main" noGrp="1"/>
          </p:cNvSpPr>
          <p:nvPr/>
        </p:nvSpPr>
        <p:spPr>
          <a:xfrm xmlns:a="http://schemas.openxmlformats.org/drawingml/2006/main">
            <a:off x="457200" y="9810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66466"/>
                </a:solidFill>
                <a:latin typeface="Calibri"/>
                <a:ea typeface="Calibri"/>
                <a:cs typeface="Calibri"/>
              </a:defRPr>
            </a:pPr>
            <a:r>
              <a:rPr sz="1500" b="1">
                <a:solidFill>
                  <a:srgbClr val="266466"/>
                </a:solidFill>
                <a:latin typeface="Calibri"/>
                <a:ea typeface="Calibri"/>
                <a:cs typeface="Calibri"/>
              </a:rPr>
              <a:t>Potential impact on the target audience</a:t>
            </a:r>
          </a:p>
        </p:txBody>
      </p:sp>
      <p:sp>
        <p:nvSpPr>
          <p:cNvPr id="65" name="rev-90">
            <a:extLst xmlns:a="http://schemas.openxmlformats.org/drawingml/2006/main">
              <a:ext uri="{FF2B5EF4-FFF2-40B4-BE49-F238E27FC236}">
                <a16:creationId xmlns:a16="http://schemas.microsoft.com/office/drawing/2014/main" id="{73E34827-C578-4696-9BD4-6CEA665C1665}"/>
              </a:ext>
            </a:extLst>
          </p:cNvPr>
          <p:cNvSpPr>
            <a:spLocks xmlns:a="http://schemas.openxmlformats.org/drawingml/2006/main" noGrp="1"/>
          </p:cNvSpPr>
          <p:nvPr/>
        </p:nvSpPr>
        <p:spPr>
          <a:xfrm xmlns:a="http://schemas.openxmlformats.org/drawingml/2006/main">
            <a:off x="457200" y="132397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02B36"/>
                </a:solidFill>
                <a:latin typeface="Calibri"/>
                <a:ea typeface="Calibri"/>
                <a:cs typeface="Calibri"/>
              </a:defRPr>
            </a:pPr>
            <a:r>
              <a:rPr sz="2100" b="1">
                <a:solidFill>
                  <a:srgbClr val="202B36"/>
                </a:solidFill>
                <a:latin typeface="Calibri"/>
                <a:ea typeface="Calibri"/>
                <a:cs typeface="Calibri"/>
              </a:rPr>
              <a:t>Private assistance for authenticated portal tasks</a:t>
            </a:r>
          </a:p>
        </p:txBody>
      </p:sp>
      <p:sp>
        <p:nvSpPr>
          <p:cNvPr id="66" name="rev-91">
            <a:extLst xmlns:a="http://schemas.openxmlformats.org/drawingml/2006/main">
              <a:ext uri="{FF2B5EF4-FFF2-40B4-BE49-F238E27FC236}">
                <a16:creationId xmlns:a16="http://schemas.microsoft.com/office/drawing/2014/main" id="{F0E5F9CF-17E3-4FBB-BB28-EEBC5124506D}"/>
              </a:ext>
            </a:extLst>
          </p:cNvPr>
          <p:cNvSpPr>
            <a:spLocks xmlns:a="http://schemas.openxmlformats.org/drawingml/2006/main" noGrp="1"/>
          </p:cNvSpPr>
          <p:nvPr/>
        </p:nvSpPr>
        <p:spPr>
          <a:xfrm xmlns:a="http://schemas.openxmlformats.org/drawingml/2006/main">
            <a:off x="457200" y="1733550"/>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53616D"/>
                </a:solidFill>
                <a:latin typeface="Calibri"/>
                <a:ea typeface="Calibri"/>
                <a:cs typeface="Calibri"/>
              </a:defRPr>
            </a:pPr>
            <a:r>
              <a:rPr sz="1500">
                <a:solidFill>
                  <a:srgbClr val="53616D"/>
                </a:solidFill>
                <a:latin typeface="Calibri"/>
                <a:ea typeface="Calibri"/>
                <a:cs typeface="Calibri"/>
              </a:rPr>
              <a:t>Government services, scholarships, banking KYC, health records and employee self-service.</a:t>
            </a:r>
          </a:p>
        </p:txBody>
      </p:sp>
      <p:sp>
        <p:nvSpPr>
          <p:cNvPr id="67" name="rev-92">
            <a:extLst xmlns:a="http://schemas.openxmlformats.org/drawingml/2006/main">
              <a:ext uri="{FF2B5EF4-FFF2-40B4-BE49-F238E27FC236}">
                <a16:creationId xmlns:a16="http://schemas.microsoft.com/office/drawing/2014/main" id="{6CC7137E-F64D-4EA8-8A6C-6F2EBB805D21}"/>
              </a:ext>
            </a:extLst>
          </p:cNvPr>
          <p:cNvSpPr>
            <a:spLocks xmlns:a="http://schemas.openxmlformats.org/drawingml/2006/main" noGrp="1"/>
          </p:cNvSpPr>
          <p:nvPr/>
        </p:nvSpPr>
        <p:spPr>
          <a:xfrm xmlns:a="http://schemas.openxmlformats.org/drawingml/2006/main">
            <a:off x="457200" y="22002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66466"/>
                </a:solidFill>
                <a:latin typeface="Calibri"/>
                <a:ea typeface="Calibri"/>
                <a:cs typeface="Calibri"/>
              </a:defRPr>
            </a:pPr>
            <a:r>
              <a:rPr sz="1500" b="1">
                <a:solidFill>
                  <a:srgbClr val="266466"/>
                </a:solidFill>
                <a:latin typeface="Calibri"/>
                <a:ea typeface="Calibri"/>
                <a:cs typeface="Calibri"/>
              </a:rPr>
              <a:t>Example: download a certificate or report</a:t>
            </a:r>
          </a:p>
        </p:txBody>
      </p:sp>
      <p:sp>
        <p:nvSpPr>
          <p:cNvPr id="68" name="rev-93">
            <a:extLst xmlns:a="http://schemas.openxmlformats.org/drawingml/2006/main">
              <a:ext uri="{FF2B5EF4-FFF2-40B4-BE49-F238E27FC236}">
                <a16:creationId xmlns:a16="http://schemas.microsoft.com/office/drawing/2014/main" id="{F3521BDE-88B1-4C82-967A-AF6787B6B23F}"/>
              </a:ext>
            </a:extLst>
          </p:cNvPr>
          <p:cNvSpPr>
            <a:spLocks xmlns:a="http://schemas.openxmlformats.org/drawingml/2006/main" noGrp="1"/>
          </p:cNvSpPr>
          <p:nvPr/>
        </p:nvSpPr>
        <p:spPr>
          <a:xfrm xmlns:a="http://schemas.openxmlformats.org/drawingml/2006/main">
            <a:off x="457200" y="2647950"/>
            <a:ext cx="58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66466"/>
                </a:solidFill>
                <a:latin typeface="Calibri"/>
                <a:ea typeface="Calibri"/>
                <a:cs typeface="Calibri"/>
              </a:defRPr>
            </a:pPr>
            <a:r>
              <a:rPr sz="2550" b="1">
                <a:solidFill>
                  <a:srgbClr val="266466"/>
                </a:solidFill>
                <a:latin typeface="Calibri"/>
                <a:ea typeface="Calibri"/>
                <a:cs typeface="Calibri"/>
              </a:rPr>
              <a:t>01</a:t>
            </a:r>
          </a:p>
        </p:txBody>
      </p:sp>
      <p:sp>
        <p:nvSpPr>
          <p:cNvPr id="69" name="rev-94">
            <a:extLst xmlns:a="http://schemas.openxmlformats.org/drawingml/2006/main">
              <a:ext uri="{FF2B5EF4-FFF2-40B4-BE49-F238E27FC236}">
                <a16:creationId xmlns:a16="http://schemas.microsoft.com/office/drawing/2014/main" id="{85901FE8-9A1C-4C67-B540-006EEEF43AEC}"/>
              </a:ext>
            </a:extLst>
          </p:cNvPr>
          <p:cNvSpPr>
            <a:spLocks xmlns:a="http://schemas.openxmlformats.org/drawingml/2006/main" noGrp="1"/>
          </p:cNvSpPr>
          <p:nvPr/>
        </p:nvSpPr>
        <p:spPr>
          <a:xfrm xmlns:a="http://schemas.openxmlformats.org/drawingml/2006/main">
            <a:off x="1085850" y="2695575"/>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66466"/>
                </a:solidFill>
                <a:latin typeface="Calibri"/>
                <a:ea typeface="Calibri"/>
                <a:cs typeface="Calibri"/>
              </a:defRPr>
            </a:pPr>
            <a:r>
              <a:rPr sz="1725" b="1">
                <a:solidFill>
                  <a:srgbClr val="266466"/>
                </a:solidFill>
                <a:latin typeface="Calibri"/>
                <a:ea typeface="Calibri"/>
                <a:cs typeface="Calibri"/>
              </a:rPr>
              <a:t>Protect on the device</a:t>
            </a:r>
          </a:p>
        </p:txBody>
      </p:sp>
      <p:sp>
        <p:nvSpPr>
          <p:cNvPr id="70" name="rev-95">
            <a:extLst xmlns:a="http://schemas.openxmlformats.org/drawingml/2006/main">
              <a:ext uri="{FF2B5EF4-FFF2-40B4-BE49-F238E27FC236}">
                <a16:creationId xmlns:a16="http://schemas.microsoft.com/office/drawing/2014/main" id="{7F7B8651-669F-427C-AF3F-C7439EE4B260}"/>
              </a:ext>
            </a:extLst>
          </p:cNvPr>
          <p:cNvSpPr>
            <a:spLocks xmlns:a="http://schemas.openxmlformats.org/drawingml/2006/main" noGrp="1"/>
          </p:cNvSpPr>
          <p:nvPr/>
        </p:nvSpPr>
        <p:spPr>
          <a:xfrm xmlns:a="http://schemas.openxmlformats.org/drawingml/2006/main">
            <a:off x="457200" y="3152775"/>
            <a:ext cx="3486150" cy="609600"/>
          </a:xfrm>
          <a:prstGeom xmlns:a="http://schemas.openxmlformats.org/drawingml/2006/main" prst="rect">
            <a:avLst/>
          </a:prstGeom>
          <a:solidFill xmlns:a="http://schemas.openxmlformats.org/drawingml/2006/main">
            <a:srgbClr val="EAF3F3"/>
          </a:solidFill>
          <a:ln xmlns:a="http://schemas.openxmlformats.org/drawingml/2006/main" w="9525">
            <a:solidFill>
              <a:srgbClr val="EAF3F3"/>
            </a:solidFill>
          </a:ln>
        </p:spPr>
      </p:sp>
      <p:sp>
        <p:nvSpPr>
          <p:cNvPr id="71" name="rev-96">
            <a:extLst xmlns:a="http://schemas.openxmlformats.org/drawingml/2006/main">
              <a:ext uri="{FF2B5EF4-FFF2-40B4-BE49-F238E27FC236}">
                <a16:creationId xmlns:a16="http://schemas.microsoft.com/office/drawing/2014/main" id="{3CAA44C9-B78E-4DFE-8BF8-2DCD0060A346}"/>
              </a:ext>
            </a:extLst>
          </p:cNvPr>
          <p:cNvSpPr>
            <a:spLocks xmlns:a="http://schemas.openxmlformats.org/drawingml/2006/main" noGrp="1"/>
          </p:cNvSpPr>
          <p:nvPr/>
        </p:nvSpPr>
        <p:spPr>
          <a:xfrm xmlns:a="http://schemas.openxmlformats.org/drawingml/2006/main">
            <a:off x="628650" y="3333750"/>
            <a:ext cx="1314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2B36"/>
                </a:solidFill>
                <a:latin typeface="Calibri"/>
                <a:ea typeface="Calibri"/>
                <a:cs typeface="Calibri"/>
              </a:defRPr>
            </a:pPr>
            <a:r>
              <a:rPr sz="1650" b="1">
                <a:solidFill>
                  <a:srgbClr val="202B36"/>
                </a:solidFill>
                <a:latin typeface="Calibri"/>
                <a:ea typeface="Calibri"/>
                <a:cs typeface="Calibri"/>
              </a:rPr>
              <a:t>Observe</a:t>
            </a:r>
          </a:p>
        </p:txBody>
      </p:sp>
      <p:sp>
        <p:nvSpPr>
          <p:cNvPr id="72" name="rev-97">
            <a:extLst xmlns:a="http://schemas.openxmlformats.org/drawingml/2006/main">
              <a:ext uri="{FF2B5EF4-FFF2-40B4-BE49-F238E27FC236}">
                <a16:creationId xmlns:a16="http://schemas.microsoft.com/office/drawing/2014/main" id="{CEEF7720-20E9-48A1-996E-DB5A4178DF76}"/>
              </a:ext>
            </a:extLst>
          </p:cNvPr>
          <p:cNvSpPr>
            <a:spLocks xmlns:a="http://schemas.openxmlformats.org/drawingml/2006/main" noGrp="1"/>
          </p:cNvSpPr>
          <p:nvPr/>
        </p:nvSpPr>
        <p:spPr>
          <a:xfrm xmlns:a="http://schemas.openxmlformats.org/drawingml/2006/main">
            <a:off x="2590800" y="3333750"/>
            <a:ext cx="1266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2B36"/>
                </a:solidFill>
                <a:latin typeface="Calibri"/>
                <a:ea typeface="Calibri"/>
                <a:cs typeface="Calibri"/>
              </a:defRPr>
            </a:pPr>
            <a:r>
              <a:rPr sz="1650" b="1">
                <a:solidFill>
                  <a:srgbClr val="202B36"/>
                </a:solidFill>
                <a:latin typeface="Calibri"/>
                <a:ea typeface="Calibri"/>
                <a:cs typeface="Calibri"/>
              </a:rPr>
              <a:t>Sanitize</a:t>
            </a:r>
          </a:p>
        </p:txBody>
      </p:sp>
      <p:sp>
        <p:nvSpPr>
          <p:cNvPr id="73" name="">
            <a:extLst xmlns:a="http://schemas.openxmlformats.org/drawingml/2006/main">
              <a:ext uri="{FF2B5EF4-FFF2-40B4-BE49-F238E27FC236}">
                <a16:creationId xmlns:a16="http://schemas.microsoft.com/office/drawing/2014/main" id="{CA0577FC-EA2F-4088-B041-7A80F1FD0F56}"/>
              </a:ext>
            </a:extLst>
          </p:cNvPr>
          <p:cNvSpPr>
            <a:spLocks xmlns:a="http://schemas.openxmlformats.org/drawingml/2006/main" noGrp="1"/>
          </p:cNvSpPr>
          <p:nvPr/>
        </p:nvSpPr>
        <p:spPr>
          <a:xfrm xmlns:a="http://schemas.openxmlformats.org/drawingml/2006/main">
            <a:off x="2076450" y="3419475"/>
            <a:ext cx="323850" cy="133350"/>
          </a:xfrm>
          <a:prstGeom xmlns:a="http://schemas.openxmlformats.org/drawingml/2006/main" prst="rightArrow">
            <a:avLst/>
          </a:prstGeom>
          <a:solidFill xmlns:a="http://schemas.openxmlformats.org/drawingml/2006/main">
            <a:srgbClr val="266466"/>
          </a:solidFill>
          <a:ln xmlns:a="http://schemas.openxmlformats.org/drawingml/2006/main" w="0">
            <a:noFill/>
          </a:ln>
        </p:spPr>
      </p:sp>
      <p:sp>
        <p:nvSpPr>
          <p:cNvPr id="74" name="rev-98">
            <a:extLst xmlns:a="http://schemas.openxmlformats.org/drawingml/2006/main">
              <a:ext uri="{FF2B5EF4-FFF2-40B4-BE49-F238E27FC236}">
                <a16:creationId xmlns:a16="http://schemas.microsoft.com/office/drawing/2014/main" id="{0830E4A0-FCE6-479E-B052-7F53D4CC8AEB}"/>
              </a:ext>
            </a:extLst>
          </p:cNvPr>
          <p:cNvSpPr>
            <a:spLocks xmlns:a="http://schemas.openxmlformats.org/drawingml/2006/main" noGrp="1"/>
          </p:cNvSpPr>
          <p:nvPr/>
        </p:nvSpPr>
        <p:spPr>
          <a:xfrm xmlns:a="http://schemas.openxmlformats.org/drawingml/2006/main">
            <a:off x="457200" y="3867150"/>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3616D"/>
                </a:solidFill>
                <a:latin typeface="Calibri"/>
                <a:ea typeface="Calibri"/>
                <a:cs typeface="Calibri"/>
              </a:defRPr>
            </a:pPr>
            <a:r>
              <a:rPr sz="1350">
                <a:solidFill>
                  <a:srgbClr val="53616D"/>
                </a:solidFill>
                <a:latin typeface="Calibri"/>
                <a:ea typeface="Calibri"/>
                <a:cs typeface="Calibri"/>
              </a:rPr>
              <a:t>Screen + DOM; local privacy filter</a:t>
            </a:r>
          </a:p>
        </p:txBody>
      </p:sp>
      <p:sp>
        <p:nvSpPr>
          <p:cNvPr id="75" name="">
            <a:extLst xmlns:a="http://schemas.openxmlformats.org/drawingml/2006/main">
              <a:ext uri="{FF2B5EF4-FFF2-40B4-BE49-F238E27FC236}">
                <a16:creationId xmlns:a16="http://schemas.microsoft.com/office/drawing/2014/main" id="{B7910F0D-199F-46C8-A37E-D1A7002B67F5}"/>
              </a:ext>
            </a:extLst>
          </p:cNvPr>
          <p:cNvSpPr>
            <a:spLocks xmlns:a="http://schemas.openxmlformats.org/drawingml/2006/main" noGrp="1"/>
          </p:cNvSpPr>
          <p:nvPr/>
        </p:nvSpPr>
        <p:spPr>
          <a:xfrm xmlns:a="http://schemas.openxmlformats.org/drawingml/2006/main">
            <a:off x="4057650" y="3324225"/>
            <a:ext cx="171450" cy="257175"/>
          </a:xfrm>
          <a:prstGeom xmlns:a="http://schemas.openxmlformats.org/drawingml/2006/main" prst="chevron">
            <a:avLst/>
          </a:prstGeom>
          <a:solidFill xmlns:a="http://schemas.openxmlformats.org/drawingml/2006/main">
            <a:srgbClr val="266466"/>
          </a:solidFill>
          <a:ln xmlns:a="http://schemas.openxmlformats.org/drawingml/2006/main" w="0">
            <a:noFill/>
          </a:ln>
        </p:spPr>
      </p:sp>
      <p:sp>
        <p:nvSpPr>
          <p:cNvPr id="76" name="rev-99">
            <a:extLst xmlns:a="http://schemas.openxmlformats.org/drawingml/2006/main">
              <a:ext uri="{FF2B5EF4-FFF2-40B4-BE49-F238E27FC236}">
                <a16:creationId xmlns:a16="http://schemas.microsoft.com/office/drawing/2014/main" id="{19506F70-4F13-4055-B018-A6682851EB56}"/>
              </a:ext>
            </a:extLst>
          </p:cNvPr>
          <p:cNvSpPr>
            <a:spLocks xmlns:a="http://schemas.openxmlformats.org/drawingml/2006/main" noGrp="1"/>
          </p:cNvSpPr>
          <p:nvPr/>
        </p:nvSpPr>
        <p:spPr>
          <a:xfrm xmlns:a="http://schemas.openxmlformats.org/drawingml/2006/main">
            <a:off x="4343400" y="2647950"/>
            <a:ext cx="58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66466"/>
                </a:solidFill>
                <a:latin typeface="Calibri"/>
                <a:ea typeface="Calibri"/>
                <a:cs typeface="Calibri"/>
              </a:defRPr>
            </a:pPr>
            <a:r>
              <a:rPr sz="2550" b="1">
                <a:solidFill>
                  <a:srgbClr val="266466"/>
                </a:solidFill>
                <a:latin typeface="Calibri"/>
                <a:ea typeface="Calibri"/>
                <a:cs typeface="Calibri"/>
              </a:rPr>
              <a:t>02</a:t>
            </a:r>
          </a:p>
        </p:txBody>
      </p:sp>
      <p:sp>
        <p:nvSpPr>
          <p:cNvPr id="77" name="rev-100">
            <a:extLst xmlns:a="http://schemas.openxmlformats.org/drawingml/2006/main">
              <a:ext uri="{FF2B5EF4-FFF2-40B4-BE49-F238E27FC236}">
                <a16:creationId xmlns:a16="http://schemas.microsoft.com/office/drawing/2014/main" id="{5FB05DD9-3CCD-4033-A813-6FE971A5E2F0}"/>
              </a:ext>
            </a:extLst>
          </p:cNvPr>
          <p:cNvSpPr>
            <a:spLocks xmlns:a="http://schemas.openxmlformats.org/drawingml/2006/main" noGrp="1"/>
          </p:cNvSpPr>
          <p:nvPr/>
        </p:nvSpPr>
        <p:spPr>
          <a:xfrm xmlns:a="http://schemas.openxmlformats.org/drawingml/2006/main">
            <a:off x="4972050" y="2695575"/>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66466"/>
                </a:solidFill>
                <a:latin typeface="Calibri"/>
                <a:ea typeface="Calibri"/>
                <a:cs typeface="Calibri"/>
              </a:defRPr>
            </a:pPr>
            <a:r>
              <a:rPr sz="1725" b="1">
                <a:solidFill>
                  <a:srgbClr val="266466"/>
                </a:solidFill>
                <a:latin typeface="Calibri"/>
                <a:ea typeface="Calibri"/>
                <a:cs typeface="Calibri"/>
              </a:rPr>
              <a:t>Plan from safe context</a:t>
            </a:r>
          </a:p>
        </p:txBody>
      </p:sp>
      <p:sp>
        <p:nvSpPr>
          <p:cNvPr id="78" name="rev-101">
            <a:extLst xmlns:a="http://schemas.openxmlformats.org/drawingml/2006/main">
              <a:ext uri="{FF2B5EF4-FFF2-40B4-BE49-F238E27FC236}">
                <a16:creationId xmlns:a16="http://schemas.microsoft.com/office/drawing/2014/main" id="{3F65EE96-18E7-4648-A26D-55D7FA870B07}"/>
              </a:ext>
            </a:extLst>
          </p:cNvPr>
          <p:cNvSpPr>
            <a:spLocks xmlns:a="http://schemas.openxmlformats.org/drawingml/2006/main" noGrp="1"/>
          </p:cNvSpPr>
          <p:nvPr/>
        </p:nvSpPr>
        <p:spPr>
          <a:xfrm xmlns:a="http://schemas.openxmlformats.org/drawingml/2006/main">
            <a:off x="4343400" y="3152775"/>
            <a:ext cx="3486150" cy="609600"/>
          </a:xfrm>
          <a:prstGeom xmlns:a="http://schemas.openxmlformats.org/drawingml/2006/main" prst="rect">
            <a:avLst/>
          </a:prstGeom>
          <a:solidFill xmlns:a="http://schemas.openxmlformats.org/drawingml/2006/main">
            <a:srgbClr val="EAF3F3"/>
          </a:solidFill>
          <a:ln xmlns:a="http://schemas.openxmlformats.org/drawingml/2006/main" w="9525">
            <a:solidFill>
              <a:srgbClr val="EAF3F3"/>
            </a:solidFill>
          </a:ln>
        </p:spPr>
      </p:sp>
      <p:sp>
        <p:nvSpPr>
          <p:cNvPr id="79" name="rev-102">
            <a:extLst xmlns:a="http://schemas.openxmlformats.org/drawingml/2006/main">
              <a:ext uri="{FF2B5EF4-FFF2-40B4-BE49-F238E27FC236}">
                <a16:creationId xmlns:a16="http://schemas.microsoft.com/office/drawing/2014/main" id="{BF593927-9867-4857-BE2C-CE6B2564B4F9}"/>
              </a:ext>
            </a:extLst>
          </p:cNvPr>
          <p:cNvSpPr>
            <a:spLocks xmlns:a="http://schemas.openxmlformats.org/drawingml/2006/main" noGrp="1"/>
          </p:cNvSpPr>
          <p:nvPr/>
        </p:nvSpPr>
        <p:spPr>
          <a:xfrm xmlns:a="http://schemas.openxmlformats.org/drawingml/2006/main">
            <a:off x="4514850" y="3333750"/>
            <a:ext cx="1314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2B36"/>
                </a:solidFill>
                <a:latin typeface="Calibri"/>
                <a:ea typeface="Calibri"/>
                <a:cs typeface="Calibri"/>
              </a:defRPr>
            </a:pPr>
            <a:r>
              <a:rPr sz="1650" b="1">
                <a:solidFill>
                  <a:srgbClr val="202B36"/>
                </a:solidFill>
                <a:latin typeface="Calibri"/>
                <a:ea typeface="Calibri"/>
                <a:cs typeface="Calibri"/>
              </a:rPr>
              <a:t>Send</a:t>
            </a:r>
          </a:p>
        </p:txBody>
      </p:sp>
      <p:sp>
        <p:nvSpPr>
          <p:cNvPr id="80" name="rev-103">
            <a:extLst xmlns:a="http://schemas.openxmlformats.org/drawingml/2006/main">
              <a:ext uri="{FF2B5EF4-FFF2-40B4-BE49-F238E27FC236}">
                <a16:creationId xmlns:a16="http://schemas.microsoft.com/office/drawing/2014/main" id="{03FF3DDF-8574-4B1A-A399-2194E83AA3CD}"/>
              </a:ext>
            </a:extLst>
          </p:cNvPr>
          <p:cNvSpPr>
            <a:spLocks xmlns:a="http://schemas.openxmlformats.org/drawingml/2006/main" noGrp="1"/>
          </p:cNvSpPr>
          <p:nvPr/>
        </p:nvSpPr>
        <p:spPr>
          <a:xfrm xmlns:a="http://schemas.openxmlformats.org/drawingml/2006/main">
            <a:off x="6477000" y="3333750"/>
            <a:ext cx="1266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2B36"/>
                </a:solidFill>
                <a:latin typeface="Calibri"/>
                <a:ea typeface="Calibri"/>
                <a:cs typeface="Calibri"/>
              </a:defRPr>
            </a:pPr>
            <a:r>
              <a:rPr sz="1650" b="1">
                <a:solidFill>
                  <a:srgbClr val="202B36"/>
                </a:solidFill>
                <a:latin typeface="Calibri"/>
                <a:ea typeface="Calibri"/>
                <a:cs typeface="Calibri"/>
              </a:rPr>
              <a:t>Plan</a:t>
            </a:r>
          </a:p>
        </p:txBody>
      </p:sp>
      <p:sp>
        <p:nvSpPr>
          <p:cNvPr id="81" name="">
            <a:extLst xmlns:a="http://schemas.openxmlformats.org/drawingml/2006/main">
              <a:ext uri="{FF2B5EF4-FFF2-40B4-BE49-F238E27FC236}">
                <a16:creationId xmlns:a16="http://schemas.microsoft.com/office/drawing/2014/main" id="{FF5D8D8B-3710-4E67-9B52-AE8B8AC44AC8}"/>
              </a:ext>
            </a:extLst>
          </p:cNvPr>
          <p:cNvSpPr>
            <a:spLocks xmlns:a="http://schemas.openxmlformats.org/drawingml/2006/main" noGrp="1"/>
          </p:cNvSpPr>
          <p:nvPr/>
        </p:nvSpPr>
        <p:spPr>
          <a:xfrm xmlns:a="http://schemas.openxmlformats.org/drawingml/2006/main">
            <a:off x="5962650" y="3419475"/>
            <a:ext cx="323850" cy="133350"/>
          </a:xfrm>
          <a:prstGeom xmlns:a="http://schemas.openxmlformats.org/drawingml/2006/main" prst="rightArrow">
            <a:avLst/>
          </a:prstGeom>
          <a:solidFill xmlns:a="http://schemas.openxmlformats.org/drawingml/2006/main">
            <a:srgbClr val="266466"/>
          </a:solidFill>
          <a:ln xmlns:a="http://schemas.openxmlformats.org/drawingml/2006/main" w="0">
            <a:noFill/>
          </a:ln>
        </p:spPr>
      </p:sp>
      <p:sp>
        <p:nvSpPr>
          <p:cNvPr id="82" name="rev-104">
            <a:extLst xmlns:a="http://schemas.openxmlformats.org/drawingml/2006/main">
              <a:ext uri="{FF2B5EF4-FFF2-40B4-BE49-F238E27FC236}">
                <a16:creationId xmlns:a16="http://schemas.microsoft.com/office/drawing/2014/main" id="{DB6EB0F8-0FF7-4165-952F-6DB77C87C1A6}"/>
              </a:ext>
            </a:extLst>
          </p:cNvPr>
          <p:cNvSpPr>
            <a:spLocks xmlns:a="http://schemas.openxmlformats.org/drawingml/2006/main" noGrp="1"/>
          </p:cNvSpPr>
          <p:nvPr/>
        </p:nvSpPr>
        <p:spPr>
          <a:xfrm xmlns:a="http://schemas.openxmlformats.org/drawingml/2006/main">
            <a:off x="4343400" y="3867150"/>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3616D"/>
                </a:solidFill>
                <a:latin typeface="Calibri"/>
                <a:ea typeface="Calibri"/>
                <a:cs typeface="Calibri"/>
              </a:defRPr>
            </a:pPr>
            <a:r>
              <a:rPr sz="1350">
                <a:solidFill>
                  <a:srgbClr val="53616D"/>
                </a:solidFill>
                <a:latin typeface="Calibri"/>
                <a:ea typeface="Calibri"/>
                <a:cs typeface="Calibri"/>
              </a:rPr>
              <a:t>Filtered request; choose Download</a:t>
            </a:r>
          </a:p>
        </p:txBody>
      </p:sp>
      <p:sp>
        <p:nvSpPr>
          <p:cNvPr id="83" name="">
            <a:extLst xmlns:a="http://schemas.openxmlformats.org/drawingml/2006/main">
              <a:ext uri="{FF2B5EF4-FFF2-40B4-BE49-F238E27FC236}">
                <a16:creationId xmlns:a16="http://schemas.microsoft.com/office/drawing/2014/main" id="{9FD0D890-BE77-4DB0-9376-17326D932E5A}"/>
              </a:ext>
            </a:extLst>
          </p:cNvPr>
          <p:cNvSpPr>
            <a:spLocks xmlns:a="http://schemas.openxmlformats.org/drawingml/2006/main" noGrp="1"/>
          </p:cNvSpPr>
          <p:nvPr/>
        </p:nvSpPr>
        <p:spPr>
          <a:xfrm xmlns:a="http://schemas.openxmlformats.org/drawingml/2006/main">
            <a:off x="7943850" y="3324225"/>
            <a:ext cx="171450" cy="257175"/>
          </a:xfrm>
          <a:prstGeom xmlns:a="http://schemas.openxmlformats.org/drawingml/2006/main" prst="chevron">
            <a:avLst/>
          </a:prstGeom>
          <a:solidFill xmlns:a="http://schemas.openxmlformats.org/drawingml/2006/main">
            <a:srgbClr val="266466"/>
          </a:solidFill>
          <a:ln xmlns:a="http://schemas.openxmlformats.org/drawingml/2006/main" w="0">
            <a:noFill/>
          </a:ln>
        </p:spPr>
      </p:sp>
      <p:sp>
        <p:nvSpPr>
          <p:cNvPr id="84" name="rev-105">
            <a:extLst xmlns:a="http://schemas.openxmlformats.org/drawingml/2006/main">
              <a:ext uri="{FF2B5EF4-FFF2-40B4-BE49-F238E27FC236}">
                <a16:creationId xmlns:a16="http://schemas.microsoft.com/office/drawing/2014/main" id="{8AB6CB25-829B-4035-85AF-C0F7CBDF3009}"/>
              </a:ext>
            </a:extLst>
          </p:cNvPr>
          <p:cNvSpPr>
            <a:spLocks xmlns:a="http://schemas.openxmlformats.org/drawingml/2006/main" noGrp="1"/>
          </p:cNvSpPr>
          <p:nvPr/>
        </p:nvSpPr>
        <p:spPr>
          <a:xfrm xmlns:a="http://schemas.openxmlformats.org/drawingml/2006/main">
            <a:off x="8229600" y="2647950"/>
            <a:ext cx="58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66466"/>
                </a:solidFill>
                <a:latin typeface="Calibri"/>
                <a:ea typeface="Calibri"/>
                <a:cs typeface="Calibri"/>
              </a:defRPr>
            </a:pPr>
            <a:r>
              <a:rPr sz="2550" b="1">
                <a:solidFill>
                  <a:srgbClr val="266466"/>
                </a:solidFill>
                <a:latin typeface="Calibri"/>
                <a:ea typeface="Calibri"/>
                <a:cs typeface="Calibri"/>
              </a:rPr>
              <a:t>03</a:t>
            </a:r>
          </a:p>
        </p:txBody>
      </p:sp>
      <p:sp>
        <p:nvSpPr>
          <p:cNvPr id="85" name="rev-106">
            <a:extLst xmlns:a="http://schemas.openxmlformats.org/drawingml/2006/main">
              <a:ext uri="{FF2B5EF4-FFF2-40B4-BE49-F238E27FC236}">
                <a16:creationId xmlns:a16="http://schemas.microsoft.com/office/drawing/2014/main" id="{B55BDB1D-82E6-4EB5-BE62-1A868E9D2121}"/>
              </a:ext>
            </a:extLst>
          </p:cNvPr>
          <p:cNvSpPr>
            <a:spLocks xmlns:a="http://schemas.openxmlformats.org/drawingml/2006/main" noGrp="1"/>
          </p:cNvSpPr>
          <p:nvPr/>
        </p:nvSpPr>
        <p:spPr>
          <a:xfrm xmlns:a="http://schemas.openxmlformats.org/drawingml/2006/main">
            <a:off x="8858250" y="2695575"/>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66466"/>
                </a:solidFill>
                <a:latin typeface="Calibri"/>
                <a:ea typeface="Calibri"/>
                <a:cs typeface="Calibri"/>
              </a:defRPr>
            </a:pPr>
            <a:r>
              <a:rPr sz="1725" b="1">
                <a:solidFill>
                  <a:srgbClr val="266466"/>
                </a:solidFill>
                <a:latin typeface="Calibri"/>
                <a:ea typeface="Calibri"/>
                <a:cs typeface="Calibri"/>
              </a:rPr>
              <a:t>Act and confirm</a:t>
            </a:r>
          </a:p>
        </p:txBody>
      </p:sp>
      <p:sp>
        <p:nvSpPr>
          <p:cNvPr id="86" name="rev-107">
            <a:extLst xmlns:a="http://schemas.openxmlformats.org/drawingml/2006/main">
              <a:ext uri="{FF2B5EF4-FFF2-40B4-BE49-F238E27FC236}">
                <a16:creationId xmlns:a16="http://schemas.microsoft.com/office/drawing/2014/main" id="{E046A72D-EFE3-42E6-AFB7-171F5D2943A3}"/>
              </a:ext>
            </a:extLst>
          </p:cNvPr>
          <p:cNvSpPr>
            <a:spLocks xmlns:a="http://schemas.openxmlformats.org/drawingml/2006/main" noGrp="1"/>
          </p:cNvSpPr>
          <p:nvPr/>
        </p:nvSpPr>
        <p:spPr>
          <a:xfrm xmlns:a="http://schemas.openxmlformats.org/drawingml/2006/main">
            <a:off x="8229600" y="3152775"/>
            <a:ext cx="3486150" cy="609600"/>
          </a:xfrm>
          <a:prstGeom xmlns:a="http://schemas.openxmlformats.org/drawingml/2006/main" prst="rect">
            <a:avLst/>
          </a:prstGeom>
          <a:solidFill xmlns:a="http://schemas.openxmlformats.org/drawingml/2006/main">
            <a:srgbClr val="EAF3F3"/>
          </a:solidFill>
          <a:ln xmlns:a="http://schemas.openxmlformats.org/drawingml/2006/main" w="9525">
            <a:solidFill>
              <a:srgbClr val="EAF3F3"/>
            </a:solidFill>
          </a:ln>
        </p:spPr>
      </p:sp>
      <p:sp>
        <p:nvSpPr>
          <p:cNvPr id="87" name="rev-108">
            <a:extLst xmlns:a="http://schemas.openxmlformats.org/drawingml/2006/main">
              <a:ext uri="{FF2B5EF4-FFF2-40B4-BE49-F238E27FC236}">
                <a16:creationId xmlns:a16="http://schemas.microsoft.com/office/drawing/2014/main" id="{AC535D08-F35A-4B25-B7C3-CAD438D863C6}"/>
              </a:ext>
            </a:extLst>
          </p:cNvPr>
          <p:cNvSpPr>
            <a:spLocks xmlns:a="http://schemas.openxmlformats.org/drawingml/2006/main" noGrp="1"/>
          </p:cNvSpPr>
          <p:nvPr/>
        </p:nvSpPr>
        <p:spPr>
          <a:xfrm xmlns:a="http://schemas.openxmlformats.org/drawingml/2006/main">
            <a:off x="8401050" y="3333750"/>
            <a:ext cx="1314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2B36"/>
                </a:solidFill>
                <a:latin typeface="Calibri"/>
                <a:ea typeface="Calibri"/>
                <a:cs typeface="Calibri"/>
              </a:defRPr>
            </a:pPr>
            <a:r>
              <a:rPr sz="1650" b="1">
                <a:solidFill>
                  <a:srgbClr val="202B36"/>
                </a:solidFill>
                <a:latin typeface="Calibri"/>
                <a:ea typeface="Calibri"/>
                <a:cs typeface="Calibri"/>
              </a:rPr>
              <a:t>Execute</a:t>
            </a:r>
          </a:p>
        </p:txBody>
      </p:sp>
      <p:sp>
        <p:nvSpPr>
          <p:cNvPr id="88" name="rev-109">
            <a:extLst xmlns:a="http://schemas.openxmlformats.org/drawingml/2006/main">
              <a:ext uri="{FF2B5EF4-FFF2-40B4-BE49-F238E27FC236}">
                <a16:creationId xmlns:a16="http://schemas.microsoft.com/office/drawing/2014/main" id="{F733BFC4-2F83-4C60-9170-33F0D85ABC61}"/>
              </a:ext>
            </a:extLst>
          </p:cNvPr>
          <p:cNvSpPr>
            <a:spLocks xmlns:a="http://schemas.openxmlformats.org/drawingml/2006/main" noGrp="1"/>
          </p:cNvSpPr>
          <p:nvPr/>
        </p:nvSpPr>
        <p:spPr>
          <a:xfrm xmlns:a="http://schemas.openxmlformats.org/drawingml/2006/main">
            <a:off x="10363200" y="3333750"/>
            <a:ext cx="1266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02B36"/>
                </a:solidFill>
                <a:latin typeface="Calibri"/>
                <a:ea typeface="Calibri"/>
                <a:cs typeface="Calibri"/>
              </a:defRPr>
            </a:pPr>
            <a:r>
              <a:rPr sz="1650" b="1">
                <a:solidFill>
                  <a:srgbClr val="202B36"/>
                </a:solidFill>
                <a:latin typeface="Calibri"/>
                <a:ea typeface="Calibri"/>
                <a:cs typeface="Calibri"/>
              </a:rPr>
              <a:t>Verify</a:t>
            </a:r>
          </a:p>
        </p:txBody>
      </p:sp>
      <p:sp>
        <p:nvSpPr>
          <p:cNvPr id="89" name="">
            <a:extLst xmlns:a="http://schemas.openxmlformats.org/drawingml/2006/main">
              <a:ext uri="{FF2B5EF4-FFF2-40B4-BE49-F238E27FC236}">
                <a16:creationId xmlns:a16="http://schemas.microsoft.com/office/drawing/2014/main" id="{5E3A92B1-65DA-4B0E-9735-509197086B11}"/>
              </a:ext>
            </a:extLst>
          </p:cNvPr>
          <p:cNvSpPr>
            <a:spLocks xmlns:a="http://schemas.openxmlformats.org/drawingml/2006/main" noGrp="1"/>
          </p:cNvSpPr>
          <p:nvPr/>
        </p:nvSpPr>
        <p:spPr>
          <a:xfrm xmlns:a="http://schemas.openxmlformats.org/drawingml/2006/main">
            <a:off x="9848850" y="3419475"/>
            <a:ext cx="323850" cy="133350"/>
          </a:xfrm>
          <a:prstGeom xmlns:a="http://schemas.openxmlformats.org/drawingml/2006/main" prst="rightArrow">
            <a:avLst/>
          </a:prstGeom>
          <a:solidFill xmlns:a="http://schemas.openxmlformats.org/drawingml/2006/main">
            <a:srgbClr val="266466"/>
          </a:solidFill>
          <a:ln xmlns:a="http://schemas.openxmlformats.org/drawingml/2006/main" w="0">
            <a:noFill/>
          </a:ln>
        </p:spPr>
      </p:sp>
      <p:sp>
        <p:nvSpPr>
          <p:cNvPr id="90" name="rev-110">
            <a:extLst xmlns:a="http://schemas.openxmlformats.org/drawingml/2006/main">
              <a:ext uri="{FF2B5EF4-FFF2-40B4-BE49-F238E27FC236}">
                <a16:creationId xmlns:a16="http://schemas.microsoft.com/office/drawing/2014/main" id="{D8B879C5-5044-4AF0-A04E-7BA760625B2A}"/>
              </a:ext>
            </a:extLst>
          </p:cNvPr>
          <p:cNvSpPr>
            <a:spLocks xmlns:a="http://schemas.openxmlformats.org/drawingml/2006/main" noGrp="1"/>
          </p:cNvSpPr>
          <p:nvPr/>
        </p:nvSpPr>
        <p:spPr>
          <a:xfrm xmlns:a="http://schemas.openxmlformats.org/drawingml/2006/main">
            <a:off x="8229600" y="3867150"/>
            <a:ext cx="3486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3616D"/>
                </a:solidFill>
                <a:latin typeface="Calibri"/>
                <a:ea typeface="Calibri"/>
                <a:cs typeface="Calibri"/>
              </a:defRPr>
            </a:pPr>
            <a:r>
              <a:rPr sz="1350">
                <a:solidFill>
                  <a:srgbClr val="53616D"/>
                </a:solidFill>
                <a:latin typeface="Calibri"/>
                <a:ea typeface="Calibri"/>
                <a:cs typeface="Calibri"/>
              </a:rPr>
              <a:t>Guarded click; confirm download</a:t>
            </a:r>
          </a:p>
        </p:txBody>
      </p:sp>
      <p:sp>
        <p:nvSpPr>
          <p:cNvPr id="91" name="rev-111">
            <a:extLst xmlns:a="http://schemas.openxmlformats.org/drawingml/2006/main">
              <a:ext uri="{FF2B5EF4-FFF2-40B4-BE49-F238E27FC236}">
                <a16:creationId xmlns:a16="http://schemas.microsoft.com/office/drawing/2014/main" id="{22B3D8C1-31EB-4ACB-A655-2405561557AE}"/>
              </a:ext>
            </a:extLst>
          </p:cNvPr>
          <p:cNvSpPr>
            <a:spLocks xmlns:a="http://schemas.openxmlformats.org/drawingml/2006/main" noGrp="1"/>
          </p:cNvSpPr>
          <p:nvPr/>
        </p:nvSpPr>
        <p:spPr>
          <a:xfrm xmlns:a="http://schemas.openxmlformats.org/drawingml/2006/main">
            <a:off x="457200" y="4419600"/>
            <a:ext cx="733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266466"/>
                </a:solidFill>
                <a:latin typeface="Calibri"/>
                <a:ea typeface="Calibri"/>
                <a:cs typeface="Calibri"/>
              </a:defRPr>
            </a:pPr>
            <a:r>
              <a:rPr sz="1275" b="1">
                <a:solidFill>
                  <a:srgbClr val="266466"/>
                </a:solidFill>
                <a:latin typeface="Calibri"/>
                <a:ea typeface="Calibri"/>
                <a:cs typeface="Calibri"/>
              </a:rPr>
              <a:t>CPU harness: 48 pages, sanitized context sent and target selected</a:t>
            </a:r>
          </a:p>
        </p:txBody>
      </p:sp>
      <p:sp>
        <p:nvSpPr>
          <p:cNvPr id="92" name="rev-112">
            <a:extLst xmlns:a="http://schemas.openxmlformats.org/drawingml/2006/main">
              <a:ext uri="{FF2B5EF4-FFF2-40B4-BE49-F238E27FC236}">
                <a16:creationId xmlns:a16="http://schemas.microsoft.com/office/drawing/2014/main" id="{F0E9C594-8CCA-45EE-A608-C85F42EA8850}"/>
              </a:ext>
            </a:extLst>
          </p:cNvPr>
          <p:cNvSpPr>
            <a:spLocks xmlns:a="http://schemas.openxmlformats.org/drawingml/2006/main" noGrp="1"/>
          </p:cNvSpPr>
          <p:nvPr/>
        </p:nvSpPr>
        <p:spPr>
          <a:xfrm xmlns:a="http://schemas.openxmlformats.org/drawingml/2006/main">
            <a:off x="8229600" y="4419600"/>
            <a:ext cx="350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266466"/>
                </a:solidFill>
                <a:latin typeface="Calibri"/>
                <a:ea typeface="Calibri"/>
                <a:cs typeface="Calibri"/>
              </a:defRPr>
            </a:pPr>
            <a:r>
              <a:rPr sz="1275" b="1">
                <a:solidFill>
                  <a:srgbClr val="266466"/>
                </a:solidFill>
                <a:latin typeface="Calibri"/>
                <a:ea typeface="Calibri"/>
                <a:cs typeface="Calibri"/>
              </a:rPr>
              <a:t>Demo flow; completion timing pending</a:t>
            </a:r>
          </a:p>
        </p:txBody>
      </p:sp>
      <p:sp>
        <p:nvSpPr>
          <p:cNvPr id="93" name="rev-113">
            <a:extLst xmlns:a="http://schemas.openxmlformats.org/drawingml/2006/main">
              <a:ext uri="{FF2B5EF4-FFF2-40B4-BE49-F238E27FC236}">
                <a16:creationId xmlns:a16="http://schemas.microsoft.com/office/drawing/2014/main" id="{C06FF758-F807-4041-915C-4C7D13EA9888}"/>
              </a:ext>
            </a:extLst>
          </p:cNvPr>
          <p:cNvSpPr>
            <a:spLocks xmlns:a="http://schemas.openxmlformats.org/drawingml/2006/main" noGrp="1"/>
          </p:cNvSpPr>
          <p:nvPr/>
        </p:nvSpPr>
        <p:spPr>
          <a:xfrm xmlns:a="http://schemas.openxmlformats.org/drawingml/2006/main">
            <a:off x="457200" y="4810125"/>
            <a:ext cx="11277600" cy="0"/>
          </a:xfrm>
          <a:prstGeom xmlns:a="http://schemas.openxmlformats.org/drawingml/2006/main" prst="line">
            <a:avLst/>
          </a:prstGeom>
          <a:noFill xmlns:a="http://schemas.openxmlformats.org/drawingml/2006/main"/>
          <a:ln xmlns:a="http://schemas.openxmlformats.org/drawingml/2006/main" w="9525">
            <a:solidFill>
              <a:srgbClr val="CBD3DA"/>
            </a:solidFill>
          </a:ln>
        </p:spPr>
      </p:sp>
      <p:sp>
        <p:nvSpPr>
          <p:cNvPr id="94" name="rev-114">
            <a:extLst xmlns:a="http://schemas.openxmlformats.org/drawingml/2006/main">
              <a:ext uri="{FF2B5EF4-FFF2-40B4-BE49-F238E27FC236}">
                <a16:creationId xmlns:a16="http://schemas.microsoft.com/office/drawing/2014/main" id="{1CF3CF65-5FFD-4C94-889F-BF9820809E66}"/>
              </a:ext>
            </a:extLst>
          </p:cNvPr>
          <p:cNvSpPr>
            <a:spLocks xmlns:a="http://schemas.openxmlformats.org/drawingml/2006/main" noGrp="1"/>
          </p:cNvSpPr>
          <p:nvPr/>
        </p:nvSpPr>
        <p:spPr>
          <a:xfrm xmlns:a="http://schemas.openxmlformats.org/drawingml/2006/main">
            <a:off x="457200" y="49911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266466"/>
                </a:solidFill>
                <a:latin typeface="Calibri"/>
                <a:ea typeface="Calibri"/>
                <a:cs typeface="Calibri"/>
              </a:defRPr>
            </a:pPr>
            <a:r>
              <a:rPr sz="1500" b="1">
                <a:solidFill>
                  <a:srgbClr val="266466"/>
                </a:solidFill>
                <a:latin typeface="Calibri"/>
                <a:ea typeface="Calibri"/>
                <a:cs typeface="Calibri"/>
              </a:rPr>
              <a:t>Benefits of the solution</a:t>
            </a:r>
          </a:p>
        </p:txBody>
      </p:sp>
      <p:sp>
        <p:nvSpPr>
          <p:cNvPr id="95" name="rev-115">
            <a:extLst xmlns:a="http://schemas.openxmlformats.org/drawingml/2006/main">
              <a:ext uri="{FF2B5EF4-FFF2-40B4-BE49-F238E27FC236}">
                <a16:creationId xmlns:a16="http://schemas.microsoft.com/office/drawing/2014/main" id="{A42FCA48-51ED-4F9A-820D-031C04B6659B}"/>
              </a:ext>
            </a:extLst>
          </p:cNvPr>
          <p:cNvSpPr>
            <a:spLocks xmlns:a="http://schemas.openxmlformats.org/drawingml/2006/main" noGrp="1"/>
          </p:cNvSpPr>
          <p:nvPr/>
        </p:nvSpPr>
        <p:spPr>
          <a:xfrm xmlns:a="http://schemas.openxmlformats.org/drawingml/2006/main">
            <a:off x="457200" y="5400675"/>
            <a:ext cx="2600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53616D"/>
                </a:solidFill>
                <a:latin typeface="Calibri"/>
                <a:ea typeface="Calibri"/>
                <a:cs typeface="Calibri"/>
              </a:defRPr>
            </a:pPr>
            <a:r>
              <a:rPr sz="1200" b="1">
                <a:solidFill>
                  <a:srgbClr val="53616D"/>
                </a:solidFill>
                <a:latin typeface="Calibri"/>
                <a:ea typeface="Calibri"/>
                <a:cs typeface="Calibri"/>
              </a:rPr>
              <a:t>PRIVACY</a:t>
            </a:r>
          </a:p>
        </p:txBody>
      </p:sp>
      <p:sp>
        <p:nvSpPr>
          <p:cNvPr id="96" name="rev-116">
            <a:extLst xmlns:a="http://schemas.openxmlformats.org/drawingml/2006/main">
              <a:ext uri="{FF2B5EF4-FFF2-40B4-BE49-F238E27FC236}">
                <a16:creationId xmlns:a16="http://schemas.microsoft.com/office/drawing/2014/main" id="{45B27709-6EE8-496F-B510-71CD8BD232CB}"/>
              </a:ext>
            </a:extLst>
          </p:cNvPr>
          <p:cNvSpPr>
            <a:spLocks xmlns:a="http://schemas.openxmlformats.org/drawingml/2006/main" noGrp="1"/>
          </p:cNvSpPr>
          <p:nvPr/>
        </p:nvSpPr>
        <p:spPr>
          <a:xfrm xmlns:a="http://schemas.openxmlformats.org/drawingml/2006/main">
            <a:off x="457200" y="5648325"/>
            <a:ext cx="2600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66466"/>
                </a:solidFill>
                <a:latin typeface="Calibri"/>
                <a:ea typeface="Calibri"/>
                <a:cs typeface="Calibri"/>
              </a:defRPr>
            </a:pPr>
            <a:r>
              <a:rPr sz="2550" b="1">
                <a:solidFill>
                  <a:srgbClr val="266466"/>
                </a:solidFill>
                <a:latin typeface="Calibri"/>
                <a:ea typeface="Calibri"/>
                <a:cs typeface="Calibri"/>
              </a:rPr>
              <a:t>0</a:t>
            </a:r>
          </a:p>
        </p:txBody>
      </p:sp>
      <p:sp>
        <p:nvSpPr>
          <p:cNvPr id="97" name="rev-117">
            <a:extLst xmlns:a="http://schemas.openxmlformats.org/drawingml/2006/main">
              <a:ext uri="{FF2B5EF4-FFF2-40B4-BE49-F238E27FC236}">
                <a16:creationId xmlns:a16="http://schemas.microsoft.com/office/drawing/2014/main" id="{962C3718-6CA0-4DEC-8A35-8057C259396D}"/>
              </a:ext>
            </a:extLst>
          </p:cNvPr>
          <p:cNvSpPr>
            <a:spLocks xmlns:a="http://schemas.openxmlformats.org/drawingml/2006/main" noGrp="1"/>
          </p:cNvSpPr>
          <p:nvPr/>
        </p:nvSpPr>
        <p:spPr>
          <a:xfrm xmlns:a="http://schemas.openxmlformats.org/drawingml/2006/main">
            <a:off x="457200" y="6067425"/>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202B36"/>
                </a:solidFill>
                <a:latin typeface="Calibri"/>
                <a:ea typeface="Calibri"/>
                <a:cs typeface="Calibri"/>
              </a:defRPr>
            </a:pPr>
            <a:r>
              <a:rPr sz="1275">
                <a:solidFill>
                  <a:srgbClr val="202B36"/>
                </a:solidFill>
                <a:latin typeface="Calibri"/>
                <a:ea typeface="Calibri"/>
                <a:cs typeface="Calibri"/>
              </a:rPr>
              <a:t>PII strings in sent metadata</a:t>
            </a:r>
          </a:p>
        </p:txBody>
      </p:sp>
      <p:sp>
        <p:nvSpPr>
          <p:cNvPr id="98" name="rev-118">
            <a:extLst xmlns:a="http://schemas.openxmlformats.org/drawingml/2006/main">
              <a:ext uri="{FF2B5EF4-FFF2-40B4-BE49-F238E27FC236}">
                <a16:creationId xmlns:a16="http://schemas.microsoft.com/office/drawing/2014/main" id="{812DE7C5-3E4C-470D-BECC-BE0E96177BF3}"/>
              </a:ext>
            </a:extLst>
          </p:cNvPr>
          <p:cNvSpPr>
            <a:spLocks xmlns:a="http://schemas.openxmlformats.org/drawingml/2006/main" noGrp="1"/>
          </p:cNvSpPr>
          <p:nvPr/>
        </p:nvSpPr>
        <p:spPr>
          <a:xfrm xmlns:a="http://schemas.openxmlformats.org/drawingml/2006/main">
            <a:off x="3333750" y="5400675"/>
            <a:ext cx="2600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53616D"/>
                </a:solidFill>
                <a:latin typeface="Calibri"/>
                <a:ea typeface="Calibri"/>
                <a:cs typeface="Calibri"/>
              </a:defRPr>
            </a:pPr>
            <a:r>
              <a:rPr sz="1200" b="1">
                <a:solidFill>
                  <a:srgbClr val="53616D"/>
                </a:solidFill>
                <a:latin typeface="Calibri"/>
                <a:ea typeface="Calibri"/>
                <a:cs typeface="Calibri"/>
              </a:rPr>
              <a:t>SPEED</a:t>
            </a:r>
          </a:p>
        </p:txBody>
      </p:sp>
      <p:sp>
        <p:nvSpPr>
          <p:cNvPr id="99" name="rev-119">
            <a:extLst xmlns:a="http://schemas.openxmlformats.org/drawingml/2006/main">
              <a:ext uri="{FF2B5EF4-FFF2-40B4-BE49-F238E27FC236}">
                <a16:creationId xmlns:a16="http://schemas.microsoft.com/office/drawing/2014/main" id="{DABF5BE9-622A-4FC6-87DB-545255A7AE7A}"/>
              </a:ext>
            </a:extLst>
          </p:cNvPr>
          <p:cNvSpPr>
            <a:spLocks xmlns:a="http://schemas.openxmlformats.org/drawingml/2006/main" noGrp="1"/>
          </p:cNvSpPr>
          <p:nvPr/>
        </p:nvSpPr>
        <p:spPr>
          <a:xfrm xmlns:a="http://schemas.openxmlformats.org/drawingml/2006/main">
            <a:off x="3333750" y="5648325"/>
            <a:ext cx="2600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66466"/>
                </a:solidFill>
                <a:latin typeface="Calibri"/>
                <a:ea typeface="Calibri"/>
                <a:cs typeface="Calibri"/>
              </a:defRPr>
            </a:pPr>
            <a:r>
              <a:rPr sz="2550" b="1">
                <a:solidFill>
                  <a:srgbClr val="266466"/>
                </a:solidFill>
                <a:latin typeface="Calibri"/>
                <a:ea typeface="Calibri"/>
                <a:cs typeface="Calibri"/>
              </a:rPr>
              <a:t>7.3×</a:t>
            </a:r>
          </a:p>
        </p:txBody>
      </p:sp>
      <p:sp>
        <p:nvSpPr>
          <p:cNvPr id="100" name="rev-120">
            <a:extLst xmlns:a="http://schemas.openxmlformats.org/drawingml/2006/main">
              <a:ext uri="{FF2B5EF4-FFF2-40B4-BE49-F238E27FC236}">
                <a16:creationId xmlns:a16="http://schemas.microsoft.com/office/drawing/2014/main" id="{0813AE2F-7B8A-4FD3-9049-6D41019303B8}"/>
              </a:ext>
            </a:extLst>
          </p:cNvPr>
          <p:cNvSpPr>
            <a:spLocks xmlns:a="http://schemas.openxmlformats.org/drawingml/2006/main" noGrp="1"/>
          </p:cNvSpPr>
          <p:nvPr/>
        </p:nvSpPr>
        <p:spPr>
          <a:xfrm xmlns:a="http://schemas.openxmlformats.org/drawingml/2006/main">
            <a:off x="3333750" y="6067425"/>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202B36"/>
                </a:solidFill>
                <a:latin typeface="Calibri"/>
                <a:ea typeface="Calibri"/>
                <a:cs typeface="Calibri"/>
              </a:defRPr>
            </a:pPr>
            <a:r>
              <a:rPr sz="1275">
                <a:solidFill>
                  <a:srgbClr val="202B36"/>
                </a:solidFill>
                <a:latin typeface="Calibri"/>
                <a:ea typeface="Calibri"/>
                <a:cs typeface="Calibri"/>
              </a:rPr>
              <a:t>Faster sanitize-to-plan median</a:t>
            </a:r>
          </a:p>
        </p:txBody>
      </p:sp>
      <p:sp>
        <p:nvSpPr>
          <p:cNvPr id="101" name="rev-121">
            <a:extLst xmlns:a="http://schemas.openxmlformats.org/drawingml/2006/main">
              <a:ext uri="{FF2B5EF4-FFF2-40B4-BE49-F238E27FC236}">
                <a16:creationId xmlns:a16="http://schemas.microsoft.com/office/drawing/2014/main" id="{3E424DB8-3CD5-4FAF-AD52-44C3785BE1FD}"/>
              </a:ext>
            </a:extLst>
          </p:cNvPr>
          <p:cNvSpPr>
            <a:spLocks xmlns:a="http://schemas.openxmlformats.org/drawingml/2006/main" noGrp="1"/>
          </p:cNvSpPr>
          <p:nvPr/>
        </p:nvSpPr>
        <p:spPr>
          <a:xfrm xmlns:a="http://schemas.openxmlformats.org/drawingml/2006/main">
            <a:off x="6210300" y="5400675"/>
            <a:ext cx="2600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53616D"/>
                </a:solidFill>
                <a:latin typeface="Calibri"/>
                <a:ea typeface="Calibri"/>
                <a:cs typeface="Calibri"/>
              </a:defRPr>
            </a:pPr>
            <a:r>
              <a:rPr sz="1200" b="1">
                <a:solidFill>
                  <a:srgbClr val="53616D"/>
                </a:solidFill>
                <a:latin typeface="Calibri"/>
                <a:ea typeface="Calibri"/>
                <a:cs typeface="Calibri"/>
              </a:rPr>
              <a:t>COMPUTE</a:t>
            </a:r>
          </a:p>
        </p:txBody>
      </p:sp>
      <p:sp>
        <p:nvSpPr>
          <p:cNvPr id="102" name="rev-122">
            <a:extLst xmlns:a="http://schemas.openxmlformats.org/drawingml/2006/main">
              <a:ext uri="{FF2B5EF4-FFF2-40B4-BE49-F238E27FC236}">
                <a16:creationId xmlns:a16="http://schemas.microsoft.com/office/drawing/2014/main" id="{43D4FDE6-40FB-443F-878A-D2733F67E860}"/>
              </a:ext>
            </a:extLst>
          </p:cNvPr>
          <p:cNvSpPr>
            <a:spLocks xmlns:a="http://schemas.openxmlformats.org/drawingml/2006/main" noGrp="1"/>
          </p:cNvSpPr>
          <p:nvPr/>
        </p:nvSpPr>
        <p:spPr>
          <a:xfrm xmlns:a="http://schemas.openxmlformats.org/drawingml/2006/main">
            <a:off x="6210300" y="5648325"/>
            <a:ext cx="2600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66466"/>
                </a:solidFill>
                <a:latin typeface="Calibri"/>
                <a:ea typeface="Calibri"/>
                <a:cs typeface="Calibri"/>
              </a:defRPr>
            </a:pPr>
            <a:r>
              <a:rPr sz="2550" b="1">
                <a:solidFill>
                  <a:srgbClr val="266466"/>
                </a:solidFill>
                <a:latin typeface="Calibri"/>
                <a:ea typeface="Calibri"/>
                <a:cs typeface="Calibri"/>
              </a:rPr>
              <a:t>51%</a:t>
            </a:r>
          </a:p>
        </p:txBody>
      </p:sp>
      <p:sp>
        <p:nvSpPr>
          <p:cNvPr id="103" name="rev-123">
            <a:extLst xmlns:a="http://schemas.openxmlformats.org/drawingml/2006/main">
              <a:ext uri="{FF2B5EF4-FFF2-40B4-BE49-F238E27FC236}">
                <a16:creationId xmlns:a16="http://schemas.microsoft.com/office/drawing/2014/main" id="{A12D893B-01B5-412C-A11A-45D6D8B6E64F}"/>
              </a:ext>
            </a:extLst>
          </p:cNvPr>
          <p:cNvSpPr>
            <a:spLocks xmlns:a="http://schemas.openxmlformats.org/drawingml/2006/main" noGrp="1"/>
          </p:cNvSpPr>
          <p:nvPr/>
        </p:nvSpPr>
        <p:spPr>
          <a:xfrm xmlns:a="http://schemas.openxmlformats.org/drawingml/2006/main">
            <a:off x="6210300" y="6067425"/>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202B36"/>
                </a:solidFill>
                <a:latin typeface="Calibri"/>
                <a:ea typeface="Calibri"/>
                <a:cs typeface="Calibri"/>
              </a:defRPr>
            </a:pPr>
            <a:r>
              <a:rPr sz="1275">
                <a:solidFill>
                  <a:srgbClr val="202B36"/>
                </a:solidFill>
                <a:latin typeface="Calibri"/>
                <a:ea typeface="Calibri"/>
                <a:cs typeface="Calibri"/>
              </a:rPr>
              <a:t>Lower Python-process CPU / page</a:t>
            </a:r>
          </a:p>
        </p:txBody>
      </p:sp>
      <p:sp>
        <p:nvSpPr>
          <p:cNvPr id="104" name="rev-124">
            <a:extLst xmlns:a="http://schemas.openxmlformats.org/drawingml/2006/main">
              <a:ext uri="{FF2B5EF4-FFF2-40B4-BE49-F238E27FC236}">
                <a16:creationId xmlns:a16="http://schemas.microsoft.com/office/drawing/2014/main" id="{DCE3932E-08B1-4FC7-88EC-A190238757D5}"/>
              </a:ext>
            </a:extLst>
          </p:cNvPr>
          <p:cNvSpPr>
            <a:spLocks xmlns:a="http://schemas.openxmlformats.org/drawingml/2006/main" noGrp="1"/>
          </p:cNvSpPr>
          <p:nvPr/>
        </p:nvSpPr>
        <p:spPr>
          <a:xfrm xmlns:a="http://schemas.openxmlformats.org/drawingml/2006/main">
            <a:off x="9086850" y="5400675"/>
            <a:ext cx="2600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53616D"/>
                </a:solidFill>
                <a:latin typeface="Calibri"/>
                <a:ea typeface="Calibri"/>
                <a:cs typeface="Calibri"/>
              </a:defRPr>
            </a:pPr>
            <a:r>
              <a:rPr sz="1200" b="1">
                <a:solidFill>
                  <a:srgbClr val="53616D"/>
                </a:solidFill>
                <a:latin typeface="Calibri"/>
                <a:ea typeface="Calibri"/>
                <a:cs typeface="Calibri"/>
              </a:rPr>
              <a:t>PLANNING</a:t>
            </a:r>
          </a:p>
        </p:txBody>
      </p:sp>
      <p:sp>
        <p:nvSpPr>
          <p:cNvPr id="105" name="rev-125">
            <a:extLst xmlns:a="http://schemas.openxmlformats.org/drawingml/2006/main">
              <a:ext uri="{FF2B5EF4-FFF2-40B4-BE49-F238E27FC236}">
                <a16:creationId xmlns:a16="http://schemas.microsoft.com/office/drawing/2014/main" id="{AC08CF92-8D19-4F35-97B2-1EF6D616C162}"/>
              </a:ext>
            </a:extLst>
          </p:cNvPr>
          <p:cNvSpPr>
            <a:spLocks xmlns:a="http://schemas.openxmlformats.org/drawingml/2006/main" noGrp="1"/>
          </p:cNvSpPr>
          <p:nvPr/>
        </p:nvSpPr>
        <p:spPr>
          <a:xfrm xmlns:a="http://schemas.openxmlformats.org/drawingml/2006/main">
            <a:off x="9086850" y="5648325"/>
            <a:ext cx="2600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66466"/>
                </a:solidFill>
                <a:latin typeface="Calibri"/>
                <a:ea typeface="Calibri"/>
                <a:cs typeface="Calibri"/>
              </a:defRPr>
            </a:pPr>
            <a:r>
              <a:rPr sz="2550" b="1">
                <a:solidFill>
                  <a:srgbClr val="266466"/>
                </a:solidFill>
                <a:latin typeface="Calibri"/>
                <a:ea typeface="Calibri"/>
                <a:cs typeface="Calibri"/>
              </a:rPr>
              <a:t>48/48</a:t>
            </a:r>
          </a:p>
        </p:txBody>
      </p:sp>
      <p:sp>
        <p:nvSpPr>
          <p:cNvPr id="106" name="rev-126">
            <a:extLst xmlns:a="http://schemas.openxmlformats.org/drawingml/2006/main">
              <a:ext uri="{FF2B5EF4-FFF2-40B4-BE49-F238E27FC236}">
                <a16:creationId xmlns:a16="http://schemas.microsoft.com/office/drawing/2014/main" id="{1AF13BD4-FAA8-4C51-80AB-30F6D13D8E3F}"/>
              </a:ext>
            </a:extLst>
          </p:cNvPr>
          <p:cNvSpPr>
            <a:spLocks xmlns:a="http://schemas.openxmlformats.org/drawingml/2006/main" noGrp="1"/>
          </p:cNvSpPr>
          <p:nvPr/>
        </p:nvSpPr>
        <p:spPr>
          <a:xfrm xmlns:a="http://schemas.openxmlformats.org/drawingml/2006/main">
            <a:off x="9086850" y="6067425"/>
            <a:ext cx="266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202B36"/>
                </a:solidFill>
                <a:latin typeface="Calibri"/>
                <a:ea typeface="Calibri"/>
                <a:cs typeface="Calibri"/>
              </a:defRPr>
            </a:pPr>
            <a:r>
              <a:rPr sz="1275">
                <a:solidFill>
                  <a:srgbClr val="202B36"/>
                </a:solidFill>
                <a:latin typeface="Calibri"/>
                <a:ea typeface="Calibri"/>
                <a:cs typeface="Calibri"/>
              </a:rPr>
              <a:t>Correct Download target chosen</a:t>
            </a:r>
          </a:p>
        </p:txBody>
      </p:sp>
    </p:spTree>
    <p:extLst>
      <p:ext uri="{BB962C8B-B14F-4D97-AF65-F5344CB8AC3E}">
        <p14:creationId xmlns:p14="http://schemas.microsoft.com/office/powerpoint/2010/main" val="20232191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E7B6E14-F629-4718-95A2-4F95D0D8E001}"/>
              </a:ext>
            </a:extLst>
          </p:cNvPr>
          <p:cNvSpPr>
            <a:spLocks xmlns:a="http://schemas.openxmlformats.org/drawingml/2006/main" noGrp="1"/>
          </p:cNvSpPr>
          <p:nvPr/>
        </p:nvSpPr>
        <p:spPr>
          <a:xfrm xmlns:a="http://schemas.openxmlformats.org/drawingml/2006/main">
            <a:off x="384048" y="201168"/>
            <a:ext cx="1371600" cy="530352"/>
          </a:xfrm>
          <a:prstGeom xmlns:a="http://schemas.openxmlformats.org/drawingml/2006/main" prst="ellipse">
            <a:avLst/>
          </a:prstGeom>
          <a:solidFill xmlns:a="http://schemas.openxmlformats.org/drawingml/2006/main">
            <a:srgbClr val="E3F1F2"/>
          </a:solidFill>
          <a:ln xmlns:a="http://schemas.openxmlformats.org/drawingml/2006/main" w="19050">
            <a:solidFill>
              <a:srgbClr val="0E7C86"/>
            </a:solidFill>
            <a:prstDash val="solid"/>
          </a:ln>
          <a:effectLst xmlns:a="http://schemas.openxmlformats.org/drawingml/2006/main">
            <a:outerShdw blurRad="76200" dist="12700" dir="5400000" algn="bl" rotWithShape="0">
              <a:srgbClr val="9FB0C0">
                <a:alpha val="28000"/>
              </a:srgbClr>
            </a:outerShdw>
          </a:effectLst>
        </p:spPr>
      </p:sp>
      <p:sp>
        <p:nvSpPr>
          <p:cNvPr id="3" name="Text 1">
            <a:extLst xmlns:a="http://schemas.openxmlformats.org/drawingml/2006/main">
              <a:ext uri="{FF2B5EF4-FFF2-40B4-BE49-F238E27FC236}">
                <a16:creationId xmlns:a16="http://schemas.microsoft.com/office/drawing/2014/main" id="{F2C2BA5C-4A6A-468A-A8BA-CCF634EB85AA}"/>
              </a:ext>
            </a:extLst>
          </p:cNvPr>
          <p:cNvSpPr>
            <a:spLocks xmlns:a="http://schemas.openxmlformats.org/drawingml/2006/main" noGrp="1"/>
          </p:cNvSpPr>
          <p:nvPr/>
        </p:nvSpPr>
        <p:spPr>
          <a:xfrm xmlns:a="http://schemas.openxmlformats.org/drawingml/2006/main">
            <a:off x="384048" y="320040"/>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0A5F67"/>
                </a:solidFill>
                <a:latin typeface="Calibri"/>
                <a:ea typeface="Calibri"/>
                <a:cs typeface="Calibri"/>
              </a:rPr>
              <a:t>NEXORA</a:t>
            </a:r>
            <a:endParaRPr sz="1250"/>
          </a:p>
        </p:txBody>
      </p:sp>
      <p:sp>
        <p:nvSpPr>
          <p:cNvPr id="4" name="Text 2">
            <a:extLst xmlns:a="http://schemas.openxmlformats.org/drawingml/2006/main">
              <a:ext uri="{FF2B5EF4-FFF2-40B4-BE49-F238E27FC236}">
                <a16:creationId xmlns:a16="http://schemas.microsoft.com/office/drawing/2014/main" id="{AAF3797E-C9AC-40EE-A4E6-82B9FCCAD72B}"/>
              </a:ext>
            </a:extLst>
          </p:cNvPr>
          <p:cNvSpPr>
            <a:spLocks xmlns:a="http://schemas.openxmlformats.org/drawingml/2006/main" noGrp="1"/>
          </p:cNvSpPr>
          <p:nvPr/>
        </p:nvSpPr>
        <p:spPr>
          <a:xfrm xmlns:a="http://schemas.openxmlformats.org/drawingml/2006/main">
            <a:off x="2011680" y="201168"/>
            <a:ext cx="786384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rgbClr val="1F4E79"/>
                </a:solidFill>
                <a:latin typeface="Cambria"/>
                <a:ea typeface="Cambria"/>
                <a:cs typeface="Cambria"/>
              </a:rPr>
              <a:t>RESEARCH AND REFERENCES</a:t>
            </a:r>
            <a:endParaRPr sz="2800"/>
          </a:p>
        </p:txBody>
      </p:sp>
      <p:pic>
        <p:nvPicPr>
          <p:cNvPr id="88" name="Image 0"/>
          <p:cNvPicPr>
            <a:picLocks xmlns:a="http://schemas.openxmlformats.org/drawingml/2006/main" noChangeAspect="1"/>
          </p:cNvPicPr>
          <p:nvPr/>
        </p:nvPicPr>
        <p:blipFill>
          <a:blip xmlns:r="http://schemas.openxmlformats.org/officeDocument/2006/relationships" xmlns:a="http://schemas.openxmlformats.org/drawingml/2006/main" r:embed="Rb0aeaba2cb564904"/>
          <a:stretch xmlns:a="http://schemas.openxmlformats.org/drawingml/2006/main">
            <a:fillRect l="0" t="0" r="0" b="0"/>
          </a:stretch>
        </p:blipFill>
        <p:spPr>
          <a:xfrm xmlns:a="http://schemas.openxmlformats.org/drawingml/2006/main">
            <a:off x="10287000" y="164592"/>
            <a:ext cx="1554480" cy="731520"/>
          </a:xfrm>
          <a:prstGeom xmlns:a="http://schemas.openxmlformats.org/drawingml/2006/main" prst="rect">
            <a:avLst/>
          </a:prstGeom>
          <a:effectLst xmlns:a="http://schemas.openxmlformats.org/drawingml/2006/main">
            <a:outerShdw blurRad="76200" dist="12700" dir="5400000" algn="bl" rotWithShape="0">
              <a:srgbClr val="9FB0C0">
                <a:alpha val="28000"/>
              </a:srgbClr>
            </a:outerShdw>
          </a:effectLst>
        </p:spPr>
      </p:pic>
      <p:sp>
        <p:nvSpPr>
          <p:cNvPr id="7" name="Shape 4">
            <a:extLst xmlns:a="http://schemas.openxmlformats.org/drawingml/2006/main">
              <a:ext uri="{FF2B5EF4-FFF2-40B4-BE49-F238E27FC236}">
                <a16:creationId xmlns:a16="http://schemas.microsoft.com/office/drawing/2014/main" id="{E7F2EDCA-AAD3-457B-BA8A-E32A7D87D231}"/>
              </a:ext>
            </a:extLst>
          </p:cNvPr>
          <p:cNvSpPr>
            <a:spLocks xmlns:a="http://schemas.openxmlformats.org/drawingml/2006/main" noGrp="1"/>
          </p:cNvSpPr>
          <p:nvPr/>
        </p:nvSpPr>
        <p:spPr>
          <a:xfrm xmlns:a="http://schemas.openxmlformats.org/drawingml/2006/main">
            <a:off x="0" y="6446520"/>
            <a:ext cx="12191695" cy="411480"/>
          </a:xfrm>
          <a:prstGeom xmlns:a="http://schemas.openxmlformats.org/drawingml/2006/main" prst="rect">
            <a:avLst/>
          </a:prstGeom>
          <a:solidFill xmlns:a="http://schemas.openxmlformats.org/drawingml/2006/main">
            <a:srgbClr val="0071C1"/>
          </a:solidFill>
        </p:spPr>
      </p:sp>
      <p:sp>
        <p:nvSpPr>
          <p:cNvPr id="9" name="Text 6">
            <a:extLst xmlns:a="http://schemas.openxmlformats.org/drawingml/2006/main">
              <a:ext uri="{FF2B5EF4-FFF2-40B4-BE49-F238E27FC236}">
                <a16:creationId xmlns:a16="http://schemas.microsoft.com/office/drawing/2014/main" id="{EE0E83E8-9378-4B10-AD9F-1B472498476D}"/>
              </a:ext>
            </a:extLst>
          </p:cNvPr>
          <p:cNvSpPr>
            <a:spLocks xmlns:a="http://schemas.openxmlformats.org/drawingml/2006/main" noGrp="1"/>
          </p:cNvSpPr>
          <p:nvPr/>
        </p:nvSpPr>
        <p:spPr>
          <a:xfrm xmlns:a="http://schemas.openxmlformats.org/drawingml/2006/main">
            <a:off x="11338560" y="6537960"/>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Calibri"/>
                <a:ea typeface="Calibri"/>
                <a:cs typeface="Calibri"/>
              </a:rPr>
              <a:t>6</a:t>
            </a:r>
            <a:endParaRPr sz="1250"/>
          </a:p>
        </p:txBody>
      </p:sp>
      <p:sp>
        <p:nvSpPr>
          <p:cNvPr id="51" name="rev-127">
            <a:extLst xmlns:a="http://schemas.openxmlformats.org/drawingml/2006/main">
              <a:ext uri="{FF2B5EF4-FFF2-40B4-BE49-F238E27FC236}">
                <a16:creationId xmlns:a16="http://schemas.microsoft.com/office/drawing/2014/main" id="{2AD56AB7-CA3D-41AE-B30E-CC56A9D78491}"/>
              </a:ext>
            </a:extLst>
          </p:cNvPr>
          <p:cNvSpPr>
            <a:spLocks xmlns:a="http://schemas.openxmlformats.org/drawingml/2006/main" noGrp="1"/>
          </p:cNvSpPr>
          <p:nvPr/>
        </p:nvSpPr>
        <p:spPr>
          <a:xfrm xmlns:a="http://schemas.openxmlformats.org/drawingml/2006/main">
            <a:off x="457200" y="9810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8C4966"/>
                </a:solidFill>
                <a:latin typeface="Calibri"/>
                <a:ea typeface="Calibri"/>
                <a:cs typeface="Calibri"/>
              </a:defRPr>
            </a:pPr>
            <a:r>
              <a:rPr sz="1500" b="1">
                <a:solidFill>
                  <a:srgbClr val="8C4966"/>
                </a:solidFill>
                <a:latin typeface="Calibri"/>
                <a:ea typeface="Calibri"/>
                <a:cs typeface="Calibri"/>
              </a:rPr>
              <a:t>Details / links of reference and research work</a:t>
            </a:r>
          </a:p>
        </p:txBody>
      </p:sp>
      <p:sp>
        <p:nvSpPr>
          <p:cNvPr id="52" name="rev-128">
            <a:extLst xmlns:a="http://schemas.openxmlformats.org/drawingml/2006/main">
              <a:ext uri="{FF2B5EF4-FFF2-40B4-BE49-F238E27FC236}">
                <a16:creationId xmlns:a16="http://schemas.microsoft.com/office/drawing/2014/main" id="{ADFE56B2-2509-4DEB-8E98-0D892B375793}"/>
              </a:ext>
            </a:extLst>
          </p:cNvPr>
          <p:cNvSpPr>
            <a:spLocks xmlns:a="http://schemas.openxmlformats.org/drawingml/2006/main" noGrp="1"/>
          </p:cNvSpPr>
          <p:nvPr/>
        </p:nvSpPr>
        <p:spPr>
          <a:xfrm xmlns:a="http://schemas.openxmlformats.org/drawingml/2006/main">
            <a:off x="457200" y="145732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C4966"/>
                </a:solidFill>
                <a:latin typeface="Calibri"/>
                <a:ea typeface="Calibri"/>
                <a:cs typeface="Calibri"/>
              </a:defRPr>
            </a:pPr>
            <a:r>
              <a:rPr sz="1575" b="1">
                <a:solidFill>
                  <a:srgbClr val="8C4966"/>
                </a:solidFill>
                <a:latin typeface="Calibri"/>
                <a:ea typeface="Calibri"/>
                <a:cs typeface="Calibri"/>
              </a:rPr>
              <a:t>Mind2Web</a:t>
            </a:r>
          </a:p>
        </p:txBody>
      </p:sp>
      <p:sp>
        <p:nvSpPr>
          <p:cNvPr id="53" name="rev-129">
            <a:extLst xmlns:a="http://schemas.openxmlformats.org/drawingml/2006/main">
              <a:ext uri="{FF2B5EF4-FFF2-40B4-BE49-F238E27FC236}">
                <a16:creationId xmlns:a16="http://schemas.microsoft.com/office/drawing/2014/main" id="{52501D60-7AE3-4A0D-8355-F1B2A1CF709A}"/>
              </a:ext>
            </a:extLst>
          </p:cNvPr>
          <p:cNvSpPr>
            <a:spLocks xmlns:a="http://schemas.openxmlformats.org/drawingml/2006/main" noGrp="1"/>
          </p:cNvSpPr>
          <p:nvPr/>
        </p:nvSpPr>
        <p:spPr>
          <a:xfrm xmlns:a="http://schemas.openxmlformats.org/drawingml/2006/main">
            <a:off x="2047875" y="1457325"/>
            <a:ext cx="381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Generalist web-agent benchmark</a:t>
            </a:r>
          </a:p>
        </p:txBody>
      </p:sp>
      <p:sp>
        <p:nvSpPr>
          <p:cNvPr id="54" name="rev-130">
            <a:extLst xmlns:a="http://schemas.openxmlformats.org/drawingml/2006/main">
              <a:ext uri="{FF2B5EF4-FFF2-40B4-BE49-F238E27FC236}">
                <a16:creationId xmlns:a16="http://schemas.microsoft.com/office/drawing/2014/main" id="{AC74AF72-CB2D-4A19-939F-EB975DB23123}"/>
              </a:ext>
            </a:extLst>
          </p:cNvPr>
          <p:cNvSpPr>
            <a:spLocks xmlns:a="http://schemas.openxmlformats.org/drawingml/2006/main" noGrp="1"/>
          </p:cNvSpPr>
          <p:nvPr/>
        </p:nvSpPr>
        <p:spPr>
          <a:xfrm xmlns:a="http://schemas.openxmlformats.org/drawingml/2006/main">
            <a:off x="2047875" y="171450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8C4966"/>
                </a:solidFill>
                <a:latin typeface="Calibri"/>
                <a:ea typeface="Calibri"/>
                <a:cs typeface="Calibri"/>
              </a:defRPr>
            </a:pPr>
            <a:r>
              <a:rPr sz="1200">
                <a:solidFill>
                  <a:srgbClr val="8C4966"/>
                </a:solidFill>
                <a:latin typeface="Calibri"/>
                <a:ea typeface="Calibri"/>
                <a:cs typeface="Calibri"/>
                <a:hlinkClick xmlns:r="http://schemas.openxmlformats.org/officeDocument/2006/relationships" r:id="R172ebeb170d44efd"/>
              </a:rPr>
              <a:t>arxiv.org/abs/2306.06070</a:t>
            </a:r>
          </a:p>
        </p:txBody>
      </p:sp>
      <p:sp>
        <p:nvSpPr>
          <p:cNvPr id="55" name="rev-131">
            <a:extLst xmlns:a="http://schemas.openxmlformats.org/drawingml/2006/main">
              <a:ext uri="{FF2B5EF4-FFF2-40B4-BE49-F238E27FC236}">
                <a16:creationId xmlns:a16="http://schemas.microsoft.com/office/drawing/2014/main" id="{2BA3F126-EA7A-4014-809D-3261A1BA4E23}"/>
              </a:ext>
            </a:extLst>
          </p:cNvPr>
          <p:cNvSpPr>
            <a:spLocks xmlns:a="http://schemas.openxmlformats.org/drawingml/2006/main" noGrp="1"/>
          </p:cNvSpPr>
          <p:nvPr/>
        </p:nvSpPr>
        <p:spPr>
          <a:xfrm xmlns:a="http://schemas.openxmlformats.org/drawingml/2006/main">
            <a:off x="457200" y="208597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C4966"/>
                </a:solidFill>
                <a:latin typeface="Calibri"/>
                <a:ea typeface="Calibri"/>
                <a:cs typeface="Calibri"/>
              </a:defRPr>
            </a:pPr>
            <a:r>
              <a:rPr sz="1575" b="1">
                <a:solidFill>
                  <a:srgbClr val="8C4966"/>
                </a:solidFill>
                <a:latin typeface="Calibri"/>
                <a:ea typeface="Calibri"/>
                <a:cs typeface="Calibri"/>
              </a:rPr>
              <a:t>SeeAct</a:t>
            </a:r>
          </a:p>
        </p:txBody>
      </p:sp>
      <p:sp>
        <p:nvSpPr>
          <p:cNvPr id="56" name="rev-132">
            <a:extLst xmlns:a="http://schemas.openxmlformats.org/drawingml/2006/main">
              <a:ext uri="{FF2B5EF4-FFF2-40B4-BE49-F238E27FC236}">
                <a16:creationId xmlns:a16="http://schemas.microsoft.com/office/drawing/2014/main" id="{55AA49F6-25DF-4FCB-8AD8-817086FFE91A}"/>
              </a:ext>
            </a:extLst>
          </p:cNvPr>
          <p:cNvSpPr>
            <a:spLocks xmlns:a="http://schemas.openxmlformats.org/drawingml/2006/main" noGrp="1"/>
          </p:cNvSpPr>
          <p:nvPr/>
        </p:nvSpPr>
        <p:spPr>
          <a:xfrm xmlns:a="http://schemas.openxmlformats.org/drawingml/2006/main">
            <a:off x="2047875" y="2085975"/>
            <a:ext cx="381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Grounding web actions</a:t>
            </a:r>
          </a:p>
        </p:txBody>
      </p:sp>
      <p:sp>
        <p:nvSpPr>
          <p:cNvPr id="57" name="rev-133">
            <a:extLst xmlns:a="http://schemas.openxmlformats.org/drawingml/2006/main">
              <a:ext uri="{FF2B5EF4-FFF2-40B4-BE49-F238E27FC236}">
                <a16:creationId xmlns:a16="http://schemas.microsoft.com/office/drawing/2014/main" id="{0F787A49-3809-4C87-88A5-3B53BB7E0E13}"/>
              </a:ext>
            </a:extLst>
          </p:cNvPr>
          <p:cNvSpPr>
            <a:spLocks xmlns:a="http://schemas.openxmlformats.org/drawingml/2006/main" noGrp="1"/>
          </p:cNvSpPr>
          <p:nvPr/>
        </p:nvSpPr>
        <p:spPr>
          <a:xfrm xmlns:a="http://schemas.openxmlformats.org/drawingml/2006/main">
            <a:off x="2047875" y="234315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8C4966"/>
                </a:solidFill>
                <a:latin typeface="Calibri"/>
                <a:ea typeface="Calibri"/>
                <a:cs typeface="Calibri"/>
              </a:defRPr>
            </a:pPr>
            <a:r>
              <a:rPr sz="1200">
                <a:solidFill>
                  <a:srgbClr val="8C4966"/>
                </a:solidFill>
                <a:latin typeface="Calibri"/>
                <a:ea typeface="Calibri"/>
                <a:cs typeface="Calibri"/>
                <a:hlinkClick xmlns:r="http://schemas.openxmlformats.org/officeDocument/2006/relationships" r:id="R03b02278e725400d"/>
              </a:rPr>
              <a:t>arxiv.org/abs/2401.01614</a:t>
            </a:r>
          </a:p>
        </p:txBody>
      </p:sp>
      <p:sp>
        <p:nvSpPr>
          <p:cNvPr id="58" name="rev-134">
            <a:extLst xmlns:a="http://schemas.openxmlformats.org/drawingml/2006/main">
              <a:ext uri="{FF2B5EF4-FFF2-40B4-BE49-F238E27FC236}">
                <a16:creationId xmlns:a16="http://schemas.microsoft.com/office/drawing/2014/main" id="{0715AF52-248D-4ECD-B378-8F7AA5AF2508}"/>
              </a:ext>
            </a:extLst>
          </p:cNvPr>
          <p:cNvSpPr>
            <a:spLocks xmlns:a="http://schemas.openxmlformats.org/drawingml/2006/main" noGrp="1"/>
          </p:cNvSpPr>
          <p:nvPr/>
        </p:nvSpPr>
        <p:spPr>
          <a:xfrm xmlns:a="http://schemas.openxmlformats.org/drawingml/2006/main">
            <a:off x="457200" y="271462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C4966"/>
                </a:solidFill>
                <a:latin typeface="Calibri"/>
                <a:ea typeface="Calibri"/>
                <a:cs typeface="Calibri"/>
              </a:defRPr>
            </a:pPr>
            <a:r>
              <a:rPr sz="1575" b="1">
                <a:solidFill>
                  <a:srgbClr val="8C4966"/>
                </a:solidFill>
                <a:latin typeface="Calibri"/>
                <a:ea typeface="Calibri"/>
                <a:cs typeface="Calibri"/>
              </a:rPr>
              <a:t>OmniParser</a:t>
            </a:r>
          </a:p>
        </p:txBody>
      </p:sp>
      <p:sp>
        <p:nvSpPr>
          <p:cNvPr id="59" name="rev-135">
            <a:extLst xmlns:a="http://schemas.openxmlformats.org/drawingml/2006/main">
              <a:ext uri="{FF2B5EF4-FFF2-40B4-BE49-F238E27FC236}">
                <a16:creationId xmlns:a16="http://schemas.microsoft.com/office/drawing/2014/main" id="{F09A9137-3630-4109-AA88-A646D12E5242}"/>
              </a:ext>
            </a:extLst>
          </p:cNvPr>
          <p:cNvSpPr>
            <a:spLocks xmlns:a="http://schemas.openxmlformats.org/drawingml/2006/main" noGrp="1"/>
          </p:cNvSpPr>
          <p:nvPr/>
        </p:nvSpPr>
        <p:spPr>
          <a:xfrm xmlns:a="http://schemas.openxmlformats.org/drawingml/2006/main">
            <a:off x="2047875" y="2714625"/>
            <a:ext cx="381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Visual screen parsing</a:t>
            </a:r>
          </a:p>
        </p:txBody>
      </p:sp>
      <p:sp>
        <p:nvSpPr>
          <p:cNvPr id="60" name="rev-136">
            <a:extLst xmlns:a="http://schemas.openxmlformats.org/drawingml/2006/main">
              <a:ext uri="{FF2B5EF4-FFF2-40B4-BE49-F238E27FC236}">
                <a16:creationId xmlns:a16="http://schemas.microsoft.com/office/drawing/2014/main" id="{29FA69EA-3EFF-4B5C-93C9-1D506CB53680}"/>
              </a:ext>
            </a:extLst>
          </p:cNvPr>
          <p:cNvSpPr>
            <a:spLocks xmlns:a="http://schemas.openxmlformats.org/drawingml/2006/main" noGrp="1"/>
          </p:cNvSpPr>
          <p:nvPr/>
        </p:nvSpPr>
        <p:spPr>
          <a:xfrm xmlns:a="http://schemas.openxmlformats.org/drawingml/2006/main">
            <a:off x="2047875" y="297180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8C4966"/>
                </a:solidFill>
                <a:latin typeface="Calibri"/>
                <a:ea typeface="Calibri"/>
                <a:cs typeface="Calibri"/>
              </a:defRPr>
            </a:pPr>
            <a:r>
              <a:rPr sz="1200">
                <a:solidFill>
                  <a:srgbClr val="8C4966"/>
                </a:solidFill>
                <a:latin typeface="Calibri"/>
                <a:ea typeface="Calibri"/>
                <a:cs typeface="Calibri"/>
                <a:hlinkClick xmlns:r="http://schemas.openxmlformats.org/officeDocument/2006/relationships" r:id="Rd82c1273f93c40ba"/>
              </a:rPr>
              <a:t>arxiv.org/abs/2408.00203</a:t>
            </a:r>
          </a:p>
        </p:txBody>
      </p:sp>
      <p:sp>
        <p:nvSpPr>
          <p:cNvPr id="61" name="rev-137">
            <a:extLst xmlns:a="http://schemas.openxmlformats.org/drawingml/2006/main">
              <a:ext uri="{FF2B5EF4-FFF2-40B4-BE49-F238E27FC236}">
                <a16:creationId xmlns:a16="http://schemas.microsoft.com/office/drawing/2014/main" id="{156BC2CB-D80B-44C7-BEEE-E6A5F9E6005B}"/>
              </a:ext>
            </a:extLst>
          </p:cNvPr>
          <p:cNvSpPr>
            <a:spLocks xmlns:a="http://schemas.openxmlformats.org/drawingml/2006/main" noGrp="1"/>
          </p:cNvSpPr>
          <p:nvPr/>
        </p:nvSpPr>
        <p:spPr>
          <a:xfrm xmlns:a="http://schemas.openxmlformats.org/drawingml/2006/main">
            <a:off x="457200" y="334327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C4966"/>
                </a:solidFill>
                <a:latin typeface="Calibri"/>
                <a:ea typeface="Calibri"/>
                <a:cs typeface="Calibri"/>
              </a:defRPr>
            </a:pPr>
            <a:r>
              <a:rPr sz="1575" b="1">
                <a:solidFill>
                  <a:srgbClr val="8C4966"/>
                </a:solidFill>
                <a:latin typeface="Calibri"/>
                <a:ea typeface="Calibri"/>
                <a:cs typeface="Calibri"/>
              </a:rPr>
              <a:t>PrivWeb</a:t>
            </a:r>
          </a:p>
        </p:txBody>
      </p:sp>
      <p:sp>
        <p:nvSpPr>
          <p:cNvPr id="62" name="rev-138">
            <a:extLst xmlns:a="http://schemas.openxmlformats.org/drawingml/2006/main">
              <a:ext uri="{FF2B5EF4-FFF2-40B4-BE49-F238E27FC236}">
                <a16:creationId xmlns:a16="http://schemas.microsoft.com/office/drawing/2014/main" id="{5090DF9E-2698-4BDC-9AB9-B280FBE96315}"/>
              </a:ext>
            </a:extLst>
          </p:cNvPr>
          <p:cNvSpPr>
            <a:spLocks xmlns:a="http://schemas.openxmlformats.org/drawingml/2006/main" noGrp="1"/>
          </p:cNvSpPr>
          <p:nvPr/>
        </p:nvSpPr>
        <p:spPr>
          <a:xfrm xmlns:a="http://schemas.openxmlformats.org/drawingml/2006/main">
            <a:off x="2047875" y="3343275"/>
            <a:ext cx="381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Local privacy filtering and controls</a:t>
            </a:r>
          </a:p>
        </p:txBody>
      </p:sp>
      <p:sp>
        <p:nvSpPr>
          <p:cNvPr id="63" name="rev-139">
            <a:extLst xmlns:a="http://schemas.openxmlformats.org/drawingml/2006/main">
              <a:ext uri="{FF2B5EF4-FFF2-40B4-BE49-F238E27FC236}">
                <a16:creationId xmlns:a16="http://schemas.microsoft.com/office/drawing/2014/main" id="{B21F8CA1-5D86-4DEF-9B09-36B1EE9D847B}"/>
              </a:ext>
            </a:extLst>
          </p:cNvPr>
          <p:cNvSpPr>
            <a:spLocks xmlns:a="http://schemas.openxmlformats.org/drawingml/2006/main" noGrp="1"/>
          </p:cNvSpPr>
          <p:nvPr/>
        </p:nvSpPr>
        <p:spPr>
          <a:xfrm xmlns:a="http://schemas.openxmlformats.org/drawingml/2006/main">
            <a:off x="2047875" y="360045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8C4966"/>
                </a:solidFill>
                <a:latin typeface="Calibri"/>
                <a:ea typeface="Calibri"/>
                <a:cs typeface="Calibri"/>
              </a:defRPr>
            </a:pPr>
            <a:r>
              <a:rPr sz="1200">
                <a:solidFill>
                  <a:srgbClr val="8C4966"/>
                </a:solidFill>
                <a:latin typeface="Calibri"/>
                <a:ea typeface="Calibri"/>
                <a:cs typeface="Calibri"/>
                <a:hlinkClick xmlns:r="http://schemas.openxmlformats.org/officeDocument/2006/relationships" r:id="Ref4521fcb89a4f49"/>
              </a:rPr>
              <a:t>arxiv.org/abs/2509.11939</a:t>
            </a:r>
          </a:p>
        </p:txBody>
      </p:sp>
      <p:sp>
        <p:nvSpPr>
          <p:cNvPr id="64" name="rev-140">
            <a:extLst xmlns:a="http://schemas.openxmlformats.org/drawingml/2006/main">
              <a:ext uri="{FF2B5EF4-FFF2-40B4-BE49-F238E27FC236}">
                <a16:creationId xmlns:a16="http://schemas.microsoft.com/office/drawing/2014/main" id="{F8231961-E5F1-4D8F-A60B-92B54A134E22}"/>
              </a:ext>
            </a:extLst>
          </p:cNvPr>
          <p:cNvSpPr>
            <a:spLocks xmlns:a="http://schemas.openxmlformats.org/drawingml/2006/main" noGrp="1"/>
          </p:cNvSpPr>
          <p:nvPr/>
        </p:nvSpPr>
        <p:spPr>
          <a:xfrm xmlns:a="http://schemas.openxmlformats.org/drawingml/2006/main">
            <a:off x="457200" y="3971925"/>
            <a:ext cx="1476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C4966"/>
                </a:solidFill>
                <a:latin typeface="Calibri"/>
                <a:ea typeface="Calibri"/>
                <a:cs typeface="Calibri"/>
              </a:defRPr>
            </a:pPr>
            <a:r>
              <a:rPr sz="1575" b="1">
                <a:solidFill>
                  <a:srgbClr val="8C4966"/>
                </a:solidFill>
                <a:latin typeface="Calibri"/>
                <a:ea typeface="Calibri"/>
                <a:cs typeface="Calibri"/>
              </a:rPr>
              <a:t>WebPII</a:t>
            </a:r>
          </a:p>
        </p:txBody>
      </p:sp>
      <p:sp>
        <p:nvSpPr>
          <p:cNvPr id="65" name="rev-141">
            <a:extLst xmlns:a="http://schemas.openxmlformats.org/drawingml/2006/main">
              <a:ext uri="{FF2B5EF4-FFF2-40B4-BE49-F238E27FC236}">
                <a16:creationId xmlns:a16="http://schemas.microsoft.com/office/drawing/2014/main" id="{6722EB09-E746-4A1C-8BF8-00AAA2DF5FC0}"/>
              </a:ext>
            </a:extLst>
          </p:cNvPr>
          <p:cNvSpPr>
            <a:spLocks xmlns:a="http://schemas.openxmlformats.org/drawingml/2006/main" noGrp="1"/>
          </p:cNvSpPr>
          <p:nvPr/>
        </p:nvSpPr>
        <p:spPr>
          <a:xfrm xmlns:a="http://schemas.openxmlformats.org/drawingml/2006/main">
            <a:off x="2047875" y="3971925"/>
            <a:ext cx="381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Visual PII benchmark and detector</a:t>
            </a:r>
          </a:p>
        </p:txBody>
      </p:sp>
      <p:sp>
        <p:nvSpPr>
          <p:cNvPr id="66" name="rev-142">
            <a:extLst xmlns:a="http://schemas.openxmlformats.org/drawingml/2006/main">
              <a:ext uri="{FF2B5EF4-FFF2-40B4-BE49-F238E27FC236}">
                <a16:creationId xmlns:a16="http://schemas.microsoft.com/office/drawing/2014/main" id="{80A3D3C9-9FF8-4B6F-A82C-341F587D2473}"/>
              </a:ext>
            </a:extLst>
          </p:cNvPr>
          <p:cNvSpPr>
            <a:spLocks xmlns:a="http://schemas.openxmlformats.org/drawingml/2006/main" noGrp="1"/>
          </p:cNvSpPr>
          <p:nvPr/>
        </p:nvSpPr>
        <p:spPr>
          <a:xfrm xmlns:a="http://schemas.openxmlformats.org/drawingml/2006/main">
            <a:off x="2047875" y="4229100"/>
            <a:ext cx="3667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8C4966"/>
                </a:solidFill>
                <a:latin typeface="Calibri"/>
                <a:ea typeface="Calibri"/>
                <a:cs typeface="Calibri"/>
              </a:defRPr>
            </a:pPr>
            <a:r>
              <a:rPr sz="1200">
                <a:solidFill>
                  <a:srgbClr val="8C4966"/>
                </a:solidFill>
                <a:latin typeface="Calibri"/>
                <a:ea typeface="Calibri"/>
                <a:cs typeface="Calibri"/>
                <a:hlinkClick xmlns:r="http://schemas.openxmlformats.org/officeDocument/2006/relationships" r:id="R6c2a1de204ab4dab"/>
              </a:rPr>
              <a:t>arxiv.org/abs/2603.17357</a:t>
            </a:r>
          </a:p>
        </p:txBody>
      </p:sp>
      <p:sp>
        <p:nvSpPr>
          <p:cNvPr id="67" name="rev-143">
            <a:extLst xmlns:a="http://schemas.openxmlformats.org/drawingml/2006/main">
              <a:ext uri="{FF2B5EF4-FFF2-40B4-BE49-F238E27FC236}">
                <a16:creationId xmlns:a16="http://schemas.microsoft.com/office/drawing/2014/main" id="{D1273BDA-E41E-4720-B821-B48CCDA1C8EF}"/>
              </a:ext>
            </a:extLst>
          </p:cNvPr>
          <p:cNvSpPr>
            <a:spLocks xmlns:a="http://schemas.openxmlformats.org/drawingml/2006/main" noGrp="1"/>
          </p:cNvSpPr>
          <p:nvPr/>
        </p:nvSpPr>
        <p:spPr>
          <a:xfrm xmlns:a="http://schemas.openxmlformats.org/drawingml/2006/main">
            <a:off x="6477000" y="1400175"/>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8C4966"/>
                </a:solidFill>
                <a:latin typeface="Calibri"/>
                <a:ea typeface="Calibri"/>
                <a:cs typeface="Calibri"/>
              </a:defRPr>
            </a:pPr>
            <a:r>
              <a:rPr sz="1500" b="1">
                <a:solidFill>
                  <a:srgbClr val="8C4966"/>
                </a:solidFill>
                <a:latin typeface="Calibri"/>
                <a:ea typeface="Calibri"/>
                <a:cs typeface="Calibri"/>
              </a:rPr>
              <a:t>Prototype and demonstration</a:t>
            </a:r>
          </a:p>
        </p:txBody>
      </p:sp>
      <p:sp>
        <p:nvSpPr>
          <p:cNvPr id="68" name="rev-144">
            <a:extLst xmlns:a="http://schemas.openxmlformats.org/drawingml/2006/main">
              <a:ext uri="{FF2B5EF4-FFF2-40B4-BE49-F238E27FC236}">
                <a16:creationId xmlns:a16="http://schemas.microsoft.com/office/drawing/2014/main" id="{3B4CAC34-F095-4D64-A0D8-D0870A8D7489}"/>
              </a:ext>
            </a:extLst>
          </p:cNvPr>
          <p:cNvSpPr>
            <a:spLocks xmlns:a="http://schemas.openxmlformats.org/drawingml/2006/main" noGrp="1"/>
          </p:cNvSpPr>
          <p:nvPr/>
        </p:nvSpPr>
        <p:spPr>
          <a:xfrm xmlns:a="http://schemas.openxmlformats.org/drawingml/2006/main">
            <a:off x="6477000" y="1828800"/>
            <a:ext cx="5257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8C4966"/>
                </a:solidFill>
                <a:latin typeface="Calibri"/>
                <a:ea typeface="Calibri"/>
                <a:cs typeface="Calibri"/>
              </a:defRPr>
            </a:pPr>
            <a:r>
              <a:rPr sz="1725" b="1">
                <a:solidFill>
                  <a:srgbClr val="8C4966"/>
                </a:solidFill>
                <a:latin typeface="Calibri"/>
                <a:ea typeface="Calibri"/>
                <a:cs typeface="Calibri"/>
              </a:rPr>
              <a:t>GitHub repository</a:t>
            </a:r>
          </a:p>
        </p:txBody>
      </p:sp>
      <p:sp>
        <p:nvSpPr>
          <p:cNvPr id="69" name="rev-145">
            <a:extLst xmlns:a="http://schemas.openxmlformats.org/drawingml/2006/main">
              <a:ext uri="{FF2B5EF4-FFF2-40B4-BE49-F238E27FC236}">
                <a16:creationId xmlns:a16="http://schemas.microsoft.com/office/drawing/2014/main" id="{FC50383F-BBFC-462E-A4ED-0546E974AD3D}"/>
              </a:ext>
            </a:extLst>
          </p:cNvPr>
          <p:cNvSpPr>
            <a:spLocks xmlns:a="http://schemas.openxmlformats.org/drawingml/2006/main" noGrp="1"/>
          </p:cNvSpPr>
          <p:nvPr/>
        </p:nvSpPr>
        <p:spPr>
          <a:xfrm xmlns:a="http://schemas.openxmlformats.org/drawingml/2006/main">
            <a:off x="6477000" y="218122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8C4966"/>
                </a:solidFill>
                <a:latin typeface="Calibri"/>
                <a:ea typeface="Calibri"/>
                <a:cs typeface="Calibri"/>
              </a:defRPr>
            </a:pPr>
            <a:r>
              <a:rPr sz="1425">
                <a:solidFill>
                  <a:srgbClr val="8C4966"/>
                </a:solidFill>
                <a:latin typeface="Calibri"/>
                <a:ea typeface="Calibri"/>
                <a:cs typeface="Calibri"/>
                <a:hlinkClick xmlns:r="http://schemas.openxmlformats.org/officeDocument/2006/relationships" r:id="R387f54d874f74fda"/>
              </a:rPr>
              <a:t>github.com/mynameisizhan-coder/AegisBrowse</a:t>
            </a:r>
          </a:p>
        </p:txBody>
      </p:sp>
      <p:sp>
        <p:nvSpPr>
          <p:cNvPr id="70" name="rev-146">
            <a:extLst xmlns:a="http://schemas.openxmlformats.org/drawingml/2006/main">
              <a:ext uri="{FF2B5EF4-FFF2-40B4-BE49-F238E27FC236}">
                <a16:creationId xmlns:a16="http://schemas.microsoft.com/office/drawing/2014/main" id="{F35BB0A1-E807-4F92-ABA2-19D5A93688D5}"/>
              </a:ext>
            </a:extLst>
          </p:cNvPr>
          <p:cNvSpPr>
            <a:spLocks xmlns:a="http://schemas.openxmlformats.org/drawingml/2006/main" noGrp="1"/>
          </p:cNvSpPr>
          <p:nvPr/>
        </p:nvSpPr>
        <p:spPr>
          <a:xfrm xmlns:a="http://schemas.openxmlformats.org/drawingml/2006/main">
            <a:off x="6477000" y="2495550"/>
            <a:ext cx="5257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53616D"/>
                </a:solidFill>
                <a:latin typeface="Calibri"/>
                <a:ea typeface="Calibri"/>
                <a:cs typeface="Calibri"/>
              </a:defRPr>
            </a:pPr>
            <a:r>
              <a:rPr sz="1350">
                <a:solidFill>
                  <a:srgbClr val="53616D"/>
                </a:solidFill>
                <a:latin typeface="Calibri"/>
                <a:ea typeface="Calibri"/>
                <a:cs typeface="Calibri"/>
              </a:rPr>
              <a:t>Extension, server, benchmark scripts and results</a:t>
            </a:r>
          </a:p>
        </p:txBody>
      </p:sp>
      <p:sp>
        <p:nvSpPr>
          <p:cNvPr id="71" name="rev-147">
            <a:extLst xmlns:a="http://schemas.openxmlformats.org/drawingml/2006/main">
              <a:ext uri="{FF2B5EF4-FFF2-40B4-BE49-F238E27FC236}">
                <a16:creationId xmlns:a16="http://schemas.microsoft.com/office/drawing/2014/main" id="{13C73787-2AF7-40BD-BF3E-EDD7F1920AD1}"/>
              </a:ext>
            </a:extLst>
          </p:cNvPr>
          <p:cNvSpPr>
            <a:spLocks xmlns:a="http://schemas.openxmlformats.org/drawingml/2006/main" noGrp="1"/>
          </p:cNvSpPr>
          <p:nvPr/>
        </p:nvSpPr>
        <p:spPr>
          <a:xfrm xmlns:a="http://schemas.openxmlformats.org/drawingml/2006/main">
            <a:off x="6477000" y="2933700"/>
            <a:ext cx="5257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8C4966"/>
                </a:solidFill>
                <a:latin typeface="Calibri"/>
                <a:ea typeface="Calibri"/>
                <a:cs typeface="Calibri"/>
              </a:defRPr>
            </a:pPr>
            <a:r>
              <a:rPr sz="1725" b="1">
                <a:solidFill>
                  <a:srgbClr val="8C4966"/>
                </a:solidFill>
                <a:latin typeface="Calibri"/>
                <a:ea typeface="Calibri"/>
                <a:cs typeface="Calibri"/>
              </a:rPr>
              <a:t>YouTube walkthrough</a:t>
            </a:r>
          </a:p>
        </p:txBody>
      </p:sp>
      <p:sp>
        <p:nvSpPr>
          <p:cNvPr id="72" name="rev-148">
            <a:extLst xmlns:a="http://schemas.openxmlformats.org/drawingml/2006/main">
              <a:ext uri="{FF2B5EF4-FFF2-40B4-BE49-F238E27FC236}">
                <a16:creationId xmlns:a16="http://schemas.microsoft.com/office/drawing/2014/main" id="{B5B030CA-005B-4DC6-B05E-89D795457AD6}"/>
              </a:ext>
            </a:extLst>
          </p:cNvPr>
          <p:cNvSpPr>
            <a:spLocks xmlns:a="http://schemas.openxmlformats.org/drawingml/2006/main" noGrp="1"/>
          </p:cNvSpPr>
          <p:nvPr/>
        </p:nvSpPr>
        <p:spPr>
          <a:xfrm xmlns:a="http://schemas.openxmlformats.org/drawingml/2006/main">
            <a:off x="6477000" y="3286125"/>
            <a:ext cx="525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a:solidFill>
                  <a:srgbClr val="8C4966"/>
                </a:solidFill>
                <a:latin typeface="Calibri"/>
                <a:ea typeface="Calibri"/>
                <a:cs typeface="Calibri"/>
              </a:defRPr>
            </a:pPr>
            <a:r>
              <a:rPr sz="1500">
                <a:solidFill>
                  <a:srgbClr val="8C4966"/>
                </a:solidFill>
                <a:latin typeface="Calibri"/>
                <a:ea typeface="Calibri"/>
                <a:cs typeface="Calibri"/>
                <a:hlinkClick xmlns:r="http://schemas.openxmlformats.org/officeDocument/2006/relationships" r:id="R54d88c3503974d88"/>
              </a:rPr>
              <a:t>youtu.be/heZiO6_-ZtE</a:t>
            </a:r>
          </a:p>
        </p:txBody>
      </p:sp>
      <p:sp>
        <p:nvSpPr>
          <p:cNvPr id="73" name="rev-149">
            <a:extLst xmlns:a="http://schemas.openxmlformats.org/drawingml/2006/main">
              <a:ext uri="{FF2B5EF4-FFF2-40B4-BE49-F238E27FC236}">
                <a16:creationId xmlns:a16="http://schemas.microsoft.com/office/drawing/2014/main" id="{744B9D63-A345-4766-9DFA-73D5FB0C0AA2}"/>
              </a:ext>
            </a:extLst>
          </p:cNvPr>
          <p:cNvSpPr>
            <a:spLocks xmlns:a="http://schemas.openxmlformats.org/drawingml/2006/main" noGrp="1"/>
          </p:cNvSpPr>
          <p:nvPr/>
        </p:nvSpPr>
        <p:spPr>
          <a:xfrm xmlns:a="http://schemas.openxmlformats.org/drawingml/2006/main">
            <a:off x="6477000" y="3819525"/>
            <a:ext cx="5257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8C4966"/>
                </a:solidFill>
                <a:latin typeface="Calibri"/>
                <a:ea typeface="Calibri"/>
                <a:cs typeface="Calibri"/>
              </a:defRPr>
            </a:pPr>
            <a:r>
              <a:rPr sz="1500" b="1">
                <a:solidFill>
                  <a:srgbClr val="8C4966"/>
                </a:solidFill>
                <a:latin typeface="Calibri"/>
                <a:ea typeface="Calibri"/>
                <a:cs typeface="Calibri"/>
              </a:rPr>
              <a:t>Prior work and our contribution</a:t>
            </a:r>
          </a:p>
        </p:txBody>
      </p:sp>
      <p:sp>
        <p:nvSpPr>
          <p:cNvPr id="74" name="rev-150">
            <a:extLst xmlns:a="http://schemas.openxmlformats.org/drawingml/2006/main">
              <a:ext uri="{FF2B5EF4-FFF2-40B4-BE49-F238E27FC236}">
                <a16:creationId xmlns:a16="http://schemas.microsoft.com/office/drawing/2014/main" id="{9F60BDD4-ACA1-4983-9BA7-D718361ECDDC}"/>
              </a:ext>
            </a:extLst>
          </p:cNvPr>
          <p:cNvSpPr>
            <a:spLocks xmlns:a="http://schemas.openxmlformats.org/drawingml/2006/main" noGrp="1"/>
          </p:cNvSpPr>
          <p:nvPr/>
        </p:nvSpPr>
        <p:spPr>
          <a:xfrm xmlns:a="http://schemas.openxmlformats.org/drawingml/2006/main">
            <a:off x="6477000" y="4181475"/>
            <a:ext cx="5257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Prior work already covers local privacy filtering.</a:t>
            </a:r>
          </a:p>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Our CPU study tests container rejection + selective OCR.</a:t>
            </a:r>
          </a:p>
          <a:p xmlns:a="http://schemas.openxmlformats.org/drawingml/2006/main">
            <a:pPr>
              <a:defRPr sz="1425">
                <a:solidFill>
                  <a:srgbClr val="202B36"/>
                </a:solidFill>
                <a:latin typeface="Calibri"/>
                <a:ea typeface="Calibri"/>
                <a:cs typeface="Calibri"/>
              </a:defRPr>
            </a:pPr>
            <a:r>
              <a:rPr sz="1425">
                <a:solidFill>
                  <a:srgbClr val="202B36"/>
                </a:solidFill>
                <a:latin typeface="Calibri"/>
                <a:ea typeface="Calibri"/>
                <a:cs typeface="Calibri"/>
              </a:rPr>
              <a:t>Task-aware disclosure needs a separate ablation.</a:t>
            </a:r>
          </a:p>
        </p:txBody>
      </p:sp>
      <p:sp>
        <p:nvSpPr>
          <p:cNvPr id="75" name="rev-151">
            <a:extLst xmlns:a="http://schemas.openxmlformats.org/drawingml/2006/main">
              <a:ext uri="{FF2B5EF4-FFF2-40B4-BE49-F238E27FC236}">
                <a16:creationId xmlns:a16="http://schemas.microsoft.com/office/drawing/2014/main" id="{C3CB1278-6983-4CC4-A0D2-82DBDBA8C50F}"/>
              </a:ext>
            </a:extLst>
          </p:cNvPr>
          <p:cNvSpPr>
            <a:spLocks xmlns:a="http://schemas.openxmlformats.org/drawingml/2006/main" noGrp="1"/>
          </p:cNvSpPr>
          <p:nvPr/>
        </p:nvSpPr>
        <p:spPr>
          <a:xfrm xmlns:a="http://schemas.openxmlformats.org/drawingml/2006/main">
            <a:off x="457200" y="5133975"/>
            <a:ext cx="11277600" cy="0"/>
          </a:xfrm>
          <a:prstGeom xmlns:a="http://schemas.openxmlformats.org/drawingml/2006/main" prst="line">
            <a:avLst/>
          </a:prstGeom>
          <a:noFill xmlns:a="http://schemas.openxmlformats.org/drawingml/2006/main"/>
          <a:ln xmlns:a="http://schemas.openxmlformats.org/drawingml/2006/main" w="9525">
            <a:solidFill>
              <a:srgbClr val="CBD3DA"/>
            </a:solidFill>
          </a:ln>
        </p:spPr>
      </p:sp>
      <p:sp>
        <p:nvSpPr>
          <p:cNvPr id="76" name="rev-152">
            <a:extLst xmlns:a="http://schemas.openxmlformats.org/drawingml/2006/main">
              <a:ext uri="{FF2B5EF4-FFF2-40B4-BE49-F238E27FC236}">
                <a16:creationId xmlns:a16="http://schemas.microsoft.com/office/drawing/2014/main" id="{A3A144C8-CD52-49DF-9BDC-95C443855B60}"/>
              </a:ext>
            </a:extLst>
          </p:cNvPr>
          <p:cNvSpPr>
            <a:spLocks xmlns:a="http://schemas.openxmlformats.org/drawingml/2006/main" noGrp="1"/>
          </p:cNvSpPr>
          <p:nvPr/>
        </p:nvSpPr>
        <p:spPr>
          <a:xfrm xmlns:a="http://schemas.openxmlformats.org/drawingml/2006/main">
            <a:off x="457200" y="52768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8C4966"/>
                </a:solidFill>
                <a:latin typeface="Calibri"/>
                <a:ea typeface="Calibri"/>
                <a:cs typeface="Calibri"/>
              </a:defRPr>
            </a:pPr>
            <a:r>
              <a:rPr sz="1500" b="1">
                <a:solidFill>
                  <a:srgbClr val="8C4966"/>
                </a:solidFill>
                <a:latin typeface="Calibri"/>
                <a:ea typeface="Calibri"/>
                <a:cs typeface="Calibri"/>
              </a:rPr>
              <a:t>Our research work: synthetic Indian-portal benchmark</a:t>
            </a:r>
          </a:p>
        </p:txBody>
      </p:sp>
      <p:sp>
        <p:nvSpPr>
          <p:cNvPr id="77" name="rev-153">
            <a:extLst xmlns:a="http://schemas.openxmlformats.org/drawingml/2006/main">
              <a:ext uri="{FF2B5EF4-FFF2-40B4-BE49-F238E27FC236}">
                <a16:creationId xmlns:a16="http://schemas.microsoft.com/office/drawing/2014/main" id="{C1015CC3-3CD7-4AD8-B2B4-B66A7A8C475E}"/>
              </a:ext>
            </a:extLst>
          </p:cNvPr>
          <p:cNvSpPr>
            <a:spLocks xmlns:a="http://schemas.openxmlformats.org/drawingml/2006/main" noGrp="1"/>
          </p:cNvSpPr>
          <p:nvPr/>
        </p:nvSpPr>
        <p:spPr>
          <a:xfrm xmlns:a="http://schemas.openxmlformats.org/drawingml/2006/main">
            <a:off x="457200" y="56578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8C4966"/>
                </a:solidFill>
                <a:latin typeface="Calibri"/>
                <a:ea typeface="Calibri"/>
                <a:cs typeface="Calibri"/>
              </a:defRPr>
            </a:pPr>
            <a:r>
              <a:rPr sz="1800" b="1">
                <a:solidFill>
                  <a:srgbClr val="8C4966"/>
                </a:solidFill>
                <a:latin typeface="Calibri"/>
                <a:ea typeface="Calibri"/>
                <a:cs typeface="Calibri"/>
              </a:rPr>
              <a:t>12 development pages</a:t>
            </a:r>
          </a:p>
        </p:txBody>
      </p:sp>
      <p:sp>
        <p:nvSpPr>
          <p:cNvPr id="78" name="rev-154">
            <a:extLst xmlns:a="http://schemas.openxmlformats.org/drawingml/2006/main">
              <a:ext uri="{FF2B5EF4-FFF2-40B4-BE49-F238E27FC236}">
                <a16:creationId xmlns:a16="http://schemas.microsoft.com/office/drawing/2014/main" id="{4D74C9B4-8DCE-45BA-BC7E-8954E3F3A805}"/>
              </a:ext>
            </a:extLst>
          </p:cNvPr>
          <p:cNvSpPr>
            <a:spLocks xmlns:a="http://schemas.openxmlformats.org/drawingml/2006/main" noGrp="1"/>
          </p:cNvSpPr>
          <p:nvPr/>
        </p:nvSpPr>
        <p:spPr>
          <a:xfrm xmlns:a="http://schemas.openxmlformats.org/drawingml/2006/main">
            <a:off x="457200" y="5953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202B36"/>
                </a:solidFill>
                <a:latin typeface="Calibri"/>
                <a:ea typeface="Calibri"/>
                <a:cs typeface="Calibri"/>
              </a:defRPr>
            </a:pPr>
            <a:r>
              <a:rPr sz="1275">
                <a:solidFill>
                  <a:srgbClr val="202B36"/>
                </a:solidFill>
                <a:latin typeface="Calibri"/>
                <a:ea typeface="Calibri"/>
                <a:cs typeface="Calibri"/>
              </a:rPr>
              <a:t>Scholarship + HR</a:t>
            </a:r>
          </a:p>
        </p:txBody>
      </p:sp>
      <p:sp>
        <p:nvSpPr>
          <p:cNvPr id="79" name="rev-155">
            <a:extLst xmlns:a="http://schemas.openxmlformats.org/drawingml/2006/main">
              <a:ext uri="{FF2B5EF4-FFF2-40B4-BE49-F238E27FC236}">
                <a16:creationId xmlns:a16="http://schemas.microsoft.com/office/drawing/2014/main" id="{856C6560-3FE7-4C18-9D29-FBE862D9D0C9}"/>
              </a:ext>
            </a:extLst>
          </p:cNvPr>
          <p:cNvSpPr>
            <a:spLocks xmlns:a="http://schemas.openxmlformats.org/drawingml/2006/main" noGrp="1"/>
          </p:cNvSpPr>
          <p:nvPr/>
        </p:nvSpPr>
        <p:spPr>
          <a:xfrm xmlns:a="http://schemas.openxmlformats.org/drawingml/2006/main">
            <a:off x="4343400" y="56578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8C4966"/>
                </a:solidFill>
                <a:latin typeface="Calibri"/>
                <a:ea typeface="Calibri"/>
                <a:cs typeface="Calibri"/>
              </a:defRPr>
            </a:pPr>
            <a:r>
              <a:rPr sz="1800" b="1">
                <a:solidFill>
                  <a:srgbClr val="8C4966"/>
                </a:solidFill>
                <a:latin typeface="Calibri"/>
                <a:ea typeface="Calibri"/>
                <a:cs typeface="Calibri"/>
              </a:rPr>
              <a:t>48 fresh test pages</a:t>
            </a:r>
          </a:p>
        </p:txBody>
      </p:sp>
      <p:sp>
        <p:nvSpPr>
          <p:cNvPr id="80" name="rev-156">
            <a:extLst xmlns:a="http://schemas.openxmlformats.org/drawingml/2006/main">
              <a:ext uri="{FF2B5EF4-FFF2-40B4-BE49-F238E27FC236}">
                <a16:creationId xmlns:a16="http://schemas.microsoft.com/office/drawing/2014/main" id="{169719E1-1AEF-4B06-BBC1-95C39BB06200}"/>
              </a:ext>
            </a:extLst>
          </p:cNvPr>
          <p:cNvSpPr>
            <a:spLocks xmlns:a="http://schemas.openxmlformats.org/drawingml/2006/main" noGrp="1"/>
          </p:cNvSpPr>
          <p:nvPr/>
        </p:nvSpPr>
        <p:spPr>
          <a:xfrm xmlns:a="http://schemas.openxmlformats.org/drawingml/2006/main">
            <a:off x="4343400" y="5953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202B36"/>
                </a:solidFill>
                <a:latin typeface="Calibri"/>
                <a:ea typeface="Calibri"/>
                <a:cs typeface="Calibri"/>
              </a:defRPr>
            </a:pPr>
            <a:r>
              <a:rPr sz="1275">
                <a:solidFill>
                  <a:srgbClr val="202B36"/>
                </a:solidFill>
                <a:latin typeface="Calibri"/>
                <a:ea typeface="Calibri"/>
                <a:cs typeface="Calibri"/>
              </a:rPr>
              <a:t>4 held-out families / 408 items</a:t>
            </a:r>
          </a:p>
        </p:txBody>
      </p:sp>
      <p:sp>
        <p:nvSpPr>
          <p:cNvPr id="81" name="rev-157">
            <a:extLst xmlns:a="http://schemas.openxmlformats.org/drawingml/2006/main">
              <a:ext uri="{FF2B5EF4-FFF2-40B4-BE49-F238E27FC236}">
                <a16:creationId xmlns:a16="http://schemas.microsoft.com/office/drawing/2014/main" id="{D6A59FB3-458F-4744-84EE-162EBE2991DD}"/>
              </a:ext>
            </a:extLst>
          </p:cNvPr>
          <p:cNvSpPr>
            <a:spLocks xmlns:a="http://schemas.openxmlformats.org/drawingml/2006/main" noGrp="1"/>
          </p:cNvSpPr>
          <p:nvPr/>
        </p:nvSpPr>
        <p:spPr>
          <a:xfrm xmlns:a="http://schemas.openxmlformats.org/drawingml/2006/main">
            <a:off x="8229600" y="56578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8C4966"/>
                </a:solidFill>
                <a:latin typeface="Calibri"/>
                <a:ea typeface="Calibri"/>
                <a:cs typeface="Calibri"/>
              </a:defRPr>
            </a:pPr>
            <a:r>
              <a:rPr sz="1800" b="1">
                <a:solidFill>
                  <a:srgbClr val="8C4966"/>
                </a:solidFill>
                <a:latin typeface="Calibri"/>
                <a:ea typeface="Calibri"/>
                <a:cs typeface="Calibri"/>
              </a:rPr>
              <a:t>48 DOM-blind variants</a:t>
            </a:r>
          </a:p>
        </p:txBody>
      </p:sp>
      <p:sp>
        <p:nvSpPr>
          <p:cNvPr id="82" name="rev-158">
            <a:extLst xmlns:a="http://schemas.openxmlformats.org/drawingml/2006/main">
              <a:ext uri="{FF2B5EF4-FFF2-40B4-BE49-F238E27FC236}">
                <a16:creationId xmlns:a16="http://schemas.microsoft.com/office/drawing/2014/main" id="{7ED285ED-5C0F-4285-9083-DD79D447E563}"/>
              </a:ext>
            </a:extLst>
          </p:cNvPr>
          <p:cNvSpPr>
            <a:spLocks xmlns:a="http://schemas.openxmlformats.org/drawingml/2006/main" noGrp="1"/>
          </p:cNvSpPr>
          <p:nvPr/>
        </p:nvSpPr>
        <p:spPr>
          <a:xfrm xmlns:a="http://schemas.openxmlformats.org/drawingml/2006/main">
            <a:off x="8229600" y="595312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202B36"/>
                </a:solidFill>
                <a:latin typeface="Calibri"/>
                <a:ea typeface="Calibri"/>
                <a:cs typeface="Calibri"/>
              </a:defRPr>
            </a:pPr>
            <a:r>
              <a:rPr sz="1275">
                <a:solidFill>
                  <a:srgbClr val="202B36"/>
                </a:solidFill>
                <a:latin typeface="Calibri"/>
                <a:ea typeface="Calibri"/>
                <a:cs typeface="Calibri"/>
              </a:rPr>
              <a:t>Reduced DOM on the same test pages</a:t>
            </a:r>
          </a:p>
        </p:txBody>
      </p:sp>
      <p:sp>
        <p:nvSpPr>
          <p:cNvPr id="83" name="rev-159">
            <a:extLst xmlns:a="http://schemas.openxmlformats.org/drawingml/2006/main">
              <a:ext uri="{FF2B5EF4-FFF2-40B4-BE49-F238E27FC236}">
                <a16:creationId xmlns:a16="http://schemas.microsoft.com/office/drawing/2014/main" id="{60ABE5E9-D83C-4943-840D-22ACE174BABD}"/>
              </a:ext>
            </a:extLst>
          </p:cNvPr>
          <p:cNvSpPr>
            <a:spLocks xmlns:a="http://schemas.openxmlformats.org/drawingml/2006/main" noGrp="1"/>
          </p:cNvSpPr>
          <p:nvPr/>
        </p:nvSpPr>
        <p:spPr>
          <a:xfrm xmlns:a="http://schemas.openxmlformats.org/drawingml/2006/main">
            <a:off x="457200" y="6229350"/>
            <a:ext cx="8477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a:solidFill>
                  <a:srgbClr val="53616D"/>
                </a:solidFill>
                <a:latin typeface="Calibri"/>
                <a:ea typeface="Calibri"/>
                <a:cs typeface="Calibri"/>
              </a:defRPr>
            </a:pPr>
            <a:r>
              <a:rPr sz="975">
                <a:solidFill>
                  <a:srgbClr val="53616D"/>
                </a:solidFill>
                <a:latin typeface="Calibri"/>
                <a:ea typeface="Calibri"/>
                <a:cs typeface="Calibri"/>
                <a:hlinkClick xmlns:r="http://schemas.openxmlformats.org/officeDocument/2006/relationships" r:id="R1442e06fea764793"/>
              </a:rPr>
              <a:t>Benchmark report: nexora_benchmark/SELECTIVE_RESULTS.md</a:t>
            </a:r>
          </a:p>
        </p:txBody>
      </p:sp>
      <p:sp>
        <p:nvSpPr>
          <p:cNvPr id="84" name="rev-160">
            <a:extLst xmlns:a="http://schemas.openxmlformats.org/drawingml/2006/main">
              <a:ext uri="{FF2B5EF4-FFF2-40B4-BE49-F238E27FC236}">
                <a16:creationId xmlns:a16="http://schemas.microsoft.com/office/drawing/2014/main" id="{EFF85341-E1AD-42C2-B6CC-0F12CE8ADEDA}"/>
              </a:ext>
            </a:extLst>
          </p:cNvPr>
          <p:cNvSpPr>
            <a:spLocks xmlns:a="http://schemas.openxmlformats.org/drawingml/2006/main" noGrp="1"/>
          </p:cNvSpPr>
          <p:nvPr/>
        </p:nvSpPr>
        <p:spPr>
          <a:xfrm xmlns:a="http://schemas.openxmlformats.org/drawingml/2006/main">
            <a:off x="9086850" y="6229350"/>
            <a:ext cx="26479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75">
                <a:solidFill>
                  <a:srgbClr val="53616D"/>
                </a:solidFill>
                <a:latin typeface="Calibri"/>
                <a:ea typeface="Calibri"/>
                <a:cs typeface="Calibri"/>
              </a:defRPr>
            </a:pPr>
            <a:r>
              <a:rPr sz="975">
                <a:solidFill>
                  <a:srgbClr val="53616D"/>
                </a:solidFill>
                <a:latin typeface="Calibri"/>
                <a:ea typeface="Calibri"/>
                <a:cs typeface="Calibri"/>
              </a:rPr>
              <a:t>Ground truth: scorer only</a:t>
            </a:r>
          </a:p>
        </p:txBody>
      </p:sp>
    </p:spTree>
    <p:extLst>
      <p:ext uri="{BB962C8B-B14F-4D97-AF65-F5344CB8AC3E}">
        <p14:creationId xmlns:p14="http://schemas.microsoft.com/office/powerpoint/2010/main" val="167940495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2026-10-04T09:53:49.0980000Z</dcterms:created>
  <dcterms:modified xsi:type="dcterms:W3CDTF">2026-10-04T09:53:49.0980000Z</dcterms:modified>
</coreProperties>
</file>