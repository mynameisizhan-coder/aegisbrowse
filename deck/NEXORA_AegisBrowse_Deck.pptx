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da97355fc474bc0" /><Relationship Type="http://schemas.openxmlformats.org/officeDocument/2006/relationships/extended-properties" Target="/docProps/app.xml" Id="Rc50610b252df40a2" /><Relationship Type="http://schemas.openxmlformats.org/officeDocument/2006/relationships/officeDocument" Target="/ppt/presentation.xml" Id="Rd6bbbfcfc728484f" /></Relationships>
</file>

<file path=ppt/presentation.xml><?xml version="1.0" encoding="utf-8"?>
<p:presentation xmlns:p="http://schemas.openxmlformats.org/presentationml/2006/main">
  <p:sldMasterIdLst>
    <p:sldMasterId xmlns:r="http://schemas.openxmlformats.org/officeDocument/2006/relationships" id="2147483648" r:id="Rfa152bc3d19d4a09"/>
  </p:sldMasterIdLst>
  <p:notesMasterIdLst>
    <p:notesMasterId xmlns:r="http://schemas.openxmlformats.org/officeDocument/2006/relationships" r:id="R1a53bd5eeaeb430b"/>
  </p:notesMasterIdLst>
  <p:sldIdLst>
    <p:sldId xmlns:r="http://schemas.openxmlformats.org/officeDocument/2006/relationships" id="256" r:id="R442338eeba184285"/>
    <p:sldId xmlns:r="http://schemas.openxmlformats.org/officeDocument/2006/relationships" id="257" r:id="Rb61c1d1622d84245"/>
    <p:sldId xmlns:r="http://schemas.openxmlformats.org/officeDocument/2006/relationships" id="258" r:id="R6d9aecdec6cb4918"/>
    <p:sldId xmlns:r="http://schemas.openxmlformats.org/officeDocument/2006/relationships" id="259" r:id="R61e94ade827a4c62"/>
    <p:sldId xmlns:r="http://schemas.openxmlformats.org/officeDocument/2006/relationships" id="260" r:id="R90a564cc79a94856"/>
    <p:sldId xmlns:r="http://schemas.openxmlformats.org/officeDocument/2006/relationships" id="261" r:id="R8a82beced3934e8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ec8b88d45c1e450d" /><Relationship Type="http://schemas.openxmlformats.org/officeDocument/2006/relationships/slideMaster" Target="/ppt/slideMasters/slideMaster1.xml" Id="Rfa152bc3d19d4a09" /><Relationship Type="http://schemas.openxmlformats.org/officeDocument/2006/relationships/notesMaster" Target="/ppt/notesMasters/notesMaster1.xml" Id="R1a53bd5eeaeb430b" /><Relationship Type="http://schemas.openxmlformats.org/officeDocument/2006/relationships/presProps" Target="/ppt/presProps.xml" Id="R5d2614250bcc4cee" /><Relationship Type="http://schemas.openxmlformats.org/officeDocument/2006/relationships/viewProps" Target="/ppt/viewProps.xml" Id="Rfdbb12a7b845481b" /><Relationship Type="http://schemas.openxmlformats.org/officeDocument/2006/relationships/tableStyles" Target="/ppt/tableStyles.xml" Id="R8d04fa75ab7b4705" /><Relationship Type="http://schemas.openxmlformats.org/officeDocument/2006/relationships/slide" Target="/ppt/slides/slide1.xml" Id="R442338eeba184285" /><Relationship Type="http://schemas.openxmlformats.org/officeDocument/2006/relationships/slide" Target="/ppt/slides/slide2.xml" Id="Rb61c1d1622d84245" /><Relationship Type="http://schemas.openxmlformats.org/officeDocument/2006/relationships/slide" Target="/ppt/slides/slide3.xml" Id="R6d9aecdec6cb4918" /><Relationship Type="http://schemas.openxmlformats.org/officeDocument/2006/relationships/slide" Target="/ppt/slides/slide4.xml" Id="R61e94ade827a4c62" /><Relationship Type="http://schemas.openxmlformats.org/officeDocument/2006/relationships/slide" Target="/ppt/slides/slide5.xml" Id="R90a564cc79a94856" /><Relationship Type="http://schemas.openxmlformats.org/officeDocument/2006/relationships/slide" Target="/ppt/slides/slide6.xml" Id="R8a82beced3934e8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a4b328d5864473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a4b5e79adee4ec8" /><Relationship Type="http://schemas.openxmlformats.org/officeDocument/2006/relationships/notesMaster" Target="/ppt/notesMasters/notesMaster1.xml" Id="R69a55a5a99794874" /></Relationships>
</file>

<file path=ppt/notesSlides/_rels/notesSlide2.xml.rels>&#65279;<?xml version="1.0" encoding="utf-8"?><Relationships xmlns="http://schemas.openxmlformats.org/package/2006/relationships"><Relationship Type="http://schemas.openxmlformats.org/officeDocument/2006/relationships/slide" Target="/ppt/slides/slide2.xml" Id="R71c97a2058fc48f1" /><Relationship Type="http://schemas.openxmlformats.org/officeDocument/2006/relationships/notesMaster" Target="/ppt/notesMasters/notesMaster1.xml" Id="R792ad24e393b4a65" /></Relationships>
</file>

<file path=ppt/notesSlides/_rels/notesSlide3.xml.rels>&#65279;<?xml version="1.0" encoding="utf-8"?><Relationships xmlns="http://schemas.openxmlformats.org/package/2006/relationships"><Relationship Type="http://schemas.openxmlformats.org/officeDocument/2006/relationships/slide" Target="/ppt/slides/slide3.xml" Id="Rabde8cb9920b49ed" /><Relationship Type="http://schemas.openxmlformats.org/officeDocument/2006/relationships/notesMaster" Target="/ppt/notesMasters/notesMaster1.xml" Id="Rff9b187a3cbf4e96" /></Relationships>
</file>

<file path=ppt/notesSlides/_rels/notesSlide4.xml.rels>&#65279;<?xml version="1.0" encoding="utf-8"?><Relationships xmlns="http://schemas.openxmlformats.org/package/2006/relationships"><Relationship Type="http://schemas.openxmlformats.org/officeDocument/2006/relationships/slide" Target="/ppt/slides/slide4.xml" Id="R01121e33c74b48e6" /><Relationship Type="http://schemas.openxmlformats.org/officeDocument/2006/relationships/notesMaster" Target="/ppt/notesMasters/notesMaster1.xml" Id="Re557b09da23a4d5f" /></Relationships>
</file>

<file path=ppt/notesSlides/_rels/notesSlide5.xml.rels>&#65279;<?xml version="1.0" encoding="utf-8"?><Relationships xmlns="http://schemas.openxmlformats.org/package/2006/relationships"><Relationship Type="http://schemas.openxmlformats.org/officeDocument/2006/relationships/slide" Target="/ppt/slides/slide5.xml" Id="Rfb38198971e344ee" /><Relationship Type="http://schemas.openxmlformats.org/officeDocument/2006/relationships/notesMaster" Target="/ppt/notesMasters/notesMaster1.xml" Id="R2c21291029c9402c" /></Relationships>
</file>

<file path=ppt/notesSlides/_rels/notesSlide6.xml.rels>&#65279;<?xml version="1.0" encoding="utf-8"?><Relationships xmlns="http://schemas.openxmlformats.org/package/2006/relationships"><Relationship Type="http://schemas.openxmlformats.org/officeDocument/2006/relationships/slide" Target="/ppt/slides/slide6.xml" Id="R15b2776462c94e4a" /><Relationship Type="http://schemas.openxmlformats.org/officeDocument/2006/relationships/notesMaster" Target="/ppt/notesMasters/notesMaster1.xml" Id="Rca9f333c1e6c418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original user-supplied NEXORA_AegisBrowse.pptx. Identification fields and source template artwork retained. The demonstration URL was supplied in the original deck.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Synthetic transport-portal illustration from the source deck, not evidence of zero leakage or face recognition. Panels illustrate capture, localisation and sanitization; task selection follows the third panel. Browser demo currently uses DOM privacy filtering and goal-aware cropping. Visual/OCR selective escalation is evaluated in the offline CPU reference harness. Source: project README and SELECTIVE_RESULTS.md.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project README.md; aegisbrowse_extension/src/ort/README.md; models/README.md; perception.js and service_worker.js. The optional loader falls back to DOM perception if runtime/model assets are unavailable. ort.webgpu.mjs is a load-safe placeholder, not a bundled working runtime. A trained ui_detector.onnx and the real browser distribution / WASM assets are pending. Browser visual inference is therefore not claimed as measured. The diagram shows current browser privacy/control flow with the planned visual path identified below; browser end-to-end measurements are still pending.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SELECTIVE_RESULTS.md, selective_results.json, loop_results.json, dated 2026-10-04. Stored results were cross-checked in the previous revision; the experiments were not rerun. 408 annotations comprise 312 PII instances and 96 password/OTP fields; secret-field accuracy is reported separately in the benchmark. UI detector is classical CV. The selective 1.000 precision applies only to this synthetic corpus; recall is 0.973, not zero leakage. DOM-blind redaction recall is 0.878. Process memory is not browser memory. Exact full browser end-to-end task latency is unmeasured. Three named milestones are planned work, not achieved results.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SELECTIVE_RESULTS.md and loop_results.json, fresh pages_v3 set only. 339.2/46.7=7.3 times sanitize-to-plan speedup. CPU reduction (52.1-25.7)/52.1=50.7%, rounded to 51%. Zero PII strings refers solely to metadata checks on 48 pages, not image privacy or a system guarantee. 48/48 is control-selection success, not end-to-end task completion. Browser click/verification flow is described in the supplied README; browser execution timing is still unmeasured. No energy or carbon saving is claimed.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five research URLs are linked on the slide; project benchmark README, SELECTIVE_RESULTS.md, selective_results.json, loop_results.json. Development families are scholarship/HR; held-out families are health/municipal/banking/transport. Fresh pages_v3 changes the seed, not the four held-out families. Stress set drops image entries and about a third of value fields from the DOM; it is not a completely DOM-free dataset. Ground truth is read by the scorer, not the runtime. 408 sensitive annotations comprise 312 PII instances plus 96 secret fields. Synthetic photo placeholders do not establish face recognition. No public benchmark repository URL was supplied.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c2a440174b94e0a"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3b95fea3bb44e4" /><Relationship Type="http://schemas.openxmlformats.org/officeDocument/2006/relationships/slideLayout" Target="/ppt/slideLayouts/slideLayout1.xml" Id="R4a40a34a8f5b456a"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a40a34a8f5b456a"/>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5a684dd9adb4b25" /><Relationship Type="http://schemas.openxmlformats.org/officeDocument/2006/relationships/image" Target="/ppt/media/image.png" Id="Ra752b394ff4e40f6" /><Relationship Type="http://schemas.openxmlformats.org/officeDocument/2006/relationships/image" Target="/ppt/media/image2.png" Id="R646584176e634729" /><Relationship Type="http://schemas.openxmlformats.org/officeDocument/2006/relationships/hyperlink" Target="https://youtu.be/heZiO6_-ZtE" TargetMode="External" Id="R1b1cc855e0d94de0" /><Relationship Type="http://schemas.openxmlformats.org/officeDocument/2006/relationships/notesSlide" Target="/ppt/notesSlides/notesSlide1.xml" Id="Re3c29d80b46a42d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862d400763645f6" /><Relationship Type="http://schemas.openxmlformats.org/officeDocument/2006/relationships/image" Target="/ppt/media/image.png" Id="Rf2c01fab5ac54d50" /><Relationship Type="http://schemas.openxmlformats.org/officeDocument/2006/relationships/image" Target="/ppt/media/image3.png" Id="Rec33d916ab2346a9" /><Relationship Type="http://schemas.openxmlformats.org/officeDocument/2006/relationships/image" Target="/ppt/media/image4.png" Id="R1dda0617dae44aa4" /><Relationship Type="http://schemas.openxmlformats.org/officeDocument/2006/relationships/image" Target="/ppt/media/image5.png" Id="R04e64006379f49fd" /><Relationship Type="http://schemas.openxmlformats.org/officeDocument/2006/relationships/notesSlide" Target="/ppt/notesSlides/notesSlide2.xml" Id="Rd447148bb0aa416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77638143a0a4df1" /><Relationship Type="http://schemas.openxmlformats.org/officeDocument/2006/relationships/image" Target="/ppt/media/image.png" Id="R39eead2720a140a5" /><Relationship Type="http://schemas.openxmlformats.org/officeDocument/2006/relationships/notesSlide" Target="/ppt/notesSlides/notesSlide3.xml" Id="R08961c93bf1c416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19ad7dd692a454b" /><Relationship Type="http://schemas.openxmlformats.org/officeDocument/2006/relationships/image" Target="/ppt/media/image.png" Id="Reba551bc525646fe" /><Relationship Type="http://schemas.openxmlformats.org/officeDocument/2006/relationships/notesSlide" Target="/ppt/notesSlides/notesSlide4.xml" Id="Rcc04613e0c9540e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dea041ed92c494c" /><Relationship Type="http://schemas.openxmlformats.org/officeDocument/2006/relationships/image" Target="/ppt/media/image.png" Id="Rd8bcb81572864700" /><Relationship Type="http://schemas.openxmlformats.org/officeDocument/2006/relationships/notesSlide" Target="/ppt/notesSlides/notesSlide5.xml" Id="R3b02a77ad563406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b259e08b2e84dba" /><Relationship Type="http://schemas.openxmlformats.org/officeDocument/2006/relationships/image" Target="/ppt/media/image.png" Id="R8acfd5432efb4cb2" /><Relationship Type="http://schemas.openxmlformats.org/officeDocument/2006/relationships/hyperlink" Target="https://arxiv.org/abs/2306.06070" TargetMode="External" Id="Rbc54f299f11844a4" /><Relationship Type="http://schemas.openxmlformats.org/officeDocument/2006/relationships/hyperlink" Target="https://arxiv.org/abs/2401.01614" TargetMode="External" Id="R04cba4cdd62d4800" /><Relationship Type="http://schemas.openxmlformats.org/officeDocument/2006/relationships/hyperlink" Target="https://arxiv.org/abs/2408.00203" TargetMode="External" Id="R4a129045b37d4593" /><Relationship Type="http://schemas.openxmlformats.org/officeDocument/2006/relationships/hyperlink" Target="https://arxiv.org/abs/2509.11939" TargetMode="External" Id="R15b357e2255a4a45" /><Relationship Type="http://schemas.openxmlformats.org/officeDocument/2006/relationships/hyperlink" Target="https://arxiv.org/abs/2603.17357" TargetMode="External" Id="R7ae6faaab70f4250" /><Relationship Type="http://schemas.openxmlformats.org/officeDocument/2006/relationships/notesSlide" Target="/ppt/notesSlides/notesSlide6.xml" Id="R45bc208603db4741"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5A0293D-9777-4ABF-AD64-7A08752E330E}"/>
              </a:ext>
            </a:extLst>
          </p:cNvPr>
          <p:cNvSpPr>
            <a:spLocks xmlns:a="http://schemas.openxmlformats.org/drawingml/2006/main" noGrp="1"/>
          </p:cNvSpPr>
          <p:nvPr/>
        </p:nvSpPr>
        <p:spPr>
          <a:xfrm xmlns:a="http://schemas.openxmlformats.org/drawingml/2006/main">
            <a:off x="658368" y="219456"/>
            <a:ext cx="923544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600" b="1">
                <a:solidFill>
                  <a:srgbClr val="1F4E79"/>
                </a:solidFill>
                <a:latin typeface="Times New Roman"/>
                <a:ea typeface="Times New Roman"/>
                <a:cs typeface="Times New Roman"/>
              </a:rPr>
              <a:t>SMART INDIA HACKATHON 2026</a:t>
            </a:r>
            <a:endParaRPr sz="3600"/>
          </a:p>
        </p:txBody>
      </p:sp>
      <p:pic>
        <p:nvPicPr>
          <p:cNvPr id="29" name="Image 0"/>
          <p:cNvPicPr>
            <a:picLocks xmlns:a="http://schemas.openxmlformats.org/drawingml/2006/main" noChangeAspect="1"/>
          </p:cNvPicPr>
          <p:nvPr/>
        </p:nvPicPr>
        <p:blipFill>
          <a:blip xmlns:r="http://schemas.openxmlformats.org/officeDocument/2006/relationships" xmlns:a="http://schemas.openxmlformats.org/drawingml/2006/main" r:embed="Ra752b394ff4e40f6"/>
          <a:stretch xmlns:a="http://schemas.openxmlformats.org/drawingml/2006/main">
            <a:fillRect l="0" t="0" r="0" b="0"/>
          </a:stretch>
        </p:blipFill>
        <p:spPr>
          <a:xfrm xmlns:a="http://schemas.openxmlformats.org/drawingml/2006/main">
            <a:off x="10104120" y="164592"/>
            <a:ext cx="1783080" cy="841248"/>
          </a:xfrm>
          <a:prstGeom xmlns:a="http://schemas.openxmlformats.org/drawingml/2006/main" prst="rect">
            <a:avLst/>
          </a:prstGeom>
        </p:spPr>
      </p:pic>
      <p:pic>
        <p:nvPicPr>
          <p:cNvPr id="30" name="Image 1"/>
          <p:cNvPicPr>
            <a:picLocks xmlns:a="http://schemas.openxmlformats.org/drawingml/2006/main" noChangeAspect="1"/>
          </p:cNvPicPr>
          <p:nvPr/>
        </p:nvPicPr>
        <p:blipFill>
          <a:blip xmlns:r="http://schemas.openxmlformats.org/officeDocument/2006/relationships" xmlns:a="http://schemas.openxmlformats.org/drawingml/2006/main" r:embed="R646584176e634729"/>
          <a:stretch xmlns:a="http://schemas.openxmlformats.org/drawingml/2006/main">
            <a:fillRect l="0" t="0" r="0" b="0"/>
          </a:stretch>
        </p:blipFill>
        <p:spPr>
          <a:xfrm xmlns:a="http://schemas.openxmlformats.org/drawingml/2006/main">
            <a:off x="6309360" y="960120"/>
            <a:ext cx="4389120" cy="4901184"/>
          </a:xfrm>
          <a:prstGeom xmlns:a="http://schemas.openxmlformats.org/drawingml/2006/main" prst="rect">
            <a:avLst/>
          </a:prstGeom>
        </p:spPr>
      </p:pic>
      <p:sp>
        <p:nvSpPr>
          <p:cNvPr id="5" name="Text 1">
            <a:extLst xmlns:a="http://schemas.openxmlformats.org/drawingml/2006/main">
              <a:ext uri="{FF2B5EF4-FFF2-40B4-BE49-F238E27FC236}">
                <a16:creationId xmlns:a16="http://schemas.microsoft.com/office/drawing/2014/main" id="{F3D6374F-6A3A-422B-BFE0-29E1B96F4652}"/>
              </a:ext>
            </a:extLst>
          </p:cNvPr>
          <p:cNvSpPr>
            <a:spLocks xmlns:a="http://schemas.openxmlformats.org/drawingml/2006/main" noGrp="1"/>
          </p:cNvSpPr>
          <p:nvPr/>
        </p:nvSpPr>
        <p:spPr>
          <a:xfrm xmlns:a="http://schemas.openxmlformats.org/drawingml/2006/main">
            <a:off x="3108960" y="1188720"/>
            <a:ext cx="38404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000000"/>
                </a:solidFill>
                <a:latin typeface="Times New Roman"/>
                <a:ea typeface="Times New Roman"/>
                <a:cs typeface="Times New Roman"/>
              </a:rPr>
              <a:t>TITLE PAGE</a:t>
            </a:r>
            <a:endParaRPr sz="2800"/>
          </a:p>
        </p:txBody>
      </p:sp>
      <p:sp>
        <p:nvSpPr>
          <p:cNvPr id="6" name="Shape 2">
            <a:extLst xmlns:a="http://schemas.openxmlformats.org/drawingml/2006/main">
              <a:ext uri="{FF2B5EF4-FFF2-40B4-BE49-F238E27FC236}">
                <a16:creationId xmlns:a16="http://schemas.microsoft.com/office/drawing/2014/main" id="{D51AC98D-4462-45ED-834A-C5260600585B}"/>
              </a:ext>
            </a:extLst>
          </p:cNvPr>
          <p:cNvSpPr>
            <a:spLocks xmlns:a="http://schemas.openxmlformats.org/drawingml/2006/main" noGrp="1"/>
          </p:cNvSpPr>
          <p:nvPr/>
        </p:nvSpPr>
        <p:spPr>
          <a:xfrm xmlns:a="http://schemas.openxmlformats.org/drawingml/2006/main">
            <a:off x="576072" y="2075688"/>
            <a:ext cx="77724" cy="77724"/>
          </a:xfrm>
          <a:prstGeom xmlns:a="http://schemas.openxmlformats.org/drawingml/2006/main" prst="ellipse">
            <a:avLst/>
          </a:prstGeom>
          <a:solidFill xmlns:a="http://schemas.openxmlformats.org/drawingml/2006/main">
            <a:srgbClr val="000000"/>
          </a:solidFill>
        </p:spPr>
      </p:sp>
      <p:sp>
        <p:nvSpPr>
          <p:cNvPr id="7" name="Text 3">
            <a:extLst xmlns:a="http://schemas.openxmlformats.org/drawingml/2006/main">
              <a:ext uri="{FF2B5EF4-FFF2-40B4-BE49-F238E27FC236}">
                <a16:creationId xmlns:a16="http://schemas.microsoft.com/office/drawing/2014/main" id="{D1E88866-0A28-469B-B217-EBC78779E21B}"/>
              </a:ext>
            </a:extLst>
          </p:cNvPr>
          <p:cNvSpPr>
            <a:spLocks xmlns:a="http://schemas.openxmlformats.org/drawingml/2006/main" noGrp="1"/>
          </p:cNvSpPr>
          <p:nvPr/>
        </p:nvSpPr>
        <p:spPr>
          <a:xfrm xmlns:a="http://schemas.openxmlformats.org/drawingml/2006/main">
            <a:off x="786384" y="1993392"/>
            <a:ext cx="5029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800"/>
              </a:lnSpc>
              <a:buNone/>
            </a:pPr>
            <a:r>
              <a:rPr b="1">
                <a:solidFill>
                  <a:srgbClr val="000000"/>
                </a:solidFill>
                <a:latin typeface="Arial"/>
                <a:ea typeface="Arial"/>
                <a:cs typeface="Arial"/>
              </a:rPr>
              <a:t>Problem Statement ID – </a:t>
            </a:r>
            <a:r>
              <a:rPr>
                <a:solidFill>
                  <a:srgbClr val="1F4E79"/>
                </a:solidFill>
                <a:latin typeface="Arial"/>
                <a:ea typeface="Arial"/>
                <a:cs typeface="Arial"/>
              </a:rPr>
              <a:t>SIH26171</a:t>
            </a:r>
            <a:endParaRPr/>
          </a:p>
        </p:txBody>
      </p:sp>
      <p:sp>
        <p:nvSpPr>
          <p:cNvPr id="8" name="Shape 4">
            <a:extLst xmlns:a="http://schemas.openxmlformats.org/drawingml/2006/main">
              <a:ext uri="{FF2B5EF4-FFF2-40B4-BE49-F238E27FC236}">
                <a16:creationId xmlns:a16="http://schemas.microsoft.com/office/drawing/2014/main" id="{E2636D07-3007-44DA-900D-46088C71A841}"/>
              </a:ext>
            </a:extLst>
          </p:cNvPr>
          <p:cNvSpPr>
            <a:spLocks xmlns:a="http://schemas.openxmlformats.org/drawingml/2006/main" noGrp="1"/>
          </p:cNvSpPr>
          <p:nvPr/>
        </p:nvSpPr>
        <p:spPr>
          <a:xfrm xmlns:a="http://schemas.openxmlformats.org/drawingml/2006/main">
            <a:off x="576072" y="2478024"/>
            <a:ext cx="77724" cy="77724"/>
          </a:xfrm>
          <a:prstGeom xmlns:a="http://schemas.openxmlformats.org/drawingml/2006/main" prst="ellipse">
            <a:avLst/>
          </a:prstGeom>
          <a:solidFill xmlns:a="http://schemas.openxmlformats.org/drawingml/2006/main">
            <a:srgbClr val="000000"/>
          </a:solidFill>
        </p:spPr>
      </p:sp>
      <p:sp>
        <p:nvSpPr>
          <p:cNvPr id="9" name="Text 5">
            <a:extLst xmlns:a="http://schemas.openxmlformats.org/drawingml/2006/main">
              <a:ext uri="{FF2B5EF4-FFF2-40B4-BE49-F238E27FC236}">
                <a16:creationId xmlns:a16="http://schemas.microsoft.com/office/drawing/2014/main" id="{F79A424F-9099-4C8C-A8A6-03F34FA88146}"/>
              </a:ext>
            </a:extLst>
          </p:cNvPr>
          <p:cNvSpPr>
            <a:spLocks xmlns:a="http://schemas.openxmlformats.org/drawingml/2006/main" noGrp="1"/>
          </p:cNvSpPr>
          <p:nvPr/>
        </p:nvSpPr>
        <p:spPr>
          <a:xfrm xmlns:a="http://schemas.openxmlformats.org/drawingml/2006/main">
            <a:off x="786384" y="2395728"/>
            <a:ext cx="50292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800"/>
              </a:lnSpc>
              <a:buNone/>
            </a:pPr>
            <a:r>
              <a:rPr b="1">
                <a:solidFill>
                  <a:srgbClr val="000000"/>
                </a:solidFill>
                <a:latin typeface="Arial"/>
                <a:ea typeface="Arial"/>
                <a:cs typeface="Arial"/>
              </a:rPr>
              <a:t>Problem Statement Title – </a:t>
            </a:r>
            <a:r>
              <a:rPr>
                <a:solidFill>
                  <a:srgbClr val="1F4E79"/>
                </a:solidFill>
                <a:latin typeface="Arial"/>
                <a:ea typeface="Arial"/>
                <a:cs typeface="Arial"/>
              </a:rPr>
              <a:t>On-device Visual Perception for Light-weight Browser Agents</a:t>
            </a:r>
            <a:endParaRPr/>
          </a:p>
        </p:txBody>
      </p:sp>
      <p:sp>
        <p:nvSpPr>
          <p:cNvPr id="10" name="Shape 6">
            <a:extLst xmlns:a="http://schemas.openxmlformats.org/drawingml/2006/main">
              <a:ext uri="{FF2B5EF4-FFF2-40B4-BE49-F238E27FC236}">
                <a16:creationId xmlns:a16="http://schemas.microsoft.com/office/drawing/2014/main" id="{6E5BE6CC-B39E-431F-A16E-9C4770F57534}"/>
              </a:ext>
            </a:extLst>
          </p:cNvPr>
          <p:cNvSpPr>
            <a:spLocks xmlns:a="http://schemas.openxmlformats.org/drawingml/2006/main" noGrp="1"/>
          </p:cNvSpPr>
          <p:nvPr/>
        </p:nvSpPr>
        <p:spPr>
          <a:xfrm xmlns:a="http://schemas.openxmlformats.org/drawingml/2006/main">
            <a:off x="576072" y="3026664"/>
            <a:ext cx="77724" cy="77724"/>
          </a:xfrm>
          <a:prstGeom xmlns:a="http://schemas.openxmlformats.org/drawingml/2006/main" prst="ellipse">
            <a:avLst/>
          </a:prstGeom>
          <a:solidFill xmlns:a="http://schemas.openxmlformats.org/drawingml/2006/main">
            <a:srgbClr val="000000"/>
          </a:solidFill>
        </p:spPr>
      </p:sp>
      <p:sp>
        <p:nvSpPr>
          <p:cNvPr id="11" name="Text 7">
            <a:extLst xmlns:a="http://schemas.openxmlformats.org/drawingml/2006/main">
              <a:ext uri="{FF2B5EF4-FFF2-40B4-BE49-F238E27FC236}">
                <a16:creationId xmlns:a16="http://schemas.microsoft.com/office/drawing/2014/main" id="{8B8DDBF3-98B5-4178-95CD-142CECE3AA3F}"/>
              </a:ext>
            </a:extLst>
          </p:cNvPr>
          <p:cNvSpPr>
            <a:spLocks xmlns:a="http://schemas.openxmlformats.org/drawingml/2006/main" noGrp="1"/>
          </p:cNvSpPr>
          <p:nvPr/>
        </p:nvSpPr>
        <p:spPr>
          <a:xfrm xmlns:a="http://schemas.openxmlformats.org/drawingml/2006/main">
            <a:off x="786384" y="2944368"/>
            <a:ext cx="5029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800"/>
              </a:lnSpc>
              <a:buNone/>
            </a:pPr>
            <a:r>
              <a:rPr b="1">
                <a:solidFill>
                  <a:srgbClr val="000000"/>
                </a:solidFill>
                <a:latin typeface="Arial"/>
                <a:ea typeface="Arial"/>
                <a:cs typeface="Arial"/>
              </a:rPr>
              <a:t>Theme – </a:t>
            </a:r>
            <a:r>
              <a:rPr>
                <a:solidFill>
                  <a:srgbClr val="1F4E79"/>
                </a:solidFill>
                <a:latin typeface="Arial"/>
                <a:ea typeface="Arial"/>
                <a:cs typeface="Arial"/>
              </a:rPr>
              <a:t>Smart Automation</a:t>
            </a:r>
            <a:endParaRPr/>
          </a:p>
        </p:txBody>
      </p:sp>
      <p:sp>
        <p:nvSpPr>
          <p:cNvPr id="12" name="Shape 8">
            <a:extLst xmlns:a="http://schemas.openxmlformats.org/drawingml/2006/main">
              <a:ext uri="{FF2B5EF4-FFF2-40B4-BE49-F238E27FC236}">
                <a16:creationId xmlns:a16="http://schemas.microsoft.com/office/drawing/2014/main" id="{0D60F24B-D60F-4FF7-A040-17E1E188E882}"/>
              </a:ext>
            </a:extLst>
          </p:cNvPr>
          <p:cNvSpPr>
            <a:spLocks xmlns:a="http://schemas.openxmlformats.org/drawingml/2006/main" noGrp="1"/>
          </p:cNvSpPr>
          <p:nvPr/>
        </p:nvSpPr>
        <p:spPr>
          <a:xfrm xmlns:a="http://schemas.openxmlformats.org/drawingml/2006/main">
            <a:off x="576072" y="3429000"/>
            <a:ext cx="77724" cy="77724"/>
          </a:xfrm>
          <a:prstGeom xmlns:a="http://schemas.openxmlformats.org/drawingml/2006/main" prst="ellipse">
            <a:avLst/>
          </a:prstGeom>
          <a:solidFill xmlns:a="http://schemas.openxmlformats.org/drawingml/2006/main">
            <a:srgbClr val="000000"/>
          </a:solidFill>
        </p:spPr>
      </p:sp>
      <p:sp>
        <p:nvSpPr>
          <p:cNvPr id="13" name="Text 9">
            <a:extLst xmlns:a="http://schemas.openxmlformats.org/drawingml/2006/main">
              <a:ext uri="{FF2B5EF4-FFF2-40B4-BE49-F238E27FC236}">
                <a16:creationId xmlns:a16="http://schemas.microsoft.com/office/drawing/2014/main" id="{AE7675F0-277D-419F-BD08-8E257A9757F7}"/>
              </a:ext>
            </a:extLst>
          </p:cNvPr>
          <p:cNvSpPr>
            <a:spLocks xmlns:a="http://schemas.openxmlformats.org/drawingml/2006/main" noGrp="1"/>
          </p:cNvSpPr>
          <p:nvPr/>
        </p:nvSpPr>
        <p:spPr>
          <a:xfrm xmlns:a="http://schemas.openxmlformats.org/drawingml/2006/main">
            <a:off x="786384" y="3346704"/>
            <a:ext cx="5029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800"/>
              </a:lnSpc>
              <a:buNone/>
            </a:pPr>
            <a:r>
              <a:rPr b="1">
                <a:solidFill>
                  <a:srgbClr val="000000"/>
                </a:solidFill>
                <a:latin typeface="Arial"/>
                <a:ea typeface="Arial"/>
                <a:cs typeface="Arial"/>
              </a:rPr>
              <a:t>PS Category – </a:t>
            </a:r>
            <a:r>
              <a:rPr>
                <a:solidFill>
                  <a:srgbClr val="1F4E79"/>
                </a:solidFill>
                <a:latin typeface="Arial"/>
                <a:ea typeface="Arial"/>
                <a:cs typeface="Arial"/>
              </a:rPr>
              <a:t>Software</a:t>
            </a:r>
            <a:endParaRPr/>
          </a:p>
        </p:txBody>
      </p:sp>
      <p:sp>
        <p:nvSpPr>
          <p:cNvPr id="14" name="Shape 10">
            <a:extLst xmlns:a="http://schemas.openxmlformats.org/drawingml/2006/main">
              <a:ext uri="{FF2B5EF4-FFF2-40B4-BE49-F238E27FC236}">
                <a16:creationId xmlns:a16="http://schemas.microsoft.com/office/drawing/2014/main" id="{982167CE-50D6-426F-990A-130218465155}"/>
              </a:ext>
            </a:extLst>
          </p:cNvPr>
          <p:cNvSpPr>
            <a:spLocks xmlns:a="http://schemas.openxmlformats.org/drawingml/2006/main" noGrp="1"/>
          </p:cNvSpPr>
          <p:nvPr/>
        </p:nvSpPr>
        <p:spPr>
          <a:xfrm xmlns:a="http://schemas.openxmlformats.org/drawingml/2006/main">
            <a:off x="576072" y="3831336"/>
            <a:ext cx="77724" cy="77724"/>
          </a:xfrm>
          <a:prstGeom xmlns:a="http://schemas.openxmlformats.org/drawingml/2006/main" prst="ellipse">
            <a:avLst/>
          </a:prstGeom>
          <a:solidFill xmlns:a="http://schemas.openxmlformats.org/drawingml/2006/main">
            <a:srgbClr val="000000"/>
          </a:solidFill>
        </p:spPr>
      </p:sp>
      <p:sp>
        <p:nvSpPr>
          <p:cNvPr id="15" name="Text 11">
            <a:extLst xmlns:a="http://schemas.openxmlformats.org/drawingml/2006/main">
              <a:ext uri="{FF2B5EF4-FFF2-40B4-BE49-F238E27FC236}">
                <a16:creationId xmlns:a16="http://schemas.microsoft.com/office/drawing/2014/main" id="{66E1EC03-42B6-4617-8361-8CF091FC6322}"/>
              </a:ext>
            </a:extLst>
          </p:cNvPr>
          <p:cNvSpPr>
            <a:spLocks xmlns:a="http://schemas.openxmlformats.org/drawingml/2006/main" noGrp="1"/>
          </p:cNvSpPr>
          <p:nvPr/>
        </p:nvSpPr>
        <p:spPr>
          <a:xfrm xmlns:a="http://schemas.openxmlformats.org/drawingml/2006/main">
            <a:off x="786384" y="3749040"/>
            <a:ext cx="5029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800"/>
              </a:lnSpc>
              <a:buNone/>
            </a:pPr>
            <a:r>
              <a:rPr b="1">
                <a:solidFill>
                  <a:srgbClr val="000000"/>
                </a:solidFill>
                <a:latin typeface="Arial"/>
                <a:ea typeface="Arial"/>
                <a:cs typeface="Arial"/>
              </a:rPr>
              <a:t>Team ID – </a:t>
            </a:r>
            <a:r>
              <a:rPr>
                <a:solidFill>
                  <a:srgbClr val="1F4E79"/>
                </a:solidFill>
                <a:latin typeface="Arial"/>
                <a:ea typeface="Arial"/>
                <a:cs typeface="Arial"/>
              </a:rPr>
              <a:t>124701</a:t>
            </a:r>
            <a:endParaRPr/>
          </a:p>
        </p:txBody>
      </p:sp>
      <p:sp>
        <p:nvSpPr>
          <p:cNvPr id="16" name="Shape 12">
            <a:extLst xmlns:a="http://schemas.openxmlformats.org/drawingml/2006/main">
              <a:ext uri="{FF2B5EF4-FFF2-40B4-BE49-F238E27FC236}">
                <a16:creationId xmlns:a16="http://schemas.microsoft.com/office/drawing/2014/main" id="{626F521E-5DA1-44C2-A740-2DA98BC20161}"/>
              </a:ext>
            </a:extLst>
          </p:cNvPr>
          <p:cNvSpPr>
            <a:spLocks xmlns:a="http://schemas.openxmlformats.org/drawingml/2006/main" noGrp="1"/>
          </p:cNvSpPr>
          <p:nvPr/>
        </p:nvSpPr>
        <p:spPr>
          <a:xfrm xmlns:a="http://schemas.openxmlformats.org/drawingml/2006/main">
            <a:off x="576072" y="4233672"/>
            <a:ext cx="77724" cy="77724"/>
          </a:xfrm>
          <a:prstGeom xmlns:a="http://schemas.openxmlformats.org/drawingml/2006/main" prst="ellipse">
            <a:avLst/>
          </a:prstGeom>
          <a:solidFill xmlns:a="http://schemas.openxmlformats.org/drawingml/2006/main">
            <a:srgbClr val="000000"/>
          </a:solidFill>
        </p:spPr>
      </p:sp>
      <p:sp>
        <p:nvSpPr>
          <p:cNvPr id="17" name="Text 13">
            <a:extLst xmlns:a="http://schemas.openxmlformats.org/drawingml/2006/main">
              <a:ext uri="{FF2B5EF4-FFF2-40B4-BE49-F238E27FC236}">
                <a16:creationId xmlns:a16="http://schemas.microsoft.com/office/drawing/2014/main" id="{B0F21EE7-B93F-4235-AE1D-521F41E70A0D}"/>
              </a:ext>
            </a:extLst>
          </p:cNvPr>
          <p:cNvSpPr>
            <a:spLocks xmlns:a="http://schemas.openxmlformats.org/drawingml/2006/main" noGrp="1"/>
          </p:cNvSpPr>
          <p:nvPr/>
        </p:nvSpPr>
        <p:spPr>
          <a:xfrm xmlns:a="http://schemas.openxmlformats.org/drawingml/2006/main">
            <a:off x="749808" y="4187952"/>
            <a:ext cx="5065776"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ts val="1800"/>
              </a:lnSpc>
              <a:buNone/>
            </a:pPr>
            <a:r>
              <a:rPr b="1">
                <a:solidFill>
                  <a:srgbClr val="000000"/>
                </a:solidFill>
                <a:latin typeface="Arial"/>
                <a:ea typeface="Arial"/>
                <a:cs typeface="Arial"/>
              </a:rPr>
              <a:t>Team Name (Registered on portal) – </a:t>
            </a:r>
            <a:r>
              <a:rPr>
                <a:solidFill>
                  <a:srgbClr val="1F4E79"/>
                </a:solidFill>
                <a:latin typeface="Arial"/>
                <a:ea typeface="Arial"/>
                <a:cs typeface="Arial"/>
              </a:rPr>
              <a:t>NEXORA_</a:t>
            </a:r>
            <a:endParaRPr/>
          </a:p>
        </p:txBody>
      </p:sp>
      <p:sp>
        <p:nvSpPr>
          <p:cNvPr id="18" name="Shape 14">
            <a:extLst xmlns:a="http://schemas.openxmlformats.org/drawingml/2006/main">
              <a:ext uri="{FF2B5EF4-FFF2-40B4-BE49-F238E27FC236}">
                <a16:creationId xmlns:a16="http://schemas.microsoft.com/office/drawing/2014/main" id="{BD94A480-68E1-4C35-846C-1C925081171F}"/>
              </a:ext>
            </a:extLst>
          </p:cNvPr>
          <p:cNvSpPr>
            <a:spLocks xmlns:a="http://schemas.openxmlformats.org/drawingml/2006/main" noGrp="1"/>
          </p:cNvSpPr>
          <p:nvPr/>
        </p:nvSpPr>
        <p:spPr>
          <a:xfrm xmlns:a="http://schemas.openxmlformats.org/drawingml/2006/main">
            <a:off x="548640" y="4572000"/>
            <a:ext cx="5303520" cy="987552"/>
          </a:xfrm>
          <a:prstGeom xmlns:a="http://schemas.openxmlformats.org/drawingml/2006/main" prst="roundRect">
            <a:avLst>
              <a:gd name="adj" fmla="val 7407"/>
            </a:avLst>
          </a:prstGeom>
          <a:solidFill xmlns:a="http://schemas.openxmlformats.org/drawingml/2006/main">
            <a:srgbClr val="A14E35"/>
          </a:solidFill>
          <a:ln xmlns:a="http://schemas.openxmlformats.org/drawingml/2006/main" w="0">
            <a:noFill/>
          </a:ln>
          <a:effectLst xmlns:a="http://schemas.openxmlformats.org/drawingml/2006/main">
            <a:outerShdw blurRad="76200" dist="12700" dir="5400000" algn="bl" rotWithShape="0">
              <a:srgbClr val="9FB0C0">
                <a:alpha val="28000"/>
              </a:srgbClr>
            </a:outerShdw>
          </a:effectLst>
        </p:spPr>
      </p:sp>
      <p:sp>
        <p:nvSpPr>
          <p:cNvPr id="19" name="Text 15">
            <a:extLst xmlns:a="http://schemas.openxmlformats.org/drawingml/2006/main">
              <a:ext uri="{FF2B5EF4-FFF2-40B4-BE49-F238E27FC236}">
                <a16:creationId xmlns:a16="http://schemas.microsoft.com/office/drawing/2014/main" id="{5F5CE42C-C80B-4CA6-9849-26D785D47111}"/>
              </a:ext>
            </a:extLst>
          </p:cNvPr>
          <p:cNvSpPr>
            <a:spLocks xmlns:a="http://schemas.openxmlformats.org/drawingml/2006/main" noGrp="1"/>
          </p:cNvSpPr>
          <p:nvPr/>
        </p:nvSpPr>
        <p:spPr>
          <a:xfrm xmlns:a="http://schemas.openxmlformats.org/drawingml/2006/main">
            <a:off x="749808" y="4645152"/>
            <a:ext cx="493776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FFFFFF"/>
                </a:solidFill>
                <a:latin typeface="Cambria"/>
                <a:ea typeface="Cambria"/>
                <a:cs typeface="Cambria"/>
              </a:rPr>
              <a:t>AEGISBROWSE</a:t>
            </a:r>
            <a:endParaRPr sz="2700"/>
          </a:p>
        </p:txBody>
      </p:sp>
      <p:sp>
        <p:nvSpPr>
          <p:cNvPr id="20" name="Text 16">
            <a:extLst xmlns:a="http://schemas.openxmlformats.org/drawingml/2006/main">
              <a:ext uri="{FF2B5EF4-FFF2-40B4-BE49-F238E27FC236}">
                <a16:creationId xmlns:a16="http://schemas.microsoft.com/office/drawing/2014/main" id="{77C9BE54-D92A-4B0E-BE0A-AC737ADECC6D}"/>
              </a:ext>
            </a:extLst>
          </p:cNvPr>
          <p:cNvSpPr>
            <a:spLocks xmlns:a="http://schemas.openxmlformats.org/drawingml/2006/main" noGrp="1"/>
          </p:cNvSpPr>
          <p:nvPr/>
        </p:nvSpPr>
        <p:spPr>
          <a:xfrm xmlns:a="http://schemas.openxmlformats.org/drawingml/2006/main">
            <a:off x="749808" y="5056632"/>
            <a:ext cx="48920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CFE0F0"/>
                </a:solidFill>
                <a:latin typeface="Calibri"/>
                <a:ea typeface="Calibri"/>
                <a:cs typeface="Calibri"/>
              </a:rPr>
              <a:t>Privacy-Preserving Visual Browser Agent</a:t>
            </a:r>
            <a:endParaRPr sz="1150"/>
          </a:p>
        </p:txBody>
      </p:sp>
      <p:sp>
        <p:nvSpPr>
          <p:cNvPr id="27" name="rev-1">
            <a:extLst xmlns:a="http://schemas.openxmlformats.org/drawingml/2006/main">
              <a:ext uri="{FF2B5EF4-FFF2-40B4-BE49-F238E27FC236}">
                <a16:creationId xmlns:a16="http://schemas.microsoft.com/office/drawing/2014/main" id="{CCBC6B4A-CDFA-4E6D-9515-0FA4F1CE2440}"/>
              </a:ext>
            </a:extLst>
          </p:cNvPr>
          <p:cNvSpPr>
            <a:spLocks xmlns:a="http://schemas.openxmlformats.org/drawingml/2006/main" noGrp="1"/>
          </p:cNvSpPr>
          <p:nvPr/>
        </p:nvSpPr>
        <p:spPr>
          <a:xfrm xmlns:a="http://schemas.openxmlformats.org/drawingml/2006/main">
            <a:off x="752475" y="5772150"/>
            <a:ext cx="6667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a:solidFill>
                  <a:srgbClr val="204F78"/>
                </a:solidFill>
                <a:latin typeface="Calibri"/>
                <a:ea typeface="Calibri"/>
                <a:cs typeface="Calibri"/>
              </a:defRPr>
            </a:pPr>
            <a:r>
              <a:rPr sz="1500">
                <a:solidFill>
                  <a:srgbClr val="204F78"/>
                </a:solidFill>
                <a:latin typeface="Calibri"/>
                <a:ea typeface="Calibri"/>
                <a:cs typeface="Calibri"/>
              </a:rPr>
              <a:t>Video walkthrough: </a:t>
            </a:r>
            <a:r>
              <a:rPr sz="1500">
                <a:solidFill>
                  <a:srgbClr val="204F78"/>
                </a:solidFill>
                <a:latin typeface="Calibri"/>
                <a:ea typeface="Calibri"/>
                <a:cs typeface="Calibri"/>
                <a:hlinkClick xmlns:r="http://schemas.openxmlformats.org/officeDocument/2006/relationships" r:id="R1b1cc855e0d94de0"/>
              </a:rPr>
              <a:t>youtu.be/heZiO6_-ZtE</a:t>
            </a:r>
          </a:p>
        </p:txBody>
      </p:sp>
    </p:spTree>
    <p:extLst>
      <p:ext uri="{BB962C8B-B14F-4D97-AF65-F5344CB8AC3E}">
        <p14:creationId xmlns:p14="http://schemas.microsoft.com/office/powerpoint/2010/main" val="5920531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05A8F150-5256-4080-BA88-7F3DCE4DEF5E}"/>
              </a:ext>
            </a:extLst>
          </p:cNvPr>
          <p:cNvSpPr>
            <a:spLocks xmlns:a="http://schemas.openxmlformats.org/drawingml/2006/main" noGrp="1"/>
          </p:cNvSpPr>
          <p:nvPr/>
        </p:nvSpPr>
        <p:spPr>
          <a:xfrm xmlns:a="http://schemas.openxmlformats.org/drawingml/2006/main">
            <a:off x="384048" y="201168"/>
            <a:ext cx="1371600" cy="530352"/>
          </a:xfrm>
          <a:prstGeom xmlns:a="http://schemas.openxmlformats.org/drawingml/2006/main" prst="ellipse">
            <a:avLst/>
          </a:prstGeom>
          <a:solidFill xmlns:a="http://schemas.openxmlformats.org/drawingml/2006/main">
            <a:srgbClr val="E3F1F2"/>
          </a:solidFill>
          <a:ln xmlns:a="http://schemas.openxmlformats.org/drawingml/2006/main" w="19050">
            <a:solidFill>
              <a:srgbClr val="0E7C86"/>
            </a:solidFill>
            <a:prstDash val="solid"/>
          </a:ln>
          <a:effectLst xmlns:a="http://schemas.openxmlformats.org/drawingml/2006/main">
            <a:outerShdw blurRad="76200" dist="12700" dir="5400000" algn="bl" rotWithShape="0">
              <a:srgbClr val="9FB0C0">
                <a:alpha val="28000"/>
              </a:srgbClr>
            </a:outerShdw>
          </a:effectLst>
        </p:spPr>
      </p:sp>
      <p:sp>
        <p:nvSpPr>
          <p:cNvPr id="3" name="Text 1">
            <a:extLst xmlns:a="http://schemas.openxmlformats.org/drawingml/2006/main">
              <a:ext uri="{FF2B5EF4-FFF2-40B4-BE49-F238E27FC236}">
                <a16:creationId xmlns:a16="http://schemas.microsoft.com/office/drawing/2014/main" id="{D50BFCF4-8411-40F0-AF47-918309909474}"/>
              </a:ext>
            </a:extLst>
          </p:cNvPr>
          <p:cNvSpPr>
            <a:spLocks xmlns:a="http://schemas.openxmlformats.org/drawingml/2006/main" noGrp="1"/>
          </p:cNvSpPr>
          <p:nvPr/>
        </p:nvSpPr>
        <p:spPr>
          <a:xfrm xmlns:a="http://schemas.openxmlformats.org/drawingml/2006/main">
            <a:off x="384048" y="320040"/>
            <a:ext cx="1371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0A5F67"/>
                </a:solidFill>
                <a:latin typeface="Calibri"/>
                <a:ea typeface="Calibri"/>
                <a:cs typeface="Calibri"/>
              </a:rPr>
              <a:t>NEXORA</a:t>
            </a:r>
            <a:endParaRPr sz="1250"/>
          </a:p>
        </p:txBody>
      </p:sp>
      <p:sp>
        <p:nvSpPr>
          <p:cNvPr id="4" name="Text 2">
            <a:extLst xmlns:a="http://schemas.openxmlformats.org/drawingml/2006/main">
              <a:ext uri="{FF2B5EF4-FFF2-40B4-BE49-F238E27FC236}">
                <a16:creationId xmlns:a16="http://schemas.microsoft.com/office/drawing/2014/main" id="{43E240D6-C2EE-4C94-B967-0F0BE87CE628}"/>
              </a:ext>
            </a:extLst>
          </p:cNvPr>
          <p:cNvSpPr>
            <a:spLocks xmlns:a="http://schemas.openxmlformats.org/drawingml/2006/main" noGrp="1"/>
          </p:cNvSpPr>
          <p:nvPr/>
        </p:nvSpPr>
        <p:spPr>
          <a:xfrm xmlns:a="http://schemas.openxmlformats.org/drawingml/2006/main">
            <a:off x="2011680" y="201168"/>
            <a:ext cx="786384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1F4E79"/>
                </a:solidFill>
                <a:latin typeface="Cambria"/>
                <a:ea typeface="Cambria"/>
                <a:cs typeface="Cambria"/>
              </a:rPr>
              <a:t>AEGISBROWSE</a:t>
            </a:r>
            <a:endParaRPr sz="2800"/>
          </a:p>
        </p:txBody>
      </p:sp>
      <p:pic>
        <p:nvPicPr>
          <p:cNvPr id="90" name="Image 0"/>
          <p:cNvPicPr>
            <a:picLocks xmlns:a="http://schemas.openxmlformats.org/drawingml/2006/main" noChangeAspect="1"/>
          </p:cNvPicPr>
          <p:nvPr/>
        </p:nvPicPr>
        <p:blipFill>
          <a:blip xmlns:r="http://schemas.openxmlformats.org/officeDocument/2006/relationships" xmlns:a="http://schemas.openxmlformats.org/drawingml/2006/main" r:embed="Rf2c01fab5ac54d50"/>
          <a:stretch xmlns:a="http://schemas.openxmlformats.org/drawingml/2006/main">
            <a:fillRect l="0" t="0" r="0" b="0"/>
          </a:stretch>
        </p:blipFill>
        <p:spPr>
          <a:xfrm xmlns:a="http://schemas.openxmlformats.org/drawingml/2006/main">
            <a:off x="10287000" y="164592"/>
            <a:ext cx="1554480" cy="731520"/>
          </a:xfrm>
          <a:prstGeom xmlns:a="http://schemas.openxmlformats.org/drawingml/2006/main" prst="rect">
            <a:avLst/>
          </a:prstGeom>
          <a:effectLst xmlns:a="http://schemas.openxmlformats.org/drawingml/2006/main">
            <a:outerShdw blurRad="76200" dist="12700" dir="5400000" algn="bl" rotWithShape="0">
              <a:srgbClr val="9FB0C0">
                <a:alpha val="28000"/>
              </a:srgbClr>
            </a:outerShdw>
          </a:effectLst>
        </p:spPr>
      </p:pic>
      <p:sp>
        <p:nvSpPr>
          <p:cNvPr id="7" name="Shape 4">
            <a:extLst xmlns:a="http://schemas.openxmlformats.org/drawingml/2006/main">
              <a:ext uri="{FF2B5EF4-FFF2-40B4-BE49-F238E27FC236}">
                <a16:creationId xmlns:a16="http://schemas.microsoft.com/office/drawing/2014/main" id="{0E157234-D361-4377-9935-AE8B9B6FB9DB}"/>
              </a:ext>
            </a:extLst>
          </p:cNvPr>
          <p:cNvSpPr>
            <a:spLocks xmlns:a="http://schemas.openxmlformats.org/drawingml/2006/main" noGrp="1"/>
          </p:cNvSpPr>
          <p:nvPr/>
        </p:nvSpPr>
        <p:spPr>
          <a:xfrm xmlns:a="http://schemas.openxmlformats.org/drawingml/2006/main">
            <a:off x="0" y="6446520"/>
            <a:ext cx="12191695" cy="411480"/>
          </a:xfrm>
          <a:prstGeom xmlns:a="http://schemas.openxmlformats.org/drawingml/2006/main" prst="rect">
            <a:avLst/>
          </a:prstGeom>
          <a:solidFill xmlns:a="http://schemas.openxmlformats.org/drawingml/2006/main">
            <a:srgbClr val="0071C1"/>
          </a:solidFill>
        </p:spPr>
      </p:sp>
      <p:sp>
        <p:nvSpPr>
          <p:cNvPr id="9" name="Text 6">
            <a:extLst xmlns:a="http://schemas.openxmlformats.org/drawingml/2006/main">
              <a:ext uri="{FF2B5EF4-FFF2-40B4-BE49-F238E27FC236}">
                <a16:creationId xmlns:a16="http://schemas.microsoft.com/office/drawing/2014/main" id="{2D0A0940-E985-43F5-8F6C-ADE70B5A59F0}"/>
              </a:ext>
            </a:extLst>
          </p:cNvPr>
          <p:cNvSpPr>
            <a:spLocks xmlns:a="http://schemas.openxmlformats.org/drawingml/2006/main" noGrp="1"/>
          </p:cNvSpPr>
          <p:nvPr/>
        </p:nvSpPr>
        <p:spPr>
          <a:xfrm xmlns:a="http://schemas.openxmlformats.org/drawingml/2006/main">
            <a:off x="11338560" y="6537960"/>
            <a:ext cx="457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FFFFFF"/>
                </a:solidFill>
                <a:latin typeface="Calibri"/>
                <a:ea typeface="Calibri"/>
                <a:cs typeface="Calibri"/>
              </a:rPr>
              <a:t>2</a:t>
            </a:r>
            <a:endParaRPr sz="1250"/>
          </a:p>
        </p:txBody>
      </p:sp>
      <p:sp>
        <p:nvSpPr>
          <p:cNvPr id="54" name="rev-2">
            <a:extLst xmlns:a="http://schemas.openxmlformats.org/drawingml/2006/main">
              <a:ext uri="{FF2B5EF4-FFF2-40B4-BE49-F238E27FC236}">
                <a16:creationId xmlns:a16="http://schemas.microsoft.com/office/drawing/2014/main" id="{E62F9E81-4163-47ED-840B-A365B75BC426}"/>
              </a:ext>
            </a:extLst>
          </p:cNvPr>
          <p:cNvSpPr>
            <a:spLocks xmlns:a="http://schemas.openxmlformats.org/drawingml/2006/main" noGrp="1"/>
          </p:cNvSpPr>
          <p:nvPr/>
        </p:nvSpPr>
        <p:spPr>
          <a:xfrm xmlns:a="http://schemas.openxmlformats.org/drawingml/2006/main">
            <a:off x="457200" y="981075"/>
            <a:ext cx="11049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126D70"/>
                </a:solidFill>
                <a:latin typeface="Calibri"/>
                <a:ea typeface="Calibri"/>
                <a:cs typeface="Calibri"/>
              </a:defRPr>
            </a:pPr>
            <a:r>
              <a:rPr sz="1500" b="1">
                <a:solidFill>
                  <a:srgbClr val="126D70"/>
                </a:solidFill>
                <a:latin typeface="Calibri"/>
                <a:ea typeface="Calibri"/>
                <a:cs typeface="Calibri"/>
              </a:rPr>
              <a:t>Proposed solution and how it addresses the problem</a:t>
            </a:r>
          </a:p>
        </p:txBody>
      </p:sp>
      <p:sp>
        <p:nvSpPr>
          <p:cNvPr id="55" name="rev-3">
            <a:extLst xmlns:a="http://schemas.openxmlformats.org/drawingml/2006/main">
              <a:ext uri="{FF2B5EF4-FFF2-40B4-BE49-F238E27FC236}">
                <a16:creationId xmlns:a16="http://schemas.microsoft.com/office/drawing/2014/main" id="{F0C3DBAF-B3F0-4426-98E5-1B5135323102}"/>
              </a:ext>
            </a:extLst>
          </p:cNvPr>
          <p:cNvSpPr>
            <a:spLocks xmlns:a="http://schemas.openxmlformats.org/drawingml/2006/main" noGrp="1"/>
          </p:cNvSpPr>
          <p:nvPr/>
        </p:nvSpPr>
        <p:spPr>
          <a:xfrm xmlns:a="http://schemas.openxmlformats.org/drawingml/2006/main">
            <a:off x="457200" y="1323975"/>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02B36"/>
                </a:solidFill>
                <a:latin typeface="Calibri"/>
                <a:ea typeface="Calibri"/>
                <a:cs typeface="Calibri"/>
              </a:defRPr>
            </a:pPr>
            <a:r>
              <a:rPr sz="2100" b="1">
                <a:solidFill>
                  <a:srgbClr val="202B36"/>
                </a:solidFill>
                <a:latin typeface="Calibri"/>
                <a:ea typeface="Calibri"/>
                <a:cs typeface="Calibri"/>
              </a:rPr>
              <a:t>A local privacy layer between the screen and the server</a:t>
            </a:r>
          </a:p>
        </p:txBody>
      </p:sp>
      <p:sp>
        <p:nvSpPr>
          <p:cNvPr id="56" name="step-4">
            <a:extLst xmlns:a="http://schemas.openxmlformats.org/drawingml/2006/main">
              <a:ext uri="{FF2B5EF4-FFF2-40B4-BE49-F238E27FC236}">
                <a16:creationId xmlns:a16="http://schemas.microsoft.com/office/drawing/2014/main" id="{5AC7005D-7FB1-40B4-B713-BC357D2B7A2D}"/>
              </a:ext>
            </a:extLst>
          </p:cNvPr>
          <p:cNvSpPr>
            <a:spLocks xmlns:a="http://schemas.openxmlformats.org/drawingml/2006/main" noGrp="1"/>
          </p:cNvSpPr>
          <p:nvPr/>
        </p:nvSpPr>
        <p:spPr>
          <a:xfrm xmlns:a="http://schemas.openxmlformats.org/drawingml/2006/main">
            <a:off x="457200" y="1866900"/>
            <a:ext cx="323850" cy="323850"/>
          </a:xfrm>
          <a:prstGeom xmlns:a="http://schemas.openxmlformats.org/drawingml/2006/main" prst="ellipse">
            <a:avLst/>
          </a:prstGeom>
          <a:solidFill xmlns:a="http://schemas.openxmlformats.org/drawingml/2006/main">
            <a:srgbClr val="126D70"/>
          </a:solidFill>
          <a:ln xmlns:a="http://schemas.openxmlformats.org/drawingml/2006/main" w="0">
            <a:noFill/>
          </a:ln>
        </p:spPr>
      </p:sp>
      <p:sp>
        <p:nvSpPr>
          <p:cNvPr id="57" name="rev-5">
            <a:extLst xmlns:a="http://schemas.openxmlformats.org/drawingml/2006/main">
              <a:ext uri="{FF2B5EF4-FFF2-40B4-BE49-F238E27FC236}">
                <a16:creationId xmlns:a16="http://schemas.microsoft.com/office/drawing/2014/main" id="{628F95B5-A1E7-4971-AE33-78D420FA5FEF}"/>
              </a:ext>
            </a:extLst>
          </p:cNvPr>
          <p:cNvSpPr>
            <a:spLocks xmlns:a="http://schemas.openxmlformats.org/drawingml/2006/main" noGrp="1"/>
          </p:cNvSpPr>
          <p:nvPr/>
        </p:nvSpPr>
        <p:spPr>
          <a:xfrm xmlns:a="http://schemas.openxmlformats.org/drawingml/2006/main">
            <a:off x="457200" y="1885950"/>
            <a:ext cx="323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FFFFF"/>
                </a:solidFill>
                <a:latin typeface="Calibri"/>
                <a:ea typeface="Calibri"/>
                <a:cs typeface="Calibri"/>
              </a:defRPr>
            </a:pPr>
            <a:r>
              <a:rPr sz="1350" b="1">
                <a:solidFill>
                  <a:srgbClr val="FFFFFF"/>
                </a:solidFill>
                <a:latin typeface="Calibri"/>
                <a:ea typeface="Calibri"/>
                <a:cs typeface="Calibri"/>
              </a:rPr>
              <a:t>1</a:t>
            </a:r>
          </a:p>
        </p:txBody>
      </p:sp>
      <p:sp>
        <p:nvSpPr>
          <p:cNvPr id="58" name="rev-6">
            <a:extLst xmlns:a="http://schemas.openxmlformats.org/drawingml/2006/main">
              <a:ext uri="{FF2B5EF4-FFF2-40B4-BE49-F238E27FC236}">
                <a16:creationId xmlns:a16="http://schemas.microsoft.com/office/drawing/2014/main" id="{DFD2C16F-5C57-493E-8290-6DBF0BDBBE2A}"/>
              </a:ext>
            </a:extLst>
          </p:cNvPr>
          <p:cNvSpPr>
            <a:spLocks xmlns:a="http://schemas.openxmlformats.org/drawingml/2006/main" noGrp="1"/>
          </p:cNvSpPr>
          <p:nvPr/>
        </p:nvSpPr>
        <p:spPr>
          <a:xfrm xmlns:a="http://schemas.openxmlformats.org/drawingml/2006/main">
            <a:off x="904875" y="1876425"/>
            <a:ext cx="3124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126D70"/>
                </a:solidFill>
                <a:latin typeface="Calibri"/>
                <a:ea typeface="Calibri"/>
                <a:cs typeface="Calibri"/>
              </a:defRPr>
            </a:pPr>
            <a:r>
              <a:rPr sz="1725" b="1">
                <a:solidFill>
                  <a:srgbClr val="126D70"/>
                </a:solidFill>
                <a:latin typeface="Calibri"/>
                <a:ea typeface="Calibri"/>
                <a:cs typeface="Calibri"/>
              </a:rPr>
              <a:t>Observe privately</a:t>
            </a:r>
          </a:p>
        </p:txBody>
      </p:sp>
      <p:sp>
        <p:nvSpPr>
          <p:cNvPr id="59" name="rev-7">
            <a:extLst xmlns:a="http://schemas.openxmlformats.org/drawingml/2006/main">
              <a:ext uri="{FF2B5EF4-FFF2-40B4-BE49-F238E27FC236}">
                <a16:creationId xmlns:a16="http://schemas.microsoft.com/office/drawing/2014/main" id="{6C7F7EEB-7862-479F-9F78-3F4B875FB34C}"/>
              </a:ext>
            </a:extLst>
          </p:cNvPr>
          <p:cNvSpPr>
            <a:spLocks xmlns:a="http://schemas.openxmlformats.org/drawingml/2006/main" noGrp="1"/>
          </p:cNvSpPr>
          <p:nvPr/>
        </p:nvSpPr>
        <p:spPr>
          <a:xfrm xmlns:a="http://schemas.openxmlformats.org/drawingml/2006/main">
            <a:off x="457200" y="2295525"/>
            <a:ext cx="3505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53616D"/>
                </a:solidFill>
                <a:latin typeface="Calibri"/>
                <a:ea typeface="Calibri"/>
                <a:cs typeface="Calibri"/>
              </a:defRPr>
            </a:pPr>
            <a:r>
              <a:rPr sz="1350">
                <a:solidFill>
                  <a:srgbClr val="53616D"/>
                </a:solidFill>
                <a:latin typeface="Calibri"/>
                <a:ea typeface="Calibri"/>
                <a:cs typeface="Calibri"/>
              </a:rPr>
              <a:t>Raw screenshot + DOM</a:t>
            </a:r>
          </a:p>
        </p:txBody>
      </p:sp>
      <p:sp>
        <p:nvSpPr>
          <p:cNvPr id="60" name="rev-8">
            <a:extLst xmlns:a="http://schemas.openxmlformats.org/drawingml/2006/main">
              <a:ext uri="{FF2B5EF4-FFF2-40B4-BE49-F238E27FC236}">
                <a16:creationId xmlns:a16="http://schemas.microsoft.com/office/drawing/2014/main" id="{C52AC534-73D5-4CD8-9B2F-1A883F9A4EE2}"/>
              </a:ext>
            </a:extLst>
          </p:cNvPr>
          <p:cNvSpPr>
            <a:spLocks xmlns:a="http://schemas.openxmlformats.org/drawingml/2006/main" noGrp="1"/>
          </p:cNvSpPr>
          <p:nvPr/>
        </p:nvSpPr>
        <p:spPr>
          <a:xfrm xmlns:a="http://schemas.openxmlformats.org/drawingml/2006/main">
            <a:off x="457200" y="2686050"/>
            <a:ext cx="3505200" cy="2095500"/>
          </a:xfrm>
          <a:prstGeom xmlns:a="http://schemas.openxmlformats.org/drawingml/2006/main" prst="rect">
            <a:avLst/>
          </a:prstGeom>
          <a:solidFill xmlns:a="http://schemas.openxmlformats.org/drawingml/2006/main">
            <a:srgbClr val="FFFFFF"/>
          </a:solidFill>
          <a:ln xmlns:a="http://schemas.openxmlformats.org/drawingml/2006/main" w="9525">
            <a:solidFill>
              <a:srgbClr val="CBD3DA"/>
            </a:solidFill>
          </a:ln>
        </p:spPr>
      </p:sp>
      <p:pic>
        <p:nvPicPr>
          <p:cNvPr id="100" name=""/>
          <p:cNvPicPr>
            <a:picLocks xmlns:a="http://schemas.openxmlformats.org/drawingml/2006/main" noChangeAspect="1"/>
          </p:cNvPicPr>
          <p:nvPr/>
        </p:nvPicPr>
        <p:blipFill>
          <a:blip xmlns:r="http://schemas.openxmlformats.org/officeDocument/2006/relationships" xmlns:a="http://schemas.openxmlformats.org/drawingml/2006/main" r:embed="Rec33d916ab2346a9"/>
          <a:stretch xmlns:a="http://schemas.openxmlformats.org/drawingml/2006/main"/>
        </p:blipFill>
        <p:spPr>
          <a:xfrm xmlns:a="http://schemas.openxmlformats.org/drawingml/2006/main">
            <a:off x="466725" y="2696954"/>
            <a:ext cx="3486150" cy="2064168"/>
          </a:xfrm>
          <a:prstGeom xmlns:a="http://schemas.openxmlformats.org/drawingml/2006/main" prst="rect">
            <a:avLst/>
          </a:prstGeom>
        </p:spPr>
      </p:pic>
      <p:sp>
        <p:nvSpPr>
          <p:cNvPr id="62" name="step-9">
            <a:extLst xmlns:a="http://schemas.openxmlformats.org/drawingml/2006/main">
              <a:ext uri="{FF2B5EF4-FFF2-40B4-BE49-F238E27FC236}">
                <a16:creationId xmlns:a16="http://schemas.microsoft.com/office/drawing/2014/main" id="{F7966938-F8DC-471F-B301-C3B4AA4F81A2}"/>
              </a:ext>
            </a:extLst>
          </p:cNvPr>
          <p:cNvSpPr>
            <a:spLocks xmlns:a="http://schemas.openxmlformats.org/drawingml/2006/main" noGrp="1"/>
          </p:cNvSpPr>
          <p:nvPr/>
        </p:nvSpPr>
        <p:spPr>
          <a:xfrm xmlns:a="http://schemas.openxmlformats.org/drawingml/2006/main">
            <a:off x="4343400" y="1866900"/>
            <a:ext cx="323850" cy="323850"/>
          </a:xfrm>
          <a:prstGeom xmlns:a="http://schemas.openxmlformats.org/drawingml/2006/main" prst="ellipse">
            <a:avLst/>
          </a:prstGeom>
          <a:solidFill xmlns:a="http://schemas.openxmlformats.org/drawingml/2006/main">
            <a:srgbClr val="126D70"/>
          </a:solidFill>
          <a:ln xmlns:a="http://schemas.openxmlformats.org/drawingml/2006/main" w="0">
            <a:noFill/>
          </a:ln>
        </p:spPr>
      </p:sp>
      <p:sp>
        <p:nvSpPr>
          <p:cNvPr id="63" name="rev-10">
            <a:extLst xmlns:a="http://schemas.openxmlformats.org/drawingml/2006/main">
              <a:ext uri="{FF2B5EF4-FFF2-40B4-BE49-F238E27FC236}">
                <a16:creationId xmlns:a16="http://schemas.microsoft.com/office/drawing/2014/main" id="{8F007126-8C4B-4A9F-B2BC-93F137E3383A}"/>
              </a:ext>
            </a:extLst>
          </p:cNvPr>
          <p:cNvSpPr>
            <a:spLocks xmlns:a="http://schemas.openxmlformats.org/drawingml/2006/main" noGrp="1"/>
          </p:cNvSpPr>
          <p:nvPr/>
        </p:nvSpPr>
        <p:spPr>
          <a:xfrm xmlns:a="http://schemas.openxmlformats.org/drawingml/2006/main">
            <a:off x="4343400" y="1885950"/>
            <a:ext cx="323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FFFFF"/>
                </a:solidFill>
                <a:latin typeface="Calibri"/>
                <a:ea typeface="Calibri"/>
                <a:cs typeface="Calibri"/>
              </a:defRPr>
            </a:pPr>
            <a:r>
              <a:rPr sz="1350" b="1">
                <a:solidFill>
                  <a:srgbClr val="FFFFFF"/>
                </a:solidFill>
                <a:latin typeface="Calibri"/>
                <a:ea typeface="Calibri"/>
                <a:cs typeface="Calibri"/>
              </a:rPr>
              <a:t>2</a:t>
            </a:r>
          </a:p>
        </p:txBody>
      </p:sp>
      <p:sp>
        <p:nvSpPr>
          <p:cNvPr id="64" name="rev-11">
            <a:extLst xmlns:a="http://schemas.openxmlformats.org/drawingml/2006/main">
              <a:ext uri="{FF2B5EF4-FFF2-40B4-BE49-F238E27FC236}">
                <a16:creationId xmlns:a16="http://schemas.microsoft.com/office/drawing/2014/main" id="{85635CBA-0AC4-49D0-9346-89B4947B4A58}"/>
              </a:ext>
            </a:extLst>
          </p:cNvPr>
          <p:cNvSpPr>
            <a:spLocks xmlns:a="http://schemas.openxmlformats.org/drawingml/2006/main" noGrp="1"/>
          </p:cNvSpPr>
          <p:nvPr/>
        </p:nvSpPr>
        <p:spPr>
          <a:xfrm xmlns:a="http://schemas.openxmlformats.org/drawingml/2006/main">
            <a:off x="4791075" y="1876425"/>
            <a:ext cx="3124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126D70"/>
                </a:solidFill>
                <a:latin typeface="Calibri"/>
                <a:ea typeface="Calibri"/>
                <a:cs typeface="Calibri"/>
              </a:defRPr>
            </a:pPr>
            <a:r>
              <a:rPr sz="1725" b="1">
                <a:solidFill>
                  <a:srgbClr val="126D70"/>
                </a:solidFill>
                <a:latin typeface="Calibri"/>
                <a:ea typeface="Calibri"/>
                <a:cs typeface="Calibri"/>
              </a:rPr>
              <a:t>Locate sensitive regions</a:t>
            </a:r>
          </a:p>
        </p:txBody>
      </p:sp>
      <p:sp>
        <p:nvSpPr>
          <p:cNvPr id="65" name="rev-12">
            <a:extLst xmlns:a="http://schemas.openxmlformats.org/drawingml/2006/main">
              <a:ext uri="{FF2B5EF4-FFF2-40B4-BE49-F238E27FC236}">
                <a16:creationId xmlns:a16="http://schemas.microsoft.com/office/drawing/2014/main" id="{C8CDCA74-E2A6-40B4-92D1-3DACF05CCB5E}"/>
              </a:ext>
            </a:extLst>
          </p:cNvPr>
          <p:cNvSpPr>
            <a:spLocks xmlns:a="http://schemas.openxmlformats.org/drawingml/2006/main" noGrp="1"/>
          </p:cNvSpPr>
          <p:nvPr/>
        </p:nvSpPr>
        <p:spPr>
          <a:xfrm xmlns:a="http://schemas.openxmlformats.org/drawingml/2006/main">
            <a:off x="4343400" y="2295525"/>
            <a:ext cx="3505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53616D"/>
                </a:solidFill>
                <a:latin typeface="Calibri"/>
                <a:ea typeface="Calibri"/>
                <a:cs typeface="Calibri"/>
              </a:defRPr>
            </a:pPr>
            <a:r>
              <a:rPr sz="1350">
                <a:solidFill>
                  <a:srgbClr val="53616D"/>
                </a:solidFill>
                <a:latin typeface="Calibri"/>
                <a:ea typeface="Calibri"/>
                <a:cs typeface="Calibri"/>
              </a:rPr>
              <a:t>Structural + visual signals</a:t>
            </a:r>
          </a:p>
        </p:txBody>
      </p:sp>
      <p:sp>
        <p:nvSpPr>
          <p:cNvPr id="66" name="rev-13">
            <a:extLst xmlns:a="http://schemas.openxmlformats.org/drawingml/2006/main">
              <a:ext uri="{FF2B5EF4-FFF2-40B4-BE49-F238E27FC236}">
                <a16:creationId xmlns:a16="http://schemas.microsoft.com/office/drawing/2014/main" id="{3E91B6D6-1064-48A9-92BB-DF4E02854691}"/>
              </a:ext>
            </a:extLst>
          </p:cNvPr>
          <p:cNvSpPr>
            <a:spLocks xmlns:a="http://schemas.openxmlformats.org/drawingml/2006/main" noGrp="1"/>
          </p:cNvSpPr>
          <p:nvPr/>
        </p:nvSpPr>
        <p:spPr>
          <a:xfrm xmlns:a="http://schemas.openxmlformats.org/drawingml/2006/main">
            <a:off x="4343400" y="2686050"/>
            <a:ext cx="3505200" cy="2095500"/>
          </a:xfrm>
          <a:prstGeom xmlns:a="http://schemas.openxmlformats.org/drawingml/2006/main" prst="rect">
            <a:avLst/>
          </a:prstGeom>
          <a:solidFill xmlns:a="http://schemas.openxmlformats.org/drawingml/2006/main">
            <a:srgbClr val="FFFFFF"/>
          </a:solidFill>
          <a:ln xmlns:a="http://schemas.openxmlformats.org/drawingml/2006/main" w="9525">
            <a:solidFill>
              <a:srgbClr val="CBD3DA"/>
            </a:solidFill>
          </a:ln>
        </p:spPr>
      </p:sp>
      <p:pic>
        <p:nvPicPr>
          <p:cNvPr id="106" name=""/>
          <p:cNvPicPr>
            <a:picLocks xmlns:a="http://schemas.openxmlformats.org/drawingml/2006/main" noChangeAspect="1"/>
          </p:cNvPicPr>
          <p:nvPr/>
        </p:nvPicPr>
        <p:blipFill>
          <a:blip xmlns:r="http://schemas.openxmlformats.org/officeDocument/2006/relationships" xmlns:a="http://schemas.openxmlformats.org/drawingml/2006/main" r:embed="R1dda0617dae44aa4"/>
          <a:stretch xmlns:a="http://schemas.openxmlformats.org/drawingml/2006/main"/>
        </p:blipFill>
        <p:spPr>
          <a:xfrm xmlns:a="http://schemas.openxmlformats.org/drawingml/2006/main">
            <a:off x="4352925" y="2696954"/>
            <a:ext cx="3486150" cy="2064168"/>
          </a:xfrm>
          <a:prstGeom xmlns:a="http://schemas.openxmlformats.org/drawingml/2006/main" prst="rect">
            <a:avLst/>
          </a:prstGeom>
        </p:spPr>
      </p:pic>
      <p:sp>
        <p:nvSpPr>
          <p:cNvPr id="68" name="step-14">
            <a:extLst xmlns:a="http://schemas.openxmlformats.org/drawingml/2006/main">
              <a:ext uri="{FF2B5EF4-FFF2-40B4-BE49-F238E27FC236}">
                <a16:creationId xmlns:a16="http://schemas.microsoft.com/office/drawing/2014/main" id="{A30CA544-0A41-455D-A890-7C70111B507F}"/>
              </a:ext>
            </a:extLst>
          </p:cNvPr>
          <p:cNvSpPr>
            <a:spLocks xmlns:a="http://schemas.openxmlformats.org/drawingml/2006/main" noGrp="1"/>
          </p:cNvSpPr>
          <p:nvPr/>
        </p:nvSpPr>
        <p:spPr>
          <a:xfrm xmlns:a="http://schemas.openxmlformats.org/drawingml/2006/main">
            <a:off x="8229600" y="1866900"/>
            <a:ext cx="323850" cy="323850"/>
          </a:xfrm>
          <a:prstGeom xmlns:a="http://schemas.openxmlformats.org/drawingml/2006/main" prst="ellipse">
            <a:avLst/>
          </a:prstGeom>
          <a:solidFill xmlns:a="http://schemas.openxmlformats.org/drawingml/2006/main">
            <a:srgbClr val="126D70"/>
          </a:solidFill>
          <a:ln xmlns:a="http://schemas.openxmlformats.org/drawingml/2006/main" w="0">
            <a:noFill/>
          </a:ln>
        </p:spPr>
      </p:sp>
      <p:sp>
        <p:nvSpPr>
          <p:cNvPr id="69" name="rev-15">
            <a:extLst xmlns:a="http://schemas.openxmlformats.org/drawingml/2006/main">
              <a:ext uri="{FF2B5EF4-FFF2-40B4-BE49-F238E27FC236}">
                <a16:creationId xmlns:a16="http://schemas.microsoft.com/office/drawing/2014/main" id="{B579A06B-B539-4264-84CA-6E8678F25226}"/>
              </a:ext>
            </a:extLst>
          </p:cNvPr>
          <p:cNvSpPr>
            <a:spLocks xmlns:a="http://schemas.openxmlformats.org/drawingml/2006/main" noGrp="1"/>
          </p:cNvSpPr>
          <p:nvPr/>
        </p:nvSpPr>
        <p:spPr>
          <a:xfrm xmlns:a="http://schemas.openxmlformats.org/drawingml/2006/main">
            <a:off x="8229600" y="1885950"/>
            <a:ext cx="3238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FFFFF"/>
                </a:solidFill>
                <a:latin typeface="Calibri"/>
                <a:ea typeface="Calibri"/>
                <a:cs typeface="Calibri"/>
              </a:defRPr>
            </a:pPr>
            <a:r>
              <a:rPr sz="1350" b="1">
                <a:solidFill>
                  <a:srgbClr val="FFFFFF"/>
                </a:solidFill>
                <a:latin typeface="Calibri"/>
                <a:ea typeface="Calibri"/>
                <a:cs typeface="Calibri"/>
              </a:rPr>
              <a:t>3</a:t>
            </a:r>
          </a:p>
        </p:txBody>
      </p:sp>
      <p:sp>
        <p:nvSpPr>
          <p:cNvPr id="70" name="rev-16">
            <a:extLst xmlns:a="http://schemas.openxmlformats.org/drawingml/2006/main">
              <a:ext uri="{FF2B5EF4-FFF2-40B4-BE49-F238E27FC236}">
                <a16:creationId xmlns:a16="http://schemas.microsoft.com/office/drawing/2014/main" id="{83688962-8C24-4E43-809A-A16FC740FA78}"/>
              </a:ext>
            </a:extLst>
          </p:cNvPr>
          <p:cNvSpPr>
            <a:spLocks xmlns:a="http://schemas.openxmlformats.org/drawingml/2006/main" noGrp="1"/>
          </p:cNvSpPr>
          <p:nvPr/>
        </p:nvSpPr>
        <p:spPr>
          <a:xfrm xmlns:a="http://schemas.openxmlformats.org/drawingml/2006/main">
            <a:off x="8677275" y="1876425"/>
            <a:ext cx="3124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126D70"/>
                </a:solidFill>
                <a:latin typeface="Calibri"/>
                <a:ea typeface="Calibri"/>
                <a:cs typeface="Calibri"/>
              </a:defRPr>
            </a:pPr>
            <a:r>
              <a:rPr sz="1725" b="1">
                <a:solidFill>
                  <a:srgbClr val="126D70"/>
                </a:solidFill>
                <a:latin typeface="Calibri"/>
                <a:ea typeface="Calibri"/>
                <a:cs typeface="Calibri"/>
              </a:rPr>
              <a:t>Prepare safe context</a:t>
            </a:r>
          </a:p>
        </p:txBody>
      </p:sp>
      <p:sp>
        <p:nvSpPr>
          <p:cNvPr id="71" name="rev-17">
            <a:extLst xmlns:a="http://schemas.openxmlformats.org/drawingml/2006/main">
              <a:ext uri="{FF2B5EF4-FFF2-40B4-BE49-F238E27FC236}">
                <a16:creationId xmlns:a16="http://schemas.microsoft.com/office/drawing/2014/main" id="{192F419F-83BD-419E-A425-8BAD51E84D9F}"/>
              </a:ext>
            </a:extLst>
          </p:cNvPr>
          <p:cNvSpPr>
            <a:spLocks xmlns:a="http://schemas.openxmlformats.org/drawingml/2006/main" noGrp="1"/>
          </p:cNvSpPr>
          <p:nvPr/>
        </p:nvSpPr>
        <p:spPr>
          <a:xfrm xmlns:a="http://schemas.openxmlformats.org/drawingml/2006/main">
            <a:off x="8229600" y="2295525"/>
            <a:ext cx="3505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53616D"/>
                </a:solidFill>
                <a:latin typeface="Calibri"/>
                <a:ea typeface="Calibri"/>
                <a:cs typeface="Calibri"/>
              </a:defRPr>
            </a:pPr>
            <a:r>
              <a:rPr sz="1350">
                <a:solidFill>
                  <a:srgbClr val="53616D"/>
                </a:solidFill>
                <a:latin typeface="Calibri"/>
                <a:ea typeface="Calibri"/>
                <a:cs typeface="Calibri"/>
              </a:rPr>
              <a:t>Redacted pixels + metadata</a:t>
            </a:r>
          </a:p>
        </p:txBody>
      </p:sp>
      <p:sp>
        <p:nvSpPr>
          <p:cNvPr id="72" name="rev-18">
            <a:extLst xmlns:a="http://schemas.openxmlformats.org/drawingml/2006/main">
              <a:ext uri="{FF2B5EF4-FFF2-40B4-BE49-F238E27FC236}">
                <a16:creationId xmlns:a16="http://schemas.microsoft.com/office/drawing/2014/main" id="{1B6FA6AE-CADE-4B46-8C3A-5678038572DD}"/>
              </a:ext>
            </a:extLst>
          </p:cNvPr>
          <p:cNvSpPr>
            <a:spLocks xmlns:a="http://schemas.openxmlformats.org/drawingml/2006/main" noGrp="1"/>
          </p:cNvSpPr>
          <p:nvPr/>
        </p:nvSpPr>
        <p:spPr>
          <a:xfrm xmlns:a="http://schemas.openxmlformats.org/drawingml/2006/main">
            <a:off x="8229600" y="2686050"/>
            <a:ext cx="3505200" cy="2095500"/>
          </a:xfrm>
          <a:prstGeom xmlns:a="http://schemas.openxmlformats.org/drawingml/2006/main" prst="rect">
            <a:avLst/>
          </a:prstGeom>
          <a:solidFill xmlns:a="http://schemas.openxmlformats.org/drawingml/2006/main">
            <a:srgbClr val="FFFFFF"/>
          </a:solidFill>
          <a:ln xmlns:a="http://schemas.openxmlformats.org/drawingml/2006/main" w="9525">
            <a:solidFill>
              <a:srgbClr val="CBD3DA"/>
            </a:solidFill>
          </a:ln>
        </p:spPr>
      </p:sp>
      <p:pic>
        <p:nvPicPr>
          <p:cNvPr id="112" name=""/>
          <p:cNvPicPr>
            <a:picLocks xmlns:a="http://schemas.openxmlformats.org/drawingml/2006/main" noChangeAspect="1"/>
          </p:cNvPicPr>
          <p:nvPr/>
        </p:nvPicPr>
        <p:blipFill>
          <a:blip xmlns:r="http://schemas.openxmlformats.org/officeDocument/2006/relationships" xmlns:a="http://schemas.openxmlformats.org/drawingml/2006/main" r:embed="R04e64006379f49fd"/>
          <a:stretch xmlns:a="http://schemas.openxmlformats.org/drawingml/2006/main"/>
        </p:blipFill>
        <p:spPr>
          <a:xfrm xmlns:a="http://schemas.openxmlformats.org/drawingml/2006/main">
            <a:off x="8239125" y="2696954"/>
            <a:ext cx="3486150" cy="2064168"/>
          </a:xfrm>
          <a:prstGeom xmlns:a="http://schemas.openxmlformats.org/drawingml/2006/main" prst="rect">
            <a:avLst/>
          </a:prstGeom>
        </p:spPr>
      </p:pic>
      <p:sp>
        <p:nvSpPr>
          <p:cNvPr id="74" name="rev-19">
            <a:extLst xmlns:a="http://schemas.openxmlformats.org/drawingml/2006/main">
              <a:ext uri="{FF2B5EF4-FFF2-40B4-BE49-F238E27FC236}">
                <a16:creationId xmlns:a16="http://schemas.microsoft.com/office/drawing/2014/main" id="{1EED089D-40C7-4CAD-9841-58FBEDBBC341}"/>
              </a:ext>
            </a:extLst>
          </p:cNvPr>
          <p:cNvSpPr>
            <a:spLocks xmlns:a="http://schemas.openxmlformats.org/drawingml/2006/main" noGrp="1"/>
          </p:cNvSpPr>
          <p:nvPr/>
        </p:nvSpPr>
        <p:spPr>
          <a:xfrm xmlns:a="http://schemas.openxmlformats.org/drawingml/2006/main">
            <a:off x="8229600" y="2514600"/>
            <a:ext cx="3505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975">
                <a:solidFill>
                  <a:srgbClr val="53616D"/>
                </a:solidFill>
                <a:latin typeface="Calibri"/>
                <a:ea typeface="Calibri"/>
                <a:cs typeface="Calibri"/>
              </a:defRPr>
            </a:pPr>
            <a:r>
              <a:rPr sz="975">
                <a:solidFill>
                  <a:srgbClr val="53616D"/>
                </a:solidFill>
                <a:latin typeface="Calibri"/>
                <a:ea typeface="Calibri"/>
                <a:cs typeface="Calibri"/>
              </a:rPr>
              <a:t>Synthetic portal illustration</a:t>
            </a:r>
          </a:p>
        </p:txBody>
      </p:sp>
      <p:sp>
        <p:nvSpPr>
          <p:cNvPr id="75" name="">
            <a:extLst xmlns:a="http://schemas.openxmlformats.org/drawingml/2006/main">
              <a:ext uri="{FF2B5EF4-FFF2-40B4-BE49-F238E27FC236}">
                <a16:creationId xmlns:a16="http://schemas.microsoft.com/office/drawing/2014/main" id="{53E01A7F-81D4-416A-85F7-C7163D7C67EB}"/>
              </a:ext>
            </a:extLst>
          </p:cNvPr>
          <p:cNvSpPr>
            <a:spLocks xmlns:a="http://schemas.openxmlformats.org/drawingml/2006/main" noGrp="1"/>
          </p:cNvSpPr>
          <p:nvPr/>
        </p:nvSpPr>
        <p:spPr>
          <a:xfrm xmlns:a="http://schemas.openxmlformats.org/drawingml/2006/main">
            <a:off x="4000500" y="3571875"/>
            <a:ext cx="257175" cy="333375"/>
          </a:xfrm>
          <a:prstGeom xmlns:a="http://schemas.openxmlformats.org/drawingml/2006/main" prst="chevron">
            <a:avLst/>
          </a:prstGeom>
          <a:solidFill xmlns:a="http://schemas.openxmlformats.org/drawingml/2006/main">
            <a:srgbClr val="126D70"/>
          </a:solidFill>
          <a:ln xmlns:a="http://schemas.openxmlformats.org/drawingml/2006/main" w="0">
            <a:noFill/>
          </a:ln>
        </p:spPr>
      </p:sp>
      <p:sp>
        <p:nvSpPr>
          <p:cNvPr id="76" name="">
            <a:extLst xmlns:a="http://schemas.openxmlformats.org/drawingml/2006/main">
              <a:ext uri="{FF2B5EF4-FFF2-40B4-BE49-F238E27FC236}">
                <a16:creationId xmlns:a16="http://schemas.microsoft.com/office/drawing/2014/main" id="{1B68E160-94B9-4AB1-912F-FAA241AA118F}"/>
              </a:ext>
            </a:extLst>
          </p:cNvPr>
          <p:cNvSpPr>
            <a:spLocks xmlns:a="http://schemas.openxmlformats.org/drawingml/2006/main" noGrp="1"/>
          </p:cNvSpPr>
          <p:nvPr/>
        </p:nvSpPr>
        <p:spPr>
          <a:xfrm xmlns:a="http://schemas.openxmlformats.org/drawingml/2006/main">
            <a:off x="7886700" y="3571875"/>
            <a:ext cx="257175" cy="333375"/>
          </a:xfrm>
          <a:prstGeom xmlns:a="http://schemas.openxmlformats.org/drawingml/2006/main" prst="chevron">
            <a:avLst/>
          </a:prstGeom>
          <a:solidFill xmlns:a="http://schemas.openxmlformats.org/drawingml/2006/main">
            <a:srgbClr val="126D70"/>
          </a:solidFill>
          <a:ln xmlns:a="http://schemas.openxmlformats.org/drawingml/2006/main" w="0">
            <a:noFill/>
          </a:ln>
        </p:spPr>
      </p:sp>
      <p:sp>
        <p:nvSpPr>
          <p:cNvPr id="77" name="rev-20">
            <a:extLst xmlns:a="http://schemas.openxmlformats.org/drawingml/2006/main">
              <a:ext uri="{FF2B5EF4-FFF2-40B4-BE49-F238E27FC236}">
                <a16:creationId xmlns:a16="http://schemas.microsoft.com/office/drawing/2014/main" id="{BFA78E0E-E70E-42F9-8AF5-72D196D2D830}"/>
              </a:ext>
            </a:extLst>
          </p:cNvPr>
          <p:cNvSpPr>
            <a:spLocks xmlns:a="http://schemas.openxmlformats.org/drawingml/2006/main" noGrp="1"/>
          </p:cNvSpPr>
          <p:nvPr/>
        </p:nvSpPr>
        <p:spPr>
          <a:xfrm xmlns:a="http://schemas.openxmlformats.org/drawingml/2006/main">
            <a:off x="457200" y="4876800"/>
            <a:ext cx="72961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1">
                <a:solidFill>
                  <a:srgbClr val="126D70"/>
                </a:solidFill>
                <a:latin typeface="Calibri"/>
                <a:ea typeface="Calibri"/>
                <a:cs typeface="Calibri"/>
              </a:defRPr>
            </a:pPr>
            <a:r>
              <a:rPr sz="1200" b="1">
                <a:solidFill>
                  <a:srgbClr val="126D70"/>
                </a:solidFill>
                <a:latin typeface="Calibri"/>
                <a:ea typeface="Calibri"/>
                <a:cs typeface="Calibri"/>
              </a:rPr>
              <a:t>CAPTURE AND REDACTION STAY ON THE DEVICE</a:t>
            </a:r>
          </a:p>
        </p:txBody>
      </p:sp>
      <p:sp>
        <p:nvSpPr>
          <p:cNvPr id="78" name="rev-21">
            <a:extLst xmlns:a="http://schemas.openxmlformats.org/drawingml/2006/main">
              <a:ext uri="{FF2B5EF4-FFF2-40B4-BE49-F238E27FC236}">
                <a16:creationId xmlns:a16="http://schemas.microsoft.com/office/drawing/2014/main" id="{8E81A720-5DA6-4FED-920E-023A81EAED3E}"/>
              </a:ext>
            </a:extLst>
          </p:cNvPr>
          <p:cNvSpPr>
            <a:spLocks xmlns:a="http://schemas.openxmlformats.org/drawingml/2006/main" noGrp="1"/>
          </p:cNvSpPr>
          <p:nvPr/>
        </p:nvSpPr>
        <p:spPr>
          <a:xfrm xmlns:a="http://schemas.openxmlformats.org/drawingml/2006/main">
            <a:off x="8229600" y="4876800"/>
            <a:ext cx="3505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b="1">
                <a:solidFill>
                  <a:srgbClr val="126D70"/>
                </a:solidFill>
                <a:latin typeface="Calibri"/>
                <a:ea typeface="Calibri"/>
                <a:cs typeface="Calibri"/>
              </a:defRPr>
            </a:pPr>
            <a:r>
              <a:rPr sz="1350" b="1">
                <a:solidFill>
                  <a:srgbClr val="126D70"/>
                </a:solidFill>
                <a:latin typeface="Calibri"/>
                <a:ea typeface="Calibri"/>
                <a:cs typeface="Calibri"/>
              </a:rPr>
              <a:t>Then select only task-relevant context for the server</a:t>
            </a:r>
          </a:p>
        </p:txBody>
      </p:sp>
      <p:sp>
        <p:nvSpPr>
          <p:cNvPr id="79" name="path-22">
            <a:extLst xmlns:a="http://schemas.openxmlformats.org/drawingml/2006/main">
              <a:ext uri="{FF2B5EF4-FFF2-40B4-BE49-F238E27FC236}">
                <a16:creationId xmlns:a16="http://schemas.microsoft.com/office/drawing/2014/main" id="{A6F66D8D-114B-4A2B-B493-ED36C6DB7C1C}"/>
              </a:ext>
            </a:extLst>
          </p:cNvPr>
          <p:cNvSpPr>
            <a:spLocks xmlns:a="http://schemas.openxmlformats.org/drawingml/2006/main" noGrp="1"/>
          </p:cNvSpPr>
          <p:nvPr/>
        </p:nvSpPr>
        <p:spPr>
          <a:xfrm xmlns:a="http://schemas.openxmlformats.org/drawingml/2006/main">
            <a:off x="457200" y="5210175"/>
            <a:ext cx="7200900" cy="0"/>
          </a:xfrm>
          <a:prstGeom xmlns:a="http://schemas.openxmlformats.org/drawingml/2006/main" prst="line">
            <a:avLst/>
          </a:prstGeom>
          <a:noFill xmlns:a="http://schemas.openxmlformats.org/drawingml/2006/main"/>
          <a:ln xmlns:a="http://schemas.openxmlformats.org/drawingml/2006/main" w="14288">
            <a:solidFill>
              <a:srgbClr val="CBD3DA"/>
            </a:solidFill>
            <a:prstDash val="solid"/>
          </a:ln>
        </p:spPr>
      </p:sp>
      <p:sp>
        <p:nvSpPr>
          <p:cNvPr id="80" name="rev-23">
            <a:extLst xmlns:a="http://schemas.openxmlformats.org/drawingml/2006/main">
              <a:ext uri="{FF2B5EF4-FFF2-40B4-BE49-F238E27FC236}">
                <a16:creationId xmlns:a16="http://schemas.microsoft.com/office/drawing/2014/main" id="{10369848-11E8-4D33-91F8-C1BF7E8EDE34}"/>
              </a:ext>
            </a:extLst>
          </p:cNvPr>
          <p:cNvSpPr>
            <a:spLocks xmlns:a="http://schemas.openxmlformats.org/drawingml/2006/main" noGrp="1"/>
          </p:cNvSpPr>
          <p:nvPr/>
        </p:nvSpPr>
        <p:spPr>
          <a:xfrm xmlns:a="http://schemas.openxmlformats.org/drawingml/2006/main">
            <a:off x="457200" y="5381625"/>
            <a:ext cx="11049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126D70"/>
                </a:solidFill>
                <a:latin typeface="Calibri"/>
                <a:ea typeface="Calibri"/>
                <a:cs typeface="Calibri"/>
              </a:defRPr>
            </a:pPr>
            <a:r>
              <a:rPr sz="1500" b="1">
                <a:solidFill>
                  <a:srgbClr val="126D70"/>
                </a:solidFill>
                <a:latin typeface="Calibri"/>
                <a:ea typeface="Calibri"/>
                <a:cs typeface="Calibri"/>
              </a:rPr>
              <a:t>Innovation and uniqueness</a:t>
            </a:r>
          </a:p>
        </p:txBody>
      </p:sp>
      <p:sp>
        <p:nvSpPr>
          <p:cNvPr id="81" name="rev-24">
            <a:extLst xmlns:a="http://schemas.openxmlformats.org/drawingml/2006/main">
              <a:ext uri="{FF2B5EF4-FFF2-40B4-BE49-F238E27FC236}">
                <a16:creationId xmlns:a16="http://schemas.microsoft.com/office/drawing/2014/main" id="{4DCC5981-5302-4A56-89B0-8104FC08264A}"/>
              </a:ext>
            </a:extLst>
          </p:cNvPr>
          <p:cNvSpPr>
            <a:spLocks xmlns:a="http://schemas.openxmlformats.org/drawingml/2006/main" noGrp="1"/>
          </p:cNvSpPr>
          <p:nvPr/>
        </p:nvSpPr>
        <p:spPr>
          <a:xfrm xmlns:a="http://schemas.openxmlformats.org/drawingml/2006/main">
            <a:off x="457200" y="5743575"/>
            <a:ext cx="34004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1">
                <a:solidFill>
                  <a:srgbClr val="126D70"/>
                </a:solidFill>
                <a:latin typeface="Calibri"/>
                <a:ea typeface="Calibri"/>
                <a:cs typeface="Calibri"/>
              </a:defRPr>
            </a:pPr>
            <a:r>
              <a:rPr sz="1650" b="1">
                <a:solidFill>
                  <a:srgbClr val="126D70"/>
                </a:solidFill>
                <a:latin typeface="Calibri"/>
                <a:ea typeface="Calibri"/>
                <a:cs typeface="Calibri"/>
              </a:rPr>
              <a:t>Fuse privacy signals</a:t>
            </a:r>
          </a:p>
        </p:txBody>
      </p:sp>
      <p:sp>
        <p:nvSpPr>
          <p:cNvPr id="82" name="rev-25">
            <a:extLst xmlns:a="http://schemas.openxmlformats.org/drawingml/2006/main">
              <a:ext uri="{FF2B5EF4-FFF2-40B4-BE49-F238E27FC236}">
                <a16:creationId xmlns:a16="http://schemas.microsoft.com/office/drawing/2014/main" id="{DB25DB50-FDF4-4C35-B7AB-4C91707AB113}"/>
              </a:ext>
            </a:extLst>
          </p:cNvPr>
          <p:cNvSpPr>
            <a:spLocks xmlns:a="http://schemas.openxmlformats.org/drawingml/2006/main" noGrp="1"/>
          </p:cNvSpPr>
          <p:nvPr/>
        </p:nvSpPr>
        <p:spPr>
          <a:xfrm xmlns:a="http://schemas.openxmlformats.org/drawingml/2006/main">
            <a:off x="457200" y="6038850"/>
            <a:ext cx="3476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One mask for pixels and text</a:t>
            </a:r>
          </a:p>
        </p:txBody>
      </p:sp>
      <p:sp>
        <p:nvSpPr>
          <p:cNvPr id="83" name="rev-26">
            <a:extLst xmlns:a="http://schemas.openxmlformats.org/drawingml/2006/main">
              <a:ext uri="{FF2B5EF4-FFF2-40B4-BE49-F238E27FC236}">
                <a16:creationId xmlns:a16="http://schemas.microsoft.com/office/drawing/2014/main" id="{A60984B5-C975-4BA7-8CCD-2EFEAB5C0623}"/>
              </a:ext>
            </a:extLst>
          </p:cNvPr>
          <p:cNvSpPr>
            <a:spLocks xmlns:a="http://schemas.openxmlformats.org/drawingml/2006/main" noGrp="1"/>
          </p:cNvSpPr>
          <p:nvPr/>
        </p:nvSpPr>
        <p:spPr>
          <a:xfrm xmlns:a="http://schemas.openxmlformats.org/drawingml/2006/main">
            <a:off x="4343400" y="5743575"/>
            <a:ext cx="34004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1">
                <a:solidFill>
                  <a:srgbClr val="126D70"/>
                </a:solidFill>
                <a:latin typeface="Calibri"/>
                <a:ea typeface="Calibri"/>
                <a:cs typeface="Calibri"/>
              </a:defRPr>
            </a:pPr>
            <a:r>
              <a:rPr sz="1650" b="1">
                <a:solidFill>
                  <a:srgbClr val="126D70"/>
                </a:solidFill>
                <a:latin typeface="Calibri"/>
                <a:ea typeface="Calibri"/>
                <a:cs typeface="Calibri"/>
              </a:rPr>
              <a:t>Escalate selectively</a:t>
            </a:r>
          </a:p>
        </p:txBody>
      </p:sp>
      <p:sp>
        <p:nvSpPr>
          <p:cNvPr id="84" name="rev-27">
            <a:extLst xmlns:a="http://schemas.openxmlformats.org/drawingml/2006/main">
              <a:ext uri="{FF2B5EF4-FFF2-40B4-BE49-F238E27FC236}">
                <a16:creationId xmlns:a16="http://schemas.microsoft.com/office/drawing/2014/main" id="{11AB7BAA-D0FB-4185-BB2E-90D3695DF61D}"/>
              </a:ext>
            </a:extLst>
          </p:cNvPr>
          <p:cNvSpPr>
            <a:spLocks xmlns:a="http://schemas.openxmlformats.org/drawingml/2006/main" noGrp="1"/>
          </p:cNvSpPr>
          <p:nvPr/>
        </p:nvSpPr>
        <p:spPr>
          <a:xfrm xmlns:a="http://schemas.openxmlformats.org/drawingml/2006/main">
            <a:off x="4343400" y="6038850"/>
            <a:ext cx="3476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OCR where DOM text is absent</a:t>
            </a:r>
          </a:p>
        </p:txBody>
      </p:sp>
      <p:sp>
        <p:nvSpPr>
          <p:cNvPr id="85" name="rev-28">
            <a:extLst xmlns:a="http://schemas.openxmlformats.org/drawingml/2006/main">
              <a:ext uri="{FF2B5EF4-FFF2-40B4-BE49-F238E27FC236}">
                <a16:creationId xmlns:a16="http://schemas.microsoft.com/office/drawing/2014/main" id="{0031FFFD-E446-4635-9BA4-B0DA58ED08C5}"/>
              </a:ext>
            </a:extLst>
          </p:cNvPr>
          <p:cNvSpPr>
            <a:spLocks xmlns:a="http://schemas.openxmlformats.org/drawingml/2006/main" noGrp="1"/>
          </p:cNvSpPr>
          <p:nvPr/>
        </p:nvSpPr>
        <p:spPr>
          <a:xfrm xmlns:a="http://schemas.openxmlformats.org/drawingml/2006/main">
            <a:off x="8229600" y="5743575"/>
            <a:ext cx="34004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1">
                <a:solidFill>
                  <a:srgbClr val="126D70"/>
                </a:solidFill>
                <a:latin typeface="Calibri"/>
                <a:ea typeface="Calibri"/>
                <a:cs typeface="Calibri"/>
              </a:defRPr>
            </a:pPr>
            <a:r>
              <a:rPr sz="1650" b="1">
                <a:solidFill>
                  <a:srgbClr val="126D70"/>
                </a:solidFill>
                <a:latin typeface="Calibri"/>
                <a:ea typeface="Calibri"/>
                <a:cs typeface="Calibri"/>
              </a:rPr>
              <a:t>Disclose by task</a:t>
            </a:r>
          </a:p>
        </p:txBody>
      </p:sp>
      <p:sp>
        <p:nvSpPr>
          <p:cNvPr id="86" name="rev-29">
            <a:extLst xmlns:a="http://schemas.openxmlformats.org/drawingml/2006/main">
              <a:ext uri="{FF2B5EF4-FFF2-40B4-BE49-F238E27FC236}">
                <a16:creationId xmlns:a16="http://schemas.microsoft.com/office/drawing/2014/main" id="{4785700F-CFBA-489D-A5F8-3B7856601EB8}"/>
              </a:ext>
            </a:extLst>
          </p:cNvPr>
          <p:cNvSpPr>
            <a:spLocks xmlns:a="http://schemas.openxmlformats.org/drawingml/2006/main" noGrp="1"/>
          </p:cNvSpPr>
          <p:nvPr/>
        </p:nvSpPr>
        <p:spPr>
          <a:xfrm xmlns:a="http://schemas.openxmlformats.org/drawingml/2006/main">
            <a:off x="8229600" y="6038850"/>
            <a:ext cx="3476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Send only the useful context</a:t>
            </a:r>
          </a:p>
        </p:txBody>
      </p:sp>
    </p:spTree>
    <p:extLst>
      <p:ext uri="{BB962C8B-B14F-4D97-AF65-F5344CB8AC3E}">
        <p14:creationId xmlns:p14="http://schemas.microsoft.com/office/powerpoint/2010/main" val="41604563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97E76C27-6159-45F9-8126-268F9EC2442E}"/>
              </a:ext>
            </a:extLst>
          </p:cNvPr>
          <p:cNvSpPr>
            <a:spLocks xmlns:a="http://schemas.openxmlformats.org/drawingml/2006/main" noGrp="1"/>
          </p:cNvSpPr>
          <p:nvPr/>
        </p:nvSpPr>
        <p:spPr>
          <a:xfrm xmlns:a="http://schemas.openxmlformats.org/drawingml/2006/main">
            <a:off x="384048" y="201168"/>
            <a:ext cx="1371600" cy="530352"/>
          </a:xfrm>
          <a:prstGeom xmlns:a="http://schemas.openxmlformats.org/drawingml/2006/main" prst="ellipse">
            <a:avLst/>
          </a:prstGeom>
          <a:solidFill xmlns:a="http://schemas.openxmlformats.org/drawingml/2006/main">
            <a:srgbClr val="E3F1F2"/>
          </a:solidFill>
          <a:ln xmlns:a="http://schemas.openxmlformats.org/drawingml/2006/main" w="19050">
            <a:solidFill>
              <a:srgbClr val="0E7C86"/>
            </a:solidFill>
            <a:prstDash val="solid"/>
          </a:ln>
          <a:effectLst xmlns:a="http://schemas.openxmlformats.org/drawingml/2006/main">
            <a:outerShdw blurRad="76200" dist="12700" dir="5400000" algn="bl" rotWithShape="0">
              <a:srgbClr val="9FB0C0">
                <a:alpha val="28000"/>
              </a:srgbClr>
            </a:outerShdw>
          </a:effectLst>
        </p:spPr>
      </p:sp>
      <p:sp>
        <p:nvSpPr>
          <p:cNvPr id="3" name="Text 1">
            <a:extLst xmlns:a="http://schemas.openxmlformats.org/drawingml/2006/main">
              <a:ext uri="{FF2B5EF4-FFF2-40B4-BE49-F238E27FC236}">
                <a16:creationId xmlns:a16="http://schemas.microsoft.com/office/drawing/2014/main" id="{131ACADF-D9F8-4A6E-A56D-610B37C6B4D4}"/>
              </a:ext>
            </a:extLst>
          </p:cNvPr>
          <p:cNvSpPr>
            <a:spLocks xmlns:a="http://schemas.openxmlformats.org/drawingml/2006/main" noGrp="1"/>
          </p:cNvSpPr>
          <p:nvPr/>
        </p:nvSpPr>
        <p:spPr>
          <a:xfrm xmlns:a="http://schemas.openxmlformats.org/drawingml/2006/main">
            <a:off x="384048" y="320040"/>
            <a:ext cx="1371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0A5F67"/>
                </a:solidFill>
                <a:latin typeface="Calibri"/>
                <a:ea typeface="Calibri"/>
                <a:cs typeface="Calibri"/>
              </a:rPr>
              <a:t>NEXORA</a:t>
            </a:r>
            <a:endParaRPr sz="1250"/>
          </a:p>
        </p:txBody>
      </p:sp>
      <p:sp>
        <p:nvSpPr>
          <p:cNvPr id="4" name="Text 2">
            <a:extLst xmlns:a="http://schemas.openxmlformats.org/drawingml/2006/main">
              <a:ext uri="{FF2B5EF4-FFF2-40B4-BE49-F238E27FC236}">
                <a16:creationId xmlns:a16="http://schemas.microsoft.com/office/drawing/2014/main" id="{129FC09F-BF25-40E1-857E-D4C210255F18}"/>
              </a:ext>
            </a:extLst>
          </p:cNvPr>
          <p:cNvSpPr>
            <a:spLocks xmlns:a="http://schemas.openxmlformats.org/drawingml/2006/main" noGrp="1"/>
          </p:cNvSpPr>
          <p:nvPr/>
        </p:nvSpPr>
        <p:spPr>
          <a:xfrm xmlns:a="http://schemas.openxmlformats.org/drawingml/2006/main">
            <a:off x="2011680" y="201168"/>
            <a:ext cx="786384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1F4E79"/>
                </a:solidFill>
                <a:latin typeface="Cambria"/>
                <a:ea typeface="Cambria"/>
                <a:cs typeface="Cambria"/>
              </a:rPr>
              <a:t>TECHNICAL APPROACH</a:t>
            </a:r>
            <a:endParaRPr sz="2800"/>
          </a:p>
        </p:txBody>
      </p:sp>
      <p:pic>
        <p:nvPicPr>
          <p:cNvPr id="138" name="Image 0"/>
          <p:cNvPicPr>
            <a:picLocks xmlns:a="http://schemas.openxmlformats.org/drawingml/2006/main" noChangeAspect="1"/>
          </p:cNvPicPr>
          <p:nvPr/>
        </p:nvPicPr>
        <p:blipFill>
          <a:blip xmlns:r="http://schemas.openxmlformats.org/officeDocument/2006/relationships" xmlns:a="http://schemas.openxmlformats.org/drawingml/2006/main" r:embed="R39eead2720a140a5"/>
          <a:stretch xmlns:a="http://schemas.openxmlformats.org/drawingml/2006/main">
            <a:fillRect l="0" t="0" r="0" b="0"/>
          </a:stretch>
        </p:blipFill>
        <p:spPr>
          <a:xfrm xmlns:a="http://schemas.openxmlformats.org/drawingml/2006/main">
            <a:off x="10287000" y="164592"/>
            <a:ext cx="1554480" cy="731520"/>
          </a:xfrm>
          <a:prstGeom xmlns:a="http://schemas.openxmlformats.org/drawingml/2006/main" prst="rect">
            <a:avLst/>
          </a:prstGeom>
          <a:effectLst xmlns:a="http://schemas.openxmlformats.org/drawingml/2006/main">
            <a:outerShdw blurRad="76200" dist="12700" dir="5400000" algn="bl" rotWithShape="0">
              <a:srgbClr val="9FB0C0">
                <a:alpha val="28000"/>
              </a:srgbClr>
            </a:outerShdw>
          </a:effectLst>
        </p:spPr>
      </p:pic>
      <p:sp>
        <p:nvSpPr>
          <p:cNvPr id="7" name="Shape 4">
            <a:extLst xmlns:a="http://schemas.openxmlformats.org/drawingml/2006/main">
              <a:ext uri="{FF2B5EF4-FFF2-40B4-BE49-F238E27FC236}">
                <a16:creationId xmlns:a16="http://schemas.microsoft.com/office/drawing/2014/main" id="{4C3784D7-5191-44B2-B283-ACCD51CEECF4}"/>
              </a:ext>
            </a:extLst>
          </p:cNvPr>
          <p:cNvSpPr>
            <a:spLocks xmlns:a="http://schemas.openxmlformats.org/drawingml/2006/main" noGrp="1"/>
          </p:cNvSpPr>
          <p:nvPr/>
        </p:nvSpPr>
        <p:spPr>
          <a:xfrm xmlns:a="http://schemas.openxmlformats.org/drawingml/2006/main">
            <a:off x="0" y="6446520"/>
            <a:ext cx="12191695" cy="411480"/>
          </a:xfrm>
          <a:prstGeom xmlns:a="http://schemas.openxmlformats.org/drawingml/2006/main" prst="rect">
            <a:avLst/>
          </a:prstGeom>
          <a:solidFill xmlns:a="http://schemas.openxmlformats.org/drawingml/2006/main">
            <a:srgbClr val="0071C1"/>
          </a:solidFill>
        </p:spPr>
      </p:sp>
      <p:sp>
        <p:nvSpPr>
          <p:cNvPr id="9" name="Text 6">
            <a:extLst xmlns:a="http://schemas.openxmlformats.org/drawingml/2006/main">
              <a:ext uri="{FF2B5EF4-FFF2-40B4-BE49-F238E27FC236}">
                <a16:creationId xmlns:a16="http://schemas.microsoft.com/office/drawing/2014/main" id="{46FDB595-4399-4667-8E51-D3B655EF4295}"/>
              </a:ext>
            </a:extLst>
          </p:cNvPr>
          <p:cNvSpPr>
            <a:spLocks xmlns:a="http://schemas.openxmlformats.org/drawingml/2006/main" noGrp="1"/>
          </p:cNvSpPr>
          <p:nvPr/>
        </p:nvSpPr>
        <p:spPr>
          <a:xfrm xmlns:a="http://schemas.openxmlformats.org/drawingml/2006/main">
            <a:off x="11338560" y="6537960"/>
            <a:ext cx="457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FFFFFF"/>
                </a:solidFill>
                <a:latin typeface="Calibri"/>
                <a:ea typeface="Calibri"/>
                <a:cs typeface="Calibri"/>
              </a:rPr>
              <a:t>3</a:t>
            </a:r>
            <a:endParaRPr sz="1250"/>
          </a:p>
        </p:txBody>
      </p:sp>
      <p:sp>
        <p:nvSpPr>
          <p:cNvPr id="92" name="rev-30">
            <a:extLst xmlns:a="http://schemas.openxmlformats.org/drawingml/2006/main">
              <a:ext uri="{FF2B5EF4-FFF2-40B4-BE49-F238E27FC236}">
                <a16:creationId xmlns:a16="http://schemas.microsoft.com/office/drawing/2014/main" id="{3A49499A-AE0C-4654-A0E6-6ACAF77B10FB}"/>
              </a:ext>
            </a:extLst>
          </p:cNvPr>
          <p:cNvSpPr>
            <a:spLocks xmlns:a="http://schemas.openxmlformats.org/drawingml/2006/main" noGrp="1"/>
          </p:cNvSpPr>
          <p:nvPr/>
        </p:nvSpPr>
        <p:spPr>
          <a:xfrm xmlns:a="http://schemas.openxmlformats.org/drawingml/2006/main">
            <a:off x="457200" y="981075"/>
            <a:ext cx="11049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6D4C80"/>
                </a:solidFill>
                <a:latin typeface="Calibri"/>
                <a:ea typeface="Calibri"/>
                <a:cs typeface="Calibri"/>
              </a:defRPr>
            </a:pPr>
            <a:r>
              <a:rPr sz="1500" b="1">
                <a:solidFill>
                  <a:srgbClr val="6D4C80"/>
                </a:solidFill>
                <a:latin typeface="Calibri"/>
                <a:ea typeface="Calibri"/>
                <a:cs typeface="Calibri"/>
              </a:rPr>
              <a:t>Technologies and implementation approach</a:t>
            </a:r>
          </a:p>
        </p:txBody>
      </p:sp>
      <p:sp>
        <p:nvSpPr>
          <p:cNvPr id="93" name="rev-31">
            <a:extLst xmlns:a="http://schemas.openxmlformats.org/drawingml/2006/main">
              <a:ext uri="{FF2B5EF4-FFF2-40B4-BE49-F238E27FC236}">
                <a16:creationId xmlns:a16="http://schemas.microsoft.com/office/drawing/2014/main" id="{1AFCC0C6-546F-4640-8836-00B25B41D859}"/>
              </a:ext>
            </a:extLst>
          </p:cNvPr>
          <p:cNvSpPr>
            <a:spLocks xmlns:a="http://schemas.openxmlformats.org/drawingml/2006/main" noGrp="1"/>
          </p:cNvSpPr>
          <p:nvPr/>
        </p:nvSpPr>
        <p:spPr>
          <a:xfrm xmlns:a="http://schemas.openxmlformats.org/drawingml/2006/main">
            <a:off x="457200" y="1323975"/>
            <a:ext cx="11277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02B36"/>
                </a:solidFill>
                <a:latin typeface="Calibri"/>
                <a:ea typeface="Calibri"/>
                <a:cs typeface="Calibri"/>
              </a:defRPr>
            </a:pPr>
            <a:r>
              <a:rPr sz="2100" b="1">
                <a:solidFill>
                  <a:srgbClr val="202B36"/>
                </a:solidFill>
                <a:latin typeface="Calibri"/>
                <a:ea typeface="Calibri"/>
                <a:cs typeface="Calibri"/>
              </a:rPr>
              <a:t>The browser protects data and controls every action</a:t>
            </a:r>
          </a:p>
        </p:txBody>
      </p:sp>
      <p:sp>
        <p:nvSpPr>
          <p:cNvPr id="94" name="rev-32">
            <a:extLst xmlns:a="http://schemas.openxmlformats.org/drawingml/2006/main">
              <a:ext uri="{FF2B5EF4-FFF2-40B4-BE49-F238E27FC236}">
                <a16:creationId xmlns:a16="http://schemas.microsoft.com/office/drawing/2014/main" id="{505E6529-3B10-430C-9C4C-DE6BFABD944B}"/>
              </a:ext>
            </a:extLst>
          </p:cNvPr>
          <p:cNvSpPr>
            <a:spLocks xmlns:a="http://schemas.openxmlformats.org/drawingml/2006/main" noGrp="1"/>
          </p:cNvSpPr>
          <p:nvPr/>
        </p:nvSpPr>
        <p:spPr>
          <a:xfrm xmlns:a="http://schemas.openxmlformats.org/drawingml/2006/main">
            <a:off x="457200" y="1857375"/>
            <a:ext cx="7686675" cy="2847975"/>
          </a:xfrm>
          <a:prstGeom xmlns:a="http://schemas.openxmlformats.org/drawingml/2006/main" prst="rect">
            <a:avLst/>
          </a:prstGeom>
          <a:solidFill xmlns:a="http://schemas.openxmlformats.org/drawingml/2006/main">
            <a:srgbClr val="F1EDF6"/>
          </a:solidFill>
          <a:ln xmlns:a="http://schemas.openxmlformats.org/drawingml/2006/main" w="9525">
            <a:solidFill>
              <a:srgbClr val="F1EDF6"/>
            </a:solidFill>
          </a:ln>
        </p:spPr>
      </p:sp>
      <p:sp>
        <p:nvSpPr>
          <p:cNvPr id="95" name="rev-33">
            <a:extLst xmlns:a="http://schemas.openxmlformats.org/drawingml/2006/main">
              <a:ext uri="{FF2B5EF4-FFF2-40B4-BE49-F238E27FC236}">
                <a16:creationId xmlns:a16="http://schemas.microsoft.com/office/drawing/2014/main" id="{9F9667A2-1970-4118-A70B-4F00EC8F04F1}"/>
              </a:ext>
            </a:extLst>
          </p:cNvPr>
          <p:cNvSpPr>
            <a:spLocks xmlns:a="http://schemas.openxmlformats.org/drawingml/2006/main" noGrp="1"/>
          </p:cNvSpPr>
          <p:nvPr/>
        </p:nvSpPr>
        <p:spPr>
          <a:xfrm xmlns:a="http://schemas.openxmlformats.org/drawingml/2006/main">
            <a:off x="638175" y="1981200"/>
            <a:ext cx="685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b="1">
                <a:solidFill>
                  <a:srgbClr val="6D4C80"/>
                </a:solidFill>
                <a:latin typeface="Calibri"/>
                <a:ea typeface="Calibri"/>
                <a:cs typeface="Calibri"/>
              </a:defRPr>
            </a:pPr>
            <a:r>
              <a:rPr sz="1350" b="1">
                <a:solidFill>
                  <a:srgbClr val="6D4C80"/>
                </a:solidFill>
                <a:latin typeface="Calibri"/>
                <a:ea typeface="Calibri"/>
                <a:cs typeface="Calibri"/>
              </a:rPr>
              <a:t>CLIENT / BROWSER</a:t>
            </a:r>
          </a:p>
        </p:txBody>
      </p:sp>
      <p:sp>
        <p:nvSpPr>
          <p:cNvPr id="96" name="rev-34">
            <a:extLst xmlns:a="http://schemas.openxmlformats.org/drawingml/2006/main">
              <a:ext uri="{FF2B5EF4-FFF2-40B4-BE49-F238E27FC236}">
                <a16:creationId xmlns:a16="http://schemas.microsoft.com/office/drawing/2014/main" id="{153C6D2D-E3D1-4E00-A58A-EB8CA43B6D43}"/>
              </a:ext>
            </a:extLst>
          </p:cNvPr>
          <p:cNvSpPr>
            <a:spLocks xmlns:a="http://schemas.openxmlformats.org/drawingml/2006/main" noGrp="1"/>
          </p:cNvSpPr>
          <p:nvPr/>
        </p:nvSpPr>
        <p:spPr>
          <a:xfrm xmlns:a="http://schemas.openxmlformats.org/drawingml/2006/main">
            <a:off x="9467850" y="1981200"/>
            <a:ext cx="22669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b="1">
                <a:solidFill>
                  <a:srgbClr val="6D4C80"/>
                </a:solidFill>
                <a:latin typeface="Calibri"/>
                <a:ea typeface="Calibri"/>
                <a:cs typeface="Calibri"/>
              </a:defRPr>
            </a:pPr>
            <a:r>
              <a:rPr sz="1350" b="1">
                <a:solidFill>
                  <a:srgbClr val="6D4C80"/>
                </a:solidFill>
                <a:latin typeface="Calibri"/>
                <a:ea typeface="Calibri"/>
                <a:cs typeface="Calibri"/>
              </a:rPr>
              <a:t>SERVER</a:t>
            </a:r>
          </a:p>
        </p:txBody>
      </p:sp>
      <p:sp>
        <p:nvSpPr>
          <p:cNvPr id="97" name="rev-35">
            <a:extLst xmlns:a="http://schemas.openxmlformats.org/drawingml/2006/main">
              <a:ext uri="{FF2B5EF4-FFF2-40B4-BE49-F238E27FC236}">
                <a16:creationId xmlns:a16="http://schemas.microsoft.com/office/drawing/2014/main" id="{49716971-9F67-4231-9498-C7B0488E3077}"/>
              </a:ext>
            </a:extLst>
          </p:cNvPr>
          <p:cNvSpPr>
            <a:spLocks xmlns:a="http://schemas.openxmlformats.org/drawingml/2006/main" noGrp="1"/>
          </p:cNvSpPr>
          <p:nvPr/>
        </p:nvSpPr>
        <p:spPr>
          <a:xfrm xmlns:a="http://schemas.openxmlformats.org/drawingml/2006/main">
            <a:off x="638175" y="2400300"/>
            <a:ext cx="20383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6D4C80"/>
            </a:solidFill>
          </a:ln>
        </p:spPr>
      </p:sp>
      <p:sp>
        <p:nvSpPr>
          <p:cNvPr id="98" name="rev-36">
            <a:extLst xmlns:a="http://schemas.openxmlformats.org/drawingml/2006/main">
              <a:ext uri="{FF2B5EF4-FFF2-40B4-BE49-F238E27FC236}">
                <a16:creationId xmlns:a16="http://schemas.microsoft.com/office/drawing/2014/main" id="{02542A37-3181-473F-A249-FE88FB1DCE98}"/>
              </a:ext>
            </a:extLst>
          </p:cNvPr>
          <p:cNvSpPr>
            <a:spLocks xmlns:a="http://schemas.openxmlformats.org/drawingml/2006/main" noGrp="1"/>
          </p:cNvSpPr>
          <p:nvPr/>
        </p:nvSpPr>
        <p:spPr>
          <a:xfrm xmlns:a="http://schemas.openxmlformats.org/drawingml/2006/main">
            <a:off x="790575" y="2524125"/>
            <a:ext cx="1733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6D4C80"/>
                </a:solidFill>
                <a:latin typeface="Calibri"/>
                <a:ea typeface="Calibri"/>
                <a:cs typeface="Calibri"/>
              </a:defRPr>
            </a:pPr>
            <a:r>
              <a:rPr sz="1575" b="1">
                <a:solidFill>
                  <a:srgbClr val="6D4C80"/>
                </a:solidFill>
                <a:latin typeface="Calibri"/>
                <a:ea typeface="Calibri"/>
                <a:cs typeface="Calibri"/>
              </a:rPr>
              <a:t>1  Observe</a:t>
            </a:r>
          </a:p>
        </p:txBody>
      </p:sp>
      <p:sp>
        <p:nvSpPr>
          <p:cNvPr id="99" name="rev-37">
            <a:extLst xmlns:a="http://schemas.openxmlformats.org/drawingml/2006/main">
              <a:ext uri="{FF2B5EF4-FFF2-40B4-BE49-F238E27FC236}">
                <a16:creationId xmlns:a16="http://schemas.microsoft.com/office/drawing/2014/main" id="{887AB0A4-A4C7-458C-9BB7-BD1655A52794}"/>
              </a:ext>
            </a:extLst>
          </p:cNvPr>
          <p:cNvSpPr>
            <a:spLocks xmlns:a="http://schemas.openxmlformats.org/drawingml/2006/main" noGrp="1"/>
          </p:cNvSpPr>
          <p:nvPr/>
        </p:nvSpPr>
        <p:spPr>
          <a:xfrm xmlns:a="http://schemas.openxmlformats.org/drawingml/2006/main">
            <a:off x="790575" y="2857500"/>
            <a:ext cx="173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Screen + DOM</a:t>
            </a:r>
          </a:p>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Role, label, position</a:t>
            </a:r>
          </a:p>
        </p:txBody>
      </p:sp>
      <p:sp>
        <p:nvSpPr>
          <p:cNvPr id="100" name="rev-38">
            <a:extLst xmlns:a="http://schemas.openxmlformats.org/drawingml/2006/main">
              <a:ext uri="{FF2B5EF4-FFF2-40B4-BE49-F238E27FC236}">
                <a16:creationId xmlns:a16="http://schemas.microsoft.com/office/drawing/2014/main" id="{8E537412-79FC-4AE8-82B0-EE698431CDFF}"/>
              </a:ext>
            </a:extLst>
          </p:cNvPr>
          <p:cNvSpPr>
            <a:spLocks xmlns:a="http://schemas.openxmlformats.org/drawingml/2006/main" noGrp="1"/>
          </p:cNvSpPr>
          <p:nvPr/>
        </p:nvSpPr>
        <p:spPr>
          <a:xfrm xmlns:a="http://schemas.openxmlformats.org/drawingml/2006/main">
            <a:off x="2962275" y="2400300"/>
            <a:ext cx="220980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6D4C80"/>
            </a:solidFill>
          </a:ln>
        </p:spPr>
      </p:sp>
      <p:sp>
        <p:nvSpPr>
          <p:cNvPr id="101" name="rev-39">
            <a:extLst xmlns:a="http://schemas.openxmlformats.org/drawingml/2006/main">
              <a:ext uri="{FF2B5EF4-FFF2-40B4-BE49-F238E27FC236}">
                <a16:creationId xmlns:a16="http://schemas.microsoft.com/office/drawing/2014/main" id="{23405F93-45AE-4DF9-92B0-82DEACEC552C}"/>
              </a:ext>
            </a:extLst>
          </p:cNvPr>
          <p:cNvSpPr>
            <a:spLocks xmlns:a="http://schemas.openxmlformats.org/drawingml/2006/main" noGrp="1"/>
          </p:cNvSpPr>
          <p:nvPr/>
        </p:nvSpPr>
        <p:spPr>
          <a:xfrm xmlns:a="http://schemas.openxmlformats.org/drawingml/2006/main">
            <a:off x="3114675" y="2524125"/>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6D4C80"/>
                </a:solidFill>
                <a:latin typeface="Calibri"/>
                <a:ea typeface="Calibri"/>
                <a:cs typeface="Calibri"/>
              </a:defRPr>
            </a:pPr>
            <a:r>
              <a:rPr sz="1575" b="1">
                <a:solidFill>
                  <a:srgbClr val="6D4C80"/>
                </a:solidFill>
                <a:latin typeface="Calibri"/>
                <a:ea typeface="Calibri"/>
                <a:cs typeface="Calibri"/>
              </a:rPr>
              <a:t>2  Sanitize</a:t>
            </a:r>
          </a:p>
        </p:txBody>
      </p:sp>
      <p:sp>
        <p:nvSpPr>
          <p:cNvPr id="102" name="rev-40">
            <a:extLst xmlns:a="http://schemas.openxmlformats.org/drawingml/2006/main">
              <a:ext uri="{FF2B5EF4-FFF2-40B4-BE49-F238E27FC236}">
                <a16:creationId xmlns:a16="http://schemas.microsoft.com/office/drawing/2014/main" id="{348A65C6-8D1A-4939-ACB8-83524F495637}"/>
              </a:ext>
            </a:extLst>
          </p:cNvPr>
          <p:cNvSpPr>
            <a:spLocks xmlns:a="http://schemas.openxmlformats.org/drawingml/2006/main" noGrp="1"/>
          </p:cNvSpPr>
          <p:nvPr/>
        </p:nvSpPr>
        <p:spPr>
          <a:xfrm xmlns:a="http://schemas.openxmlformats.org/drawingml/2006/main">
            <a:off x="3114675" y="2857500"/>
            <a:ext cx="1905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Mask sensitive pixels</a:t>
            </a:r>
          </a:p>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and text locally</a:t>
            </a:r>
          </a:p>
        </p:txBody>
      </p:sp>
      <p:sp>
        <p:nvSpPr>
          <p:cNvPr id="103" name="rev-41">
            <a:extLst xmlns:a="http://schemas.openxmlformats.org/drawingml/2006/main">
              <a:ext uri="{FF2B5EF4-FFF2-40B4-BE49-F238E27FC236}">
                <a16:creationId xmlns:a16="http://schemas.microsoft.com/office/drawing/2014/main" id="{FFE6B855-D32E-4426-BE35-3DBD57AF57D6}"/>
              </a:ext>
            </a:extLst>
          </p:cNvPr>
          <p:cNvSpPr>
            <a:spLocks xmlns:a="http://schemas.openxmlformats.org/drawingml/2006/main" noGrp="1"/>
          </p:cNvSpPr>
          <p:nvPr/>
        </p:nvSpPr>
        <p:spPr>
          <a:xfrm xmlns:a="http://schemas.openxmlformats.org/drawingml/2006/main">
            <a:off x="5457825" y="2400300"/>
            <a:ext cx="2486025"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6D4C80"/>
            </a:solidFill>
          </a:ln>
        </p:spPr>
      </p:sp>
      <p:sp>
        <p:nvSpPr>
          <p:cNvPr id="104" name="rev-42">
            <a:extLst xmlns:a="http://schemas.openxmlformats.org/drawingml/2006/main">
              <a:ext uri="{FF2B5EF4-FFF2-40B4-BE49-F238E27FC236}">
                <a16:creationId xmlns:a16="http://schemas.microsoft.com/office/drawing/2014/main" id="{81709EDD-3B6A-46A6-A013-95B70260254F}"/>
              </a:ext>
            </a:extLst>
          </p:cNvPr>
          <p:cNvSpPr>
            <a:spLocks xmlns:a="http://schemas.openxmlformats.org/drawingml/2006/main" noGrp="1"/>
          </p:cNvSpPr>
          <p:nvPr/>
        </p:nvSpPr>
        <p:spPr>
          <a:xfrm xmlns:a="http://schemas.openxmlformats.org/drawingml/2006/main">
            <a:off x="5610225" y="2524125"/>
            <a:ext cx="21812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6D4C80"/>
                </a:solidFill>
                <a:latin typeface="Calibri"/>
                <a:ea typeface="Calibri"/>
                <a:cs typeface="Calibri"/>
              </a:defRPr>
            </a:pPr>
            <a:r>
              <a:rPr sz="1575" b="1">
                <a:solidFill>
                  <a:srgbClr val="6D4C80"/>
                </a:solidFill>
                <a:latin typeface="Calibri"/>
                <a:ea typeface="Calibri"/>
                <a:cs typeface="Calibri"/>
              </a:rPr>
              <a:t>3  Select</a:t>
            </a:r>
          </a:p>
        </p:txBody>
      </p:sp>
      <p:sp>
        <p:nvSpPr>
          <p:cNvPr id="105" name="rev-43">
            <a:extLst xmlns:a="http://schemas.openxmlformats.org/drawingml/2006/main">
              <a:ext uri="{FF2B5EF4-FFF2-40B4-BE49-F238E27FC236}">
                <a16:creationId xmlns:a16="http://schemas.microsoft.com/office/drawing/2014/main" id="{C37F7C75-AAD5-4F20-B5E6-B79E2EE80739}"/>
              </a:ext>
            </a:extLst>
          </p:cNvPr>
          <p:cNvSpPr>
            <a:spLocks xmlns:a="http://schemas.openxmlformats.org/drawingml/2006/main" noGrp="1"/>
          </p:cNvSpPr>
          <p:nvPr/>
        </p:nvSpPr>
        <p:spPr>
          <a:xfrm xmlns:a="http://schemas.openxmlformats.org/drawingml/2006/main">
            <a:off x="5610225" y="2857500"/>
            <a:ext cx="21812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Goal-relevant crop</a:t>
            </a:r>
          </a:p>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Safe control metadata</a:t>
            </a:r>
          </a:p>
        </p:txBody>
      </p:sp>
      <p:sp>
        <p:nvSpPr>
          <p:cNvPr id="106" name="rev-44">
            <a:extLst xmlns:a="http://schemas.openxmlformats.org/drawingml/2006/main">
              <a:ext uri="{FF2B5EF4-FFF2-40B4-BE49-F238E27FC236}">
                <a16:creationId xmlns:a16="http://schemas.microsoft.com/office/drawing/2014/main" id="{CA0415F9-AAEA-40AB-81FA-4C6D09857880}"/>
              </a:ext>
            </a:extLst>
          </p:cNvPr>
          <p:cNvSpPr>
            <a:spLocks xmlns:a="http://schemas.openxmlformats.org/drawingml/2006/main" noGrp="1"/>
          </p:cNvSpPr>
          <p:nvPr/>
        </p:nvSpPr>
        <p:spPr>
          <a:xfrm xmlns:a="http://schemas.openxmlformats.org/drawingml/2006/main">
            <a:off x="9467850" y="2400300"/>
            <a:ext cx="2266950" cy="914400"/>
          </a:xfrm>
          <a:prstGeom xmlns:a="http://schemas.openxmlformats.org/drawingml/2006/main" prst="rect">
            <a:avLst/>
          </a:prstGeom>
          <a:solidFill xmlns:a="http://schemas.openxmlformats.org/drawingml/2006/main">
            <a:srgbClr val="6D4C80"/>
          </a:solidFill>
          <a:ln xmlns:a="http://schemas.openxmlformats.org/drawingml/2006/main" w="9525">
            <a:solidFill>
              <a:srgbClr val="6D4C80"/>
            </a:solidFill>
          </a:ln>
        </p:spPr>
      </p:sp>
      <p:sp>
        <p:nvSpPr>
          <p:cNvPr id="107" name="rev-45">
            <a:extLst xmlns:a="http://schemas.openxmlformats.org/drawingml/2006/main">
              <a:ext uri="{FF2B5EF4-FFF2-40B4-BE49-F238E27FC236}">
                <a16:creationId xmlns:a16="http://schemas.microsoft.com/office/drawing/2014/main" id="{741C7A84-33E1-4755-9989-9EE20FDA29BA}"/>
              </a:ext>
            </a:extLst>
          </p:cNvPr>
          <p:cNvSpPr>
            <a:spLocks xmlns:a="http://schemas.openxmlformats.org/drawingml/2006/main" noGrp="1"/>
          </p:cNvSpPr>
          <p:nvPr/>
        </p:nvSpPr>
        <p:spPr>
          <a:xfrm xmlns:a="http://schemas.openxmlformats.org/drawingml/2006/main">
            <a:off x="9620250" y="2524125"/>
            <a:ext cx="1962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FFFFFF"/>
                </a:solidFill>
                <a:latin typeface="Calibri"/>
                <a:ea typeface="Calibri"/>
                <a:cs typeface="Calibri"/>
              </a:defRPr>
            </a:pPr>
            <a:r>
              <a:rPr sz="1575" b="1">
                <a:solidFill>
                  <a:srgbClr val="FFFFFF"/>
                </a:solidFill>
                <a:latin typeface="Calibri"/>
                <a:ea typeface="Calibri"/>
                <a:cs typeface="Calibri"/>
              </a:rPr>
              <a:t>4  Plan</a:t>
            </a:r>
          </a:p>
        </p:txBody>
      </p:sp>
      <p:sp>
        <p:nvSpPr>
          <p:cNvPr id="108" name="rev-46">
            <a:extLst xmlns:a="http://schemas.openxmlformats.org/drawingml/2006/main">
              <a:ext uri="{FF2B5EF4-FFF2-40B4-BE49-F238E27FC236}">
                <a16:creationId xmlns:a16="http://schemas.microsoft.com/office/drawing/2014/main" id="{1FD6BB9D-0DCC-4A86-9526-0224A3872C48}"/>
              </a:ext>
            </a:extLst>
          </p:cNvPr>
          <p:cNvSpPr>
            <a:spLocks xmlns:a="http://schemas.openxmlformats.org/drawingml/2006/main" noGrp="1"/>
          </p:cNvSpPr>
          <p:nvPr/>
        </p:nvSpPr>
        <p:spPr>
          <a:xfrm xmlns:a="http://schemas.openxmlformats.org/drawingml/2006/main">
            <a:off x="9620250" y="2857500"/>
            <a:ext cx="1962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FFFFFF"/>
                </a:solidFill>
                <a:latin typeface="Calibri"/>
                <a:ea typeface="Calibri"/>
                <a:cs typeface="Calibri"/>
              </a:defRPr>
            </a:pPr>
            <a:r>
              <a:rPr sz="1350">
                <a:solidFill>
                  <a:srgbClr val="FFFFFF"/>
                </a:solidFill>
                <a:latin typeface="Calibri"/>
                <a:ea typeface="Calibri"/>
                <a:cs typeface="Calibri"/>
              </a:rPr>
              <a:t>Rules planner today</a:t>
            </a:r>
          </a:p>
          <a:p xmlns:a="http://schemas.openxmlformats.org/drawingml/2006/main">
            <a:pPr>
              <a:defRPr sz="1350">
                <a:solidFill>
                  <a:srgbClr val="FFFFFF"/>
                </a:solidFill>
                <a:latin typeface="Calibri"/>
                <a:ea typeface="Calibri"/>
                <a:cs typeface="Calibri"/>
              </a:defRPr>
            </a:pPr>
            <a:r>
              <a:rPr sz="1350">
                <a:solidFill>
                  <a:srgbClr val="FFFFFF"/>
                </a:solidFill>
                <a:latin typeface="Calibri"/>
                <a:ea typeface="Calibri"/>
                <a:cs typeface="Calibri"/>
              </a:rPr>
              <a:t>JSON action response</a:t>
            </a:r>
          </a:p>
        </p:txBody>
      </p:sp>
      <p:cxnSp>
        <p:nvCxnSpPr>
          <p:cNvPr id="158" name=""/>
          <p:cNvCxnSpPr>
            <a:stCxn xmlns:a="http://schemas.openxmlformats.org/drawingml/2006/main" id="97" idx="3"/>
            <a:endCxn xmlns:a="http://schemas.openxmlformats.org/drawingml/2006/main" id="100" idx="1"/>
          </p:cNvCxnSpPr>
          <p:nvPr/>
        </p:nvCxnSpPr>
        <p:spPr>
          <a:xfrm xmlns:a="http://schemas.openxmlformats.org/drawingml/2006/main">
            <a:off x="2676525" y="2857500"/>
            <a:ext cx="285750" cy="0"/>
          </a:xfrm>
          <a:prstGeom xmlns:a="http://schemas.openxmlformats.org/drawingml/2006/main" prst="straightConnector1">
            <a:avLst/>
          </a:prstGeom>
          <a:ln xmlns:a="http://schemas.openxmlformats.org/drawingml/2006/main" w="19050">
            <a:solidFill>
              <a:srgbClr val="6D4C80"/>
            </a:solidFill>
            <a:tailEnd type="triangle" w="sm" len="sm"/>
          </a:ln>
        </p:spPr>
      </p:cxnSp>
      <p:cxnSp>
        <p:nvCxnSpPr>
          <p:cNvPr id="159" name=""/>
          <p:cNvCxnSpPr>
            <a:stCxn xmlns:a="http://schemas.openxmlformats.org/drawingml/2006/main" id="100" idx="3"/>
            <a:endCxn xmlns:a="http://schemas.openxmlformats.org/drawingml/2006/main" id="103" idx="1"/>
          </p:cNvCxnSpPr>
          <p:nvPr/>
        </p:nvCxnSpPr>
        <p:spPr>
          <a:xfrm xmlns:a="http://schemas.openxmlformats.org/drawingml/2006/main">
            <a:off x="5172075" y="2857500"/>
            <a:ext cx="285750" cy="0"/>
          </a:xfrm>
          <a:prstGeom xmlns:a="http://schemas.openxmlformats.org/drawingml/2006/main" prst="straightConnector1">
            <a:avLst/>
          </a:prstGeom>
          <a:ln xmlns:a="http://schemas.openxmlformats.org/drawingml/2006/main" w="19050">
            <a:solidFill>
              <a:srgbClr val="6D4C80"/>
            </a:solidFill>
            <a:tailEnd type="triangle" w="sm" len="sm"/>
          </a:ln>
        </p:spPr>
      </p:cxnSp>
      <p:sp>
        <p:nvSpPr>
          <p:cNvPr id="111" name="path-47">
            <a:extLst xmlns:a="http://schemas.openxmlformats.org/drawingml/2006/main">
              <a:ext uri="{FF2B5EF4-FFF2-40B4-BE49-F238E27FC236}">
                <a16:creationId xmlns:a16="http://schemas.microsoft.com/office/drawing/2014/main" id="{46111B48-3F9C-4ECC-B3E9-1410880A802D}"/>
              </a:ext>
            </a:extLst>
          </p:cNvPr>
          <p:cNvSpPr>
            <a:spLocks xmlns:a="http://schemas.openxmlformats.org/drawingml/2006/main" noGrp="1"/>
          </p:cNvSpPr>
          <p:nvPr/>
        </p:nvSpPr>
        <p:spPr>
          <a:xfrm xmlns:a="http://schemas.openxmlformats.org/drawingml/2006/main">
            <a:off x="8791575" y="2143125"/>
            <a:ext cx="0" cy="2438400"/>
          </a:xfrm>
          <a:prstGeom xmlns:a="http://schemas.openxmlformats.org/drawingml/2006/main" prst="line">
            <a:avLst/>
          </a:prstGeom>
          <a:noFill xmlns:a="http://schemas.openxmlformats.org/drawingml/2006/main"/>
          <a:ln xmlns:a="http://schemas.openxmlformats.org/drawingml/2006/main" w="14288">
            <a:solidFill>
              <a:srgbClr val="CBD3DA"/>
            </a:solidFill>
            <a:prstDash val="dash"/>
          </a:ln>
        </p:spPr>
      </p:sp>
      <p:sp>
        <p:nvSpPr>
          <p:cNvPr id="112" name="rev-48">
            <a:extLst xmlns:a="http://schemas.openxmlformats.org/drawingml/2006/main">
              <a:ext uri="{FF2B5EF4-FFF2-40B4-BE49-F238E27FC236}">
                <a16:creationId xmlns:a16="http://schemas.microsoft.com/office/drawing/2014/main" id="{4BC011EA-BF2D-4006-81AF-65BA1B50035D}"/>
              </a:ext>
            </a:extLst>
          </p:cNvPr>
          <p:cNvSpPr>
            <a:spLocks xmlns:a="http://schemas.openxmlformats.org/drawingml/2006/main" noGrp="1"/>
          </p:cNvSpPr>
          <p:nvPr/>
        </p:nvSpPr>
        <p:spPr>
          <a:xfrm xmlns:a="http://schemas.openxmlformats.org/drawingml/2006/main">
            <a:off x="8277225" y="1781175"/>
            <a:ext cx="100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975" b="1">
                <a:solidFill>
                  <a:srgbClr val="53616D"/>
                </a:solidFill>
                <a:latin typeface="Calibri"/>
                <a:ea typeface="Calibri"/>
                <a:cs typeface="Calibri"/>
              </a:defRPr>
            </a:pPr>
            <a:r>
              <a:rPr sz="975" b="1">
                <a:solidFill>
                  <a:srgbClr val="53616D"/>
                </a:solidFill>
                <a:latin typeface="Calibri"/>
                <a:ea typeface="Calibri"/>
                <a:cs typeface="Calibri"/>
              </a:rPr>
              <a:t>NETWORK</a:t>
            </a:r>
          </a:p>
          <a:p xmlns:a="http://schemas.openxmlformats.org/drawingml/2006/main">
            <a:pPr algn="ctr">
              <a:defRPr sz="975" b="1">
                <a:solidFill>
                  <a:srgbClr val="53616D"/>
                </a:solidFill>
                <a:latin typeface="Calibri"/>
                <a:ea typeface="Calibri"/>
                <a:cs typeface="Calibri"/>
              </a:defRPr>
            </a:pPr>
            <a:r>
              <a:rPr sz="975" b="1">
                <a:solidFill>
                  <a:srgbClr val="53616D"/>
                </a:solidFill>
                <a:latin typeface="Calibri"/>
                <a:ea typeface="Calibri"/>
                <a:cs typeface="Calibri"/>
              </a:rPr>
              <a:t>BOUNDARY</a:t>
            </a:r>
          </a:p>
        </p:txBody>
      </p:sp>
      <p:cxnSp>
        <p:nvCxnSpPr>
          <p:cNvPr id="162" name=""/>
          <p:cNvCxnSpPr>
            <a:stCxn xmlns:a="http://schemas.openxmlformats.org/drawingml/2006/main" id="103" idx="3"/>
            <a:endCxn xmlns:a="http://schemas.openxmlformats.org/drawingml/2006/main" id="106" idx="1"/>
          </p:cNvCxnSpPr>
          <p:nvPr/>
        </p:nvCxnSpPr>
        <p:spPr>
          <a:xfrm xmlns:a="http://schemas.openxmlformats.org/drawingml/2006/main">
            <a:off x="7943850" y="2857500"/>
            <a:ext cx="1524000" cy="0"/>
          </a:xfrm>
          <a:prstGeom xmlns:a="http://schemas.openxmlformats.org/drawingml/2006/main" prst="straightConnector1">
            <a:avLst/>
          </a:prstGeom>
          <a:ln xmlns:a="http://schemas.openxmlformats.org/drawingml/2006/main" w="19050">
            <a:solidFill>
              <a:srgbClr val="6D4C80"/>
            </a:solidFill>
            <a:tailEnd type="triangle" w="sm" len="sm"/>
          </a:ln>
        </p:spPr>
      </p:cxnSp>
      <p:sp>
        <p:nvSpPr>
          <p:cNvPr id="114" name="rev-49">
            <a:extLst xmlns:a="http://schemas.openxmlformats.org/drawingml/2006/main">
              <a:ext uri="{FF2B5EF4-FFF2-40B4-BE49-F238E27FC236}">
                <a16:creationId xmlns:a16="http://schemas.microsoft.com/office/drawing/2014/main" id="{F74D9A47-E6E9-4C70-90AA-83ED8229A2EA}"/>
              </a:ext>
            </a:extLst>
          </p:cNvPr>
          <p:cNvSpPr>
            <a:spLocks xmlns:a="http://schemas.openxmlformats.org/drawingml/2006/main" noGrp="1"/>
          </p:cNvSpPr>
          <p:nvPr/>
        </p:nvSpPr>
        <p:spPr>
          <a:xfrm xmlns:a="http://schemas.openxmlformats.org/drawingml/2006/main">
            <a:off x="8134350" y="2362200"/>
            <a:ext cx="1228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200">
                <a:solidFill>
                  <a:srgbClr val="6D4C80"/>
                </a:solidFill>
                <a:latin typeface="Calibri"/>
                <a:ea typeface="Calibri"/>
                <a:cs typeface="Calibri"/>
              </a:defRPr>
            </a:pPr>
            <a:r>
              <a:rPr sz="1200">
                <a:solidFill>
                  <a:srgbClr val="6D4C80"/>
                </a:solidFill>
                <a:latin typeface="Calibri"/>
                <a:ea typeface="Calibri"/>
                <a:cs typeface="Calibri"/>
              </a:rPr>
              <a:t>Sanitized</a:t>
            </a:r>
          </a:p>
          <a:p xmlns:a="http://schemas.openxmlformats.org/drawingml/2006/main">
            <a:pPr algn="ctr">
              <a:defRPr sz="1200">
                <a:solidFill>
                  <a:srgbClr val="6D4C80"/>
                </a:solidFill>
                <a:latin typeface="Calibri"/>
                <a:ea typeface="Calibri"/>
                <a:cs typeface="Calibri"/>
              </a:defRPr>
            </a:pPr>
            <a:r>
              <a:rPr sz="1200">
                <a:solidFill>
                  <a:srgbClr val="6D4C80"/>
                </a:solidFill>
                <a:latin typeface="Calibri"/>
                <a:ea typeface="Calibri"/>
                <a:cs typeface="Calibri"/>
              </a:rPr>
              <a:t>request</a:t>
            </a:r>
          </a:p>
        </p:txBody>
      </p:sp>
      <p:sp>
        <p:nvSpPr>
          <p:cNvPr id="115" name="rev-50">
            <a:extLst xmlns:a="http://schemas.openxmlformats.org/drawingml/2006/main">
              <a:ext uri="{FF2B5EF4-FFF2-40B4-BE49-F238E27FC236}">
                <a16:creationId xmlns:a16="http://schemas.microsoft.com/office/drawing/2014/main" id="{6122DE28-5453-4AF3-A352-B30B13786452}"/>
              </a:ext>
            </a:extLst>
          </p:cNvPr>
          <p:cNvSpPr>
            <a:spLocks xmlns:a="http://schemas.openxmlformats.org/drawingml/2006/main" noGrp="1"/>
          </p:cNvSpPr>
          <p:nvPr/>
        </p:nvSpPr>
        <p:spPr>
          <a:xfrm xmlns:a="http://schemas.openxmlformats.org/drawingml/2006/main">
            <a:off x="5457825" y="3629025"/>
            <a:ext cx="2486025" cy="904875"/>
          </a:xfrm>
          <a:prstGeom xmlns:a="http://schemas.openxmlformats.org/drawingml/2006/main" prst="rect">
            <a:avLst/>
          </a:prstGeom>
          <a:solidFill xmlns:a="http://schemas.openxmlformats.org/drawingml/2006/main">
            <a:srgbClr val="FFFFFF"/>
          </a:solidFill>
          <a:ln xmlns:a="http://schemas.openxmlformats.org/drawingml/2006/main" w="9525">
            <a:solidFill>
              <a:srgbClr val="6D4C80"/>
            </a:solidFill>
          </a:ln>
        </p:spPr>
      </p:sp>
      <p:sp>
        <p:nvSpPr>
          <p:cNvPr id="116" name="rev-51">
            <a:extLst xmlns:a="http://schemas.openxmlformats.org/drawingml/2006/main">
              <a:ext uri="{FF2B5EF4-FFF2-40B4-BE49-F238E27FC236}">
                <a16:creationId xmlns:a16="http://schemas.microsoft.com/office/drawing/2014/main" id="{602F99D3-05BB-4B76-8572-13630192BAC9}"/>
              </a:ext>
            </a:extLst>
          </p:cNvPr>
          <p:cNvSpPr>
            <a:spLocks xmlns:a="http://schemas.openxmlformats.org/drawingml/2006/main" noGrp="1"/>
          </p:cNvSpPr>
          <p:nvPr/>
        </p:nvSpPr>
        <p:spPr>
          <a:xfrm xmlns:a="http://schemas.openxmlformats.org/drawingml/2006/main">
            <a:off x="5610225" y="3752850"/>
            <a:ext cx="21812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6D4C80"/>
                </a:solidFill>
                <a:latin typeface="Calibri"/>
                <a:ea typeface="Calibri"/>
                <a:cs typeface="Calibri"/>
              </a:defRPr>
            </a:pPr>
            <a:r>
              <a:rPr sz="1575" b="1">
                <a:solidFill>
                  <a:srgbClr val="6D4C80"/>
                </a:solidFill>
                <a:latin typeface="Calibri"/>
                <a:ea typeface="Calibri"/>
                <a:cs typeface="Calibri"/>
              </a:rPr>
              <a:t>5  Validate + execute</a:t>
            </a:r>
          </a:p>
        </p:txBody>
      </p:sp>
      <p:sp>
        <p:nvSpPr>
          <p:cNvPr id="117" name="rev-52">
            <a:extLst xmlns:a="http://schemas.openxmlformats.org/drawingml/2006/main">
              <a:ext uri="{FF2B5EF4-FFF2-40B4-BE49-F238E27FC236}">
                <a16:creationId xmlns:a16="http://schemas.microsoft.com/office/drawing/2014/main" id="{DD0B4A41-E5FF-4042-98A5-ED78A1D96A49}"/>
              </a:ext>
            </a:extLst>
          </p:cNvPr>
          <p:cNvSpPr>
            <a:spLocks xmlns:a="http://schemas.openxmlformats.org/drawingml/2006/main" noGrp="1"/>
          </p:cNvSpPr>
          <p:nvPr/>
        </p:nvSpPr>
        <p:spPr>
          <a:xfrm xmlns:a="http://schemas.openxmlformats.org/drawingml/2006/main">
            <a:off x="5610225" y="4086225"/>
            <a:ext cx="21812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Recheck target / origin</a:t>
            </a:r>
          </a:p>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Perform allowed action</a:t>
            </a:r>
          </a:p>
        </p:txBody>
      </p:sp>
      <p:sp>
        <p:nvSpPr>
          <p:cNvPr id="118" name="rev-53">
            <a:extLst xmlns:a="http://schemas.openxmlformats.org/drawingml/2006/main">
              <a:ext uri="{FF2B5EF4-FFF2-40B4-BE49-F238E27FC236}">
                <a16:creationId xmlns:a16="http://schemas.microsoft.com/office/drawing/2014/main" id="{1B7CD890-A7CE-40C4-8925-75A502D831C1}"/>
              </a:ext>
            </a:extLst>
          </p:cNvPr>
          <p:cNvSpPr>
            <a:spLocks xmlns:a="http://schemas.openxmlformats.org/drawingml/2006/main" noGrp="1"/>
          </p:cNvSpPr>
          <p:nvPr/>
        </p:nvSpPr>
        <p:spPr>
          <a:xfrm xmlns:a="http://schemas.openxmlformats.org/drawingml/2006/main">
            <a:off x="2962275" y="3629025"/>
            <a:ext cx="2209800" cy="904875"/>
          </a:xfrm>
          <a:prstGeom xmlns:a="http://schemas.openxmlformats.org/drawingml/2006/main" prst="rect">
            <a:avLst/>
          </a:prstGeom>
          <a:solidFill xmlns:a="http://schemas.openxmlformats.org/drawingml/2006/main">
            <a:srgbClr val="FFFFFF"/>
          </a:solidFill>
          <a:ln xmlns:a="http://schemas.openxmlformats.org/drawingml/2006/main" w="9525">
            <a:solidFill>
              <a:srgbClr val="6D4C80"/>
            </a:solidFill>
          </a:ln>
        </p:spPr>
      </p:sp>
      <p:sp>
        <p:nvSpPr>
          <p:cNvPr id="119" name="rev-54">
            <a:extLst xmlns:a="http://schemas.openxmlformats.org/drawingml/2006/main">
              <a:ext uri="{FF2B5EF4-FFF2-40B4-BE49-F238E27FC236}">
                <a16:creationId xmlns:a16="http://schemas.microsoft.com/office/drawing/2014/main" id="{5641516C-7E1A-427E-BF7C-811BF6B1AD7E}"/>
              </a:ext>
            </a:extLst>
          </p:cNvPr>
          <p:cNvSpPr>
            <a:spLocks xmlns:a="http://schemas.openxmlformats.org/drawingml/2006/main" noGrp="1"/>
          </p:cNvSpPr>
          <p:nvPr/>
        </p:nvSpPr>
        <p:spPr>
          <a:xfrm xmlns:a="http://schemas.openxmlformats.org/drawingml/2006/main">
            <a:off x="3114675" y="3752850"/>
            <a:ext cx="190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6D4C80"/>
                </a:solidFill>
                <a:latin typeface="Calibri"/>
                <a:ea typeface="Calibri"/>
                <a:cs typeface="Calibri"/>
              </a:defRPr>
            </a:pPr>
            <a:r>
              <a:rPr sz="1575" b="1">
                <a:solidFill>
                  <a:srgbClr val="6D4C80"/>
                </a:solidFill>
                <a:latin typeface="Calibri"/>
                <a:ea typeface="Calibri"/>
                <a:cs typeface="Calibri"/>
              </a:rPr>
              <a:t>6  Verify</a:t>
            </a:r>
          </a:p>
        </p:txBody>
      </p:sp>
      <p:sp>
        <p:nvSpPr>
          <p:cNvPr id="120" name="rev-55">
            <a:extLst xmlns:a="http://schemas.openxmlformats.org/drawingml/2006/main">
              <a:ext uri="{FF2B5EF4-FFF2-40B4-BE49-F238E27FC236}">
                <a16:creationId xmlns:a16="http://schemas.microsoft.com/office/drawing/2014/main" id="{EF9E4DFF-2E68-4501-A1BE-350F8CC3D2CA}"/>
              </a:ext>
            </a:extLst>
          </p:cNvPr>
          <p:cNvSpPr>
            <a:spLocks xmlns:a="http://schemas.openxmlformats.org/drawingml/2006/main" noGrp="1"/>
          </p:cNvSpPr>
          <p:nvPr/>
        </p:nvSpPr>
        <p:spPr>
          <a:xfrm xmlns:a="http://schemas.openxmlformats.org/drawingml/2006/main">
            <a:off x="3114675" y="4086225"/>
            <a:ext cx="1905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Confirm expected change</a:t>
            </a:r>
          </a:p>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Observe again if needed</a:t>
            </a:r>
          </a:p>
        </p:txBody>
      </p:sp>
      <p:cxnSp>
        <p:nvCxnSpPr>
          <p:cNvPr id="170" name=""/>
          <p:cNvCxnSpPr>
            <a:stCxn xmlns:a="http://schemas.openxmlformats.org/drawingml/2006/main" id="115" idx="1"/>
            <a:endCxn xmlns:a="http://schemas.openxmlformats.org/drawingml/2006/main" id="118" idx="3"/>
          </p:cNvCxnSpPr>
          <p:nvPr/>
        </p:nvCxnSpPr>
        <p:spPr>
          <a:xfrm xmlns:a="http://schemas.openxmlformats.org/drawingml/2006/main" flipH="1">
            <a:off x="5172075" y="4081463"/>
            <a:ext cx="285750" cy="0"/>
          </a:xfrm>
          <a:prstGeom xmlns:a="http://schemas.openxmlformats.org/drawingml/2006/main" prst="straightConnector1">
            <a:avLst/>
          </a:prstGeom>
          <a:ln xmlns:a="http://schemas.openxmlformats.org/drawingml/2006/main" w="19050">
            <a:solidFill>
              <a:srgbClr val="6D4C80"/>
            </a:solidFill>
            <a:tailEnd type="triangle" w="sm" len="sm"/>
          </a:ln>
        </p:spPr>
      </p:cxnSp>
      <p:sp>
        <p:nvSpPr>
          <p:cNvPr id="122" name="path-56">
            <a:extLst xmlns:a="http://schemas.openxmlformats.org/drawingml/2006/main">
              <a:ext uri="{FF2B5EF4-FFF2-40B4-BE49-F238E27FC236}">
                <a16:creationId xmlns:a16="http://schemas.microsoft.com/office/drawing/2014/main" id="{5124BF9C-123A-46FA-9805-E2DD6221FE61}"/>
              </a:ext>
            </a:extLst>
          </p:cNvPr>
          <p:cNvSpPr>
            <a:spLocks xmlns:a="http://schemas.openxmlformats.org/drawingml/2006/main" noGrp="1"/>
          </p:cNvSpPr>
          <p:nvPr/>
        </p:nvSpPr>
        <p:spPr>
          <a:xfrm xmlns:a="http://schemas.openxmlformats.org/drawingml/2006/main">
            <a:off x="10601325" y="3314700"/>
            <a:ext cx="0" cy="762000"/>
          </a:xfrm>
          <a:prstGeom xmlns:a="http://schemas.openxmlformats.org/drawingml/2006/main" prst="line">
            <a:avLst/>
          </a:prstGeom>
          <a:noFill xmlns:a="http://schemas.openxmlformats.org/drawingml/2006/main"/>
          <a:ln xmlns:a="http://schemas.openxmlformats.org/drawingml/2006/main" w="14288">
            <a:solidFill>
              <a:srgbClr val="6D4C80"/>
            </a:solidFill>
            <a:prstDash val="solid"/>
          </a:ln>
        </p:spPr>
      </p:sp>
      <p:sp>
        <p:nvSpPr>
          <p:cNvPr id="123" name="path-57">
            <a:extLst xmlns:a="http://schemas.openxmlformats.org/drawingml/2006/main">
              <a:ext uri="{FF2B5EF4-FFF2-40B4-BE49-F238E27FC236}">
                <a16:creationId xmlns:a16="http://schemas.microsoft.com/office/drawing/2014/main" id="{BA9B0E36-6452-4EA6-9AB8-F8E20D897514}"/>
              </a:ext>
            </a:extLst>
          </p:cNvPr>
          <p:cNvSpPr>
            <a:spLocks xmlns:a="http://schemas.openxmlformats.org/drawingml/2006/main" noGrp="1"/>
          </p:cNvSpPr>
          <p:nvPr/>
        </p:nvSpPr>
        <p:spPr>
          <a:xfrm xmlns:a="http://schemas.openxmlformats.org/drawingml/2006/main">
            <a:off x="8115300" y="4076700"/>
            <a:ext cx="2486025" cy="0"/>
          </a:xfrm>
          <a:prstGeom xmlns:a="http://schemas.openxmlformats.org/drawingml/2006/main" prst="line">
            <a:avLst/>
          </a:prstGeom>
          <a:noFill xmlns:a="http://schemas.openxmlformats.org/drawingml/2006/main"/>
          <a:ln xmlns:a="http://schemas.openxmlformats.org/drawingml/2006/main" w="14288">
            <a:solidFill>
              <a:srgbClr val="6D4C80"/>
            </a:solidFill>
            <a:prstDash val="solid"/>
          </a:ln>
        </p:spPr>
      </p:sp>
      <p:sp>
        <p:nvSpPr>
          <p:cNvPr id="124" name="">
            <a:extLst xmlns:a="http://schemas.openxmlformats.org/drawingml/2006/main">
              <a:ext uri="{FF2B5EF4-FFF2-40B4-BE49-F238E27FC236}">
                <a16:creationId xmlns:a16="http://schemas.microsoft.com/office/drawing/2014/main" id="{1707E5B6-4A1E-48AA-95E6-31C33B80AD9F}"/>
              </a:ext>
            </a:extLst>
          </p:cNvPr>
          <p:cNvSpPr>
            <a:spLocks xmlns:a="http://schemas.openxmlformats.org/drawingml/2006/main" noGrp="1"/>
          </p:cNvSpPr>
          <p:nvPr/>
        </p:nvSpPr>
        <p:spPr>
          <a:xfrm xmlns:a="http://schemas.openxmlformats.org/drawingml/2006/main">
            <a:off x="7943850" y="4019550"/>
            <a:ext cx="238125" cy="114300"/>
          </a:xfrm>
          <a:prstGeom xmlns:a="http://schemas.openxmlformats.org/drawingml/2006/main" prst="leftArrow">
            <a:avLst/>
          </a:prstGeom>
          <a:solidFill xmlns:a="http://schemas.openxmlformats.org/drawingml/2006/main">
            <a:srgbClr val="6D4C80"/>
          </a:solidFill>
          <a:ln xmlns:a="http://schemas.openxmlformats.org/drawingml/2006/main" w="0">
            <a:noFill/>
          </a:ln>
        </p:spPr>
      </p:sp>
      <p:sp>
        <p:nvSpPr>
          <p:cNvPr id="125" name="rev-58">
            <a:extLst xmlns:a="http://schemas.openxmlformats.org/drawingml/2006/main">
              <a:ext uri="{FF2B5EF4-FFF2-40B4-BE49-F238E27FC236}">
                <a16:creationId xmlns:a16="http://schemas.microsoft.com/office/drawing/2014/main" id="{AF3B471A-FF29-41C7-9044-A56F26008098}"/>
              </a:ext>
            </a:extLst>
          </p:cNvPr>
          <p:cNvSpPr>
            <a:spLocks xmlns:a="http://schemas.openxmlformats.org/drawingml/2006/main" noGrp="1"/>
          </p:cNvSpPr>
          <p:nvPr/>
        </p:nvSpPr>
        <p:spPr>
          <a:xfrm xmlns:a="http://schemas.openxmlformats.org/drawingml/2006/main">
            <a:off x="9048750" y="3714750"/>
            <a:ext cx="16573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a:solidFill>
                  <a:srgbClr val="6D4C80"/>
                </a:solidFill>
                <a:latin typeface="Calibri"/>
                <a:ea typeface="Calibri"/>
                <a:cs typeface="Calibri"/>
              </a:defRPr>
            </a:pPr>
            <a:r>
              <a:rPr sz="1200">
                <a:solidFill>
                  <a:srgbClr val="6D4C80"/>
                </a:solidFill>
                <a:latin typeface="Calibri"/>
                <a:ea typeface="Calibri"/>
                <a:cs typeface="Calibri"/>
              </a:rPr>
              <a:t>Returned action</a:t>
            </a:r>
          </a:p>
        </p:txBody>
      </p:sp>
      <p:sp>
        <p:nvSpPr>
          <p:cNvPr id="126" name="path-59">
            <a:extLst xmlns:a="http://schemas.openxmlformats.org/drawingml/2006/main">
              <a:ext uri="{FF2B5EF4-FFF2-40B4-BE49-F238E27FC236}">
                <a16:creationId xmlns:a16="http://schemas.microsoft.com/office/drawing/2014/main" id="{CEEBA813-E07D-4714-8A3D-EEFA4008A61B}"/>
              </a:ext>
            </a:extLst>
          </p:cNvPr>
          <p:cNvSpPr>
            <a:spLocks xmlns:a="http://schemas.openxmlformats.org/drawingml/2006/main" noGrp="1"/>
          </p:cNvSpPr>
          <p:nvPr/>
        </p:nvSpPr>
        <p:spPr>
          <a:xfrm xmlns:a="http://schemas.openxmlformats.org/drawingml/2006/main">
            <a:off x="1638300" y="4076700"/>
            <a:ext cx="1323975" cy="0"/>
          </a:xfrm>
          <a:prstGeom xmlns:a="http://schemas.openxmlformats.org/drawingml/2006/main" prst="line">
            <a:avLst/>
          </a:prstGeom>
          <a:noFill xmlns:a="http://schemas.openxmlformats.org/drawingml/2006/main"/>
          <a:ln xmlns:a="http://schemas.openxmlformats.org/drawingml/2006/main" w="14288">
            <a:solidFill>
              <a:srgbClr val="6D4C80"/>
            </a:solidFill>
            <a:prstDash val="solid"/>
          </a:ln>
        </p:spPr>
      </p:sp>
      <p:sp>
        <p:nvSpPr>
          <p:cNvPr id="127" name="path-60">
            <a:extLst xmlns:a="http://schemas.openxmlformats.org/drawingml/2006/main">
              <a:ext uri="{FF2B5EF4-FFF2-40B4-BE49-F238E27FC236}">
                <a16:creationId xmlns:a16="http://schemas.microsoft.com/office/drawing/2014/main" id="{CE286B12-D270-414B-B988-956729BA164F}"/>
              </a:ext>
            </a:extLst>
          </p:cNvPr>
          <p:cNvSpPr>
            <a:spLocks xmlns:a="http://schemas.openxmlformats.org/drawingml/2006/main" noGrp="1"/>
          </p:cNvSpPr>
          <p:nvPr/>
        </p:nvSpPr>
        <p:spPr>
          <a:xfrm xmlns:a="http://schemas.openxmlformats.org/drawingml/2006/main">
            <a:off x="1638300" y="3314700"/>
            <a:ext cx="0" cy="762000"/>
          </a:xfrm>
          <a:prstGeom xmlns:a="http://schemas.openxmlformats.org/drawingml/2006/main" prst="line">
            <a:avLst/>
          </a:prstGeom>
          <a:noFill xmlns:a="http://schemas.openxmlformats.org/drawingml/2006/main"/>
          <a:ln xmlns:a="http://schemas.openxmlformats.org/drawingml/2006/main" w="14288">
            <a:solidFill>
              <a:srgbClr val="6D4C80"/>
            </a:solidFill>
            <a:prstDash val="solid"/>
          </a:ln>
        </p:spPr>
      </p:sp>
      <p:sp>
        <p:nvSpPr>
          <p:cNvPr id="128" name="">
            <a:extLst xmlns:a="http://schemas.openxmlformats.org/drawingml/2006/main">
              <a:ext uri="{FF2B5EF4-FFF2-40B4-BE49-F238E27FC236}">
                <a16:creationId xmlns:a16="http://schemas.microsoft.com/office/drawing/2014/main" id="{E04F9ED9-538B-45BC-8353-49FFFCD62B9B}"/>
              </a:ext>
            </a:extLst>
          </p:cNvPr>
          <p:cNvSpPr>
            <a:spLocks xmlns:a="http://schemas.openxmlformats.org/drawingml/2006/main" noGrp="1"/>
          </p:cNvSpPr>
          <p:nvPr/>
        </p:nvSpPr>
        <p:spPr>
          <a:xfrm xmlns:a="http://schemas.openxmlformats.org/drawingml/2006/main">
            <a:off x="1581150" y="3305175"/>
            <a:ext cx="114300" cy="209550"/>
          </a:xfrm>
          <a:prstGeom xmlns:a="http://schemas.openxmlformats.org/drawingml/2006/main" prst="upArrow">
            <a:avLst/>
          </a:prstGeom>
          <a:solidFill xmlns:a="http://schemas.openxmlformats.org/drawingml/2006/main">
            <a:srgbClr val="6D4C80"/>
          </a:solidFill>
          <a:ln xmlns:a="http://schemas.openxmlformats.org/drawingml/2006/main" w="0">
            <a:noFill/>
          </a:ln>
        </p:spPr>
      </p:sp>
      <p:sp>
        <p:nvSpPr>
          <p:cNvPr id="129" name="rev-61">
            <a:extLst xmlns:a="http://schemas.openxmlformats.org/drawingml/2006/main">
              <a:ext uri="{FF2B5EF4-FFF2-40B4-BE49-F238E27FC236}">
                <a16:creationId xmlns:a16="http://schemas.microsoft.com/office/drawing/2014/main" id="{74BFB223-63E5-479A-BE6F-E575D081F085}"/>
              </a:ext>
            </a:extLst>
          </p:cNvPr>
          <p:cNvSpPr>
            <a:spLocks xmlns:a="http://schemas.openxmlformats.org/drawingml/2006/main" noGrp="1"/>
          </p:cNvSpPr>
          <p:nvPr/>
        </p:nvSpPr>
        <p:spPr>
          <a:xfrm xmlns:a="http://schemas.openxmlformats.org/drawingml/2006/main">
            <a:off x="733425" y="3695700"/>
            <a:ext cx="1047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a:solidFill>
                  <a:srgbClr val="6D4C80"/>
                </a:solidFill>
                <a:latin typeface="Calibri"/>
                <a:ea typeface="Calibri"/>
                <a:cs typeface="Calibri"/>
              </a:defRPr>
            </a:pPr>
            <a:r>
              <a:rPr sz="1200">
                <a:solidFill>
                  <a:srgbClr val="6D4C80"/>
                </a:solidFill>
                <a:latin typeface="Calibri"/>
                <a:ea typeface="Calibri"/>
                <a:cs typeface="Calibri"/>
              </a:rPr>
              <a:t>Repeat after</a:t>
            </a:r>
          </a:p>
          <a:p xmlns:a="http://schemas.openxmlformats.org/drawingml/2006/main">
            <a:pPr>
              <a:defRPr sz="1200">
                <a:solidFill>
                  <a:srgbClr val="6D4C80"/>
                </a:solidFill>
                <a:latin typeface="Calibri"/>
                <a:ea typeface="Calibri"/>
                <a:cs typeface="Calibri"/>
              </a:defRPr>
            </a:pPr>
            <a:r>
              <a:rPr sz="1200">
                <a:solidFill>
                  <a:srgbClr val="6D4C80"/>
                </a:solidFill>
                <a:latin typeface="Calibri"/>
                <a:ea typeface="Calibri"/>
                <a:cs typeface="Calibri"/>
              </a:rPr>
              <a:t>action</a:t>
            </a:r>
          </a:p>
        </p:txBody>
      </p:sp>
      <p:sp>
        <p:nvSpPr>
          <p:cNvPr id="130" name="rev-62">
            <a:extLst xmlns:a="http://schemas.openxmlformats.org/drawingml/2006/main">
              <a:ext uri="{FF2B5EF4-FFF2-40B4-BE49-F238E27FC236}">
                <a16:creationId xmlns:a16="http://schemas.microsoft.com/office/drawing/2014/main" id="{C4D4ADA4-D450-43FA-AAE9-56BD87B3D9F4}"/>
              </a:ext>
            </a:extLst>
          </p:cNvPr>
          <p:cNvSpPr>
            <a:spLocks xmlns:a="http://schemas.openxmlformats.org/drawingml/2006/main" noGrp="1"/>
          </p:cNvSpPr>
          <p:nvPr/>
        </p:nvSpPr>
        <p:spPr>
          <a:xfrm xmlns:a="http://schemas.openxmlformats.org/drawingml/2006/main">
            <a:off x="457200" y="4953000"/>
            <a:ext cx="5334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6D4C80"/>
                </a:solidFill>
                <a:latin typeface="Calibri"/>
                <a:ea typeface="Calibri"/>
                <a:cs typeface="Calibri"/>
              </a:defRPr>
            </a:pPr>
            <a:r>
              <a:rPr sz="1500" b="1">
                <a:solidFill>
                  <a:srgbClr val="6D4C80"/>
                </a:solidFill>
                <a:latin typeface="Calibri"/>
                <a:ea typeface="Calibri"/>
                <a:cs typeface="Calibri"/>
              </a:rPr>
              <a:t>Demo stage</a:t>
            </a:r>
          </a:p>
        </p:txBody>
      </p:sp>
      <p:sp>
        <p:nvSpPr>
          <p:cNvPr id="131" name="rev-63">
            <a:extLst xmlns:a="http://schemas.openxmlformats.org/drawingml/2006/main">
              <a:ext uri="{FF2B5EF4-FFF2-40B4-BE49-F238E27FC236}">
                <a16:creationId xmlns:a16="http://schemas.microsoft.com/office/drawing/2014/main" id="{578222C6-8530-4D93-AF7A-36356B296EB3}"/>
              </a:ext>
            </a:extLst>
          </p:cNvPr>
          <p:cNvSpPr>
            <a:spLocks xmlns:a="http://schemas.openxmlformats.org/drawingml/2006/main" noGrp="1"/>
          </p:cNvSpPr>
          <p:nvPr/>
        </p:nvSpPr>
        <p:spPr>
          <a:xfrm xmlns:a="http://schemas.openxmlformats.org/drawingml/2006/main">
            <a:off x="457200" y="5334000"/>
            <a:ext cx="53054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a:solidFill>
                  <a:srgbClr val="202B36"/>
                </a:solidFill>
                <a:latin typeface="Calibri"/>
                <a:ea typeface="Calibri"/>
                <a:cs typeface="Calibri"/>
              </a:defRPr>
            </a:pPr>
            <a:r>
              <a:rPr sz="1500">
                <a:solidFill>
                  <a:srgbClr val="202B36"/>
                </a:solidFill>
                <a:latin typeface="Calibri"/>
                <a:ea typeface="Calibri"/>
                <a:cs typeface="Calibri"/>
              </a:rPr>
              <a:t>Chrome MV3 extension + FastAPI rules server</a:t>
            </a:r>
          </a:p>
          <a:p xmlns:a="http://schemas.openxmlformats.org/drawingml/2006/main">
            <a:pPr>
              <a:defRPr sz="1500">
                <a:solidFill>
                  <a:srgbClr val="202B36"/>
                </a:solidFill>
                <a:latin typeface="Calibri"/>
                <a:ea typeface="Calibri"/>
                <a:cs typeface="Calibri"/>
              </a:defRPr>
            </a:pPr>
            <a:r>
              <a:rPr sz="1500">
                <a:solidFill>
                  <a:srgbClr val="202B36"/>
                </a:solidFill>
                <a:latin typeface="Calibri"/>
                <a:ea typeface="Calibri"/>
                <a:cs typeface="Calibri"/>
              </a:rPr>
              <a:t>DOM privacy, goal crop, guarded action and verification</a:t>
            </a:r>
          </a:p>
        </p:txBody>
      </p:sp>
      <p:sp>
        <p:nvSpPr>
          <p:cNvPr id="132" name="rev-64">
            <a:extLst xmlns:a="http://schemas.openxmlformats.org/drawingml/2006/main">
              <a:ext uri="{FF2B5EF4-FFF2-40B4-BE49-F238E27FC236}">
                <a16:creationId xmlns:a16="http://schemas.microsoft.com/office/drawing/2014/main" id="{68F9CD0E-833E-48BB-BE07-628D4346F9E4}"/>
              </a:ext>
            </a:extLst>
          </p:cNvPr>
          <p:cNvSpPr>
            <a:spLocks xmlns:a="http://schemas.openxmlformats.org/drawingml/2006/main" noGrp="1"/>
          </p:cNvSpPr>
          <p:nvPr/>
        </p:nvSpPr>
        <p:spPr>
          <a:xfrm xmlns:a="http://schemas.openxmlformats.org/drawingml/2006/main">
            <a:off x="6276975" y="4953000"/>
            <a:ext cx="54578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6D4C80"/>
                </a:solidFill>
                <a:latin typeface="Calibri"/>
                <a:ea typeface="Calibri"/>
                <a:cs typeface="Calibri"/>
              </a:defRPr>
            </a:pPr>
            <a:r>
              <a:rPr sz="1500" b="1">
                <a:solidFill>
                  <a:srgbClr val="6D4C80"/>
                </a:solidFill>
                <a:latin typeface="Calibri"/>
                <a:ea typeface="Calibri"/>
                <a:cs typeface="Calibri"/>
              </a:rPr>
              <a:t>ONNX Runtime Web: integration scaffold</a:t>
            </a:r>
          </a:p>
        </p:txBody>
      </p:sp>
      <p:sp>
        <p:nvSpPr>
          <p:cNvPr id="133" name="rev-65">
            <a:extLst xmlns:a="http://schemas.openxmlformats.org/drawingml/2006/main">
              <a:ext uri="{FF2B5EF4-FFF2-40B4-BE49-F238E27FC236}">
                <a16:creationId xmlns:a16="http://schemas.microsoft.com/office/drawing/2014/main" id="{C1C339A2-69F5-45CD-B5B5-860FE1FF794A}"/>
              </a:ext>
            </a:extLst>
          </p:cNvPr>
          <p:cNvSpPr>
            <a:spLocks xmlns:a="http://schemas.openxmlformats.org/drawingml/2006/main" noGrp="1"/>
          </p:cNvSpPr>
          <p:nvPr/>
        </p:nvSpPr>
        <p:spPr>
          <a:xfrm xmlns:a="http://schemas.openxmlformats.org/drawingml/2006/main">
            <a:off x="6276975" y="5334000"/>
            <a:ext cx="54578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a:solidFill>
                  <a:srgbClr val="202B36"/>
                </a:solidFill>
                <a:latin typeface="Calibri"/>
                <a:ea typeface="Calibri"/>
                <a:cs typeface="Calibri"/>
              </a:defRPr>
            </a:pPr>
            <a:r>
              <a:rPr sz="1500">
                <a:solidFill>
                  <a:srgbClr val="202B36"/>
                </a:solidFill>
                <a:latin typeface="Calibri"/>
                <a:ea typeface="Calibri"/>
                <a:cs typeface="Calibri"/>
              </a:rPr>
              <a:t>Optional loader and fallback are in place.</a:t>
            </a:r>
          </a:p>
          <a:p xmlns:a="http://schemas.openxmlformats.org/drawingml/2006/main">
            <a:pPr>
              <a:defRPr sz="1500">
                <a:solidFill>
                  <a:srgbClr val="202B36"/>
                </a:solidFill>
                <a:latin typeface="Calibri"/>
                <a:ea typeface="Calibri"/>
                <a:cs typeface="Calibri"/>
              </a:defRPr>
            </a:pPr>
            <a:r>
              <a:rPr sz="1500">
                <a:solidFill>
                  <a:srgbClr val="202B36"/>
                </a:solidFill>
                <a:latin typeface="Calibri"/>
                <a:ea typeface="Calibri"/>
                <a:cs typeface="Calibri"/>
              </a:rPr>
              <a:t>Real runtime assets + trained detector are pending.</a:t>
            </a:r>
          </a:p>
        </p:txBody>
      </p:sp>
      <p:sp>
        <p:nvSpPr>
          <p:cNvPr id="134" name="rev-66">
            <a:extLst xmlns:a="http://schemas.openxmlformats.org/drawingml/2006/main">
              <a:ext uri="{FF2B5EF4-FFF2-40B4-BE49-F238E27FC236}">
                <a16:creationId xmlns:a16="http://schemas.microsoft.com/office/drawing/2014/main" id="{26558155-4FF8-4568-83A4-6E09C0F1B7B9}"/>
              </a:ext>
            </a:extLst>
          </p:cNvPr>
          <p:cNvSpPr>
            <a:spLocks xmlns:a="http://schemas.openxmlformats.org/drawingml/2006/main" noGrp="1"/>
          </p:cNvSpPr>
          <p:nvPr/>
        </p:nvSpPr>
        <p:spPr>
          <a:xfrm xmlns:a="http://schemas.openxmlformats.org/drawingml/2006/main">
            <a:off x="457200" y="6162675"/>
            <a:ext cx="11277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125">
                <a:solidFill>
                  <a:srgbClr val="53616D"/>
                </a:solidFill>
                <a:latin typeface="Calibri"/>
                <a:ea typeface="Calibri"/>
                <a:cs typeface="Calibri"/>
              </a:defRPr>
            </a:pPr>
            <a:r>
              <a:rPr sz="1125">
                <a:solidFill>
                  <a:srgbClr val="53616D"/>
                </a:solidFill>
                <a:latin typeface="Calibri"/>
                <a:ea typeface="Calibri"/>
                <a:cs typeface="Calibri"/>
              </a:rPr>
              <a:t>Target visual path: ONNX Runtime Web with WebGPU / WASM. Open-weight VLM and Firefox validation are next milestones.</a:t>
            </a:r>
          </a:p>
        </p:txBody>
      </p:sp>
    </p:spTree>
    <p:extLst>
      <p:ext uri="{BB962C8B-B14F-4D97-AF65-F5344CB8AC3E}">
        <p14:creationId xmlns:p14="http://schemas.microsoft.com/office/powerpoint/2010/main" val="1671987697"/>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D1FB72EA-7C9A-46DF-BC21-87B65ED6DD70}"/>
              </a:ext>
            </a:extLst>
          </p:cNvPr>
          <p:cNvSpPr>
            <a:spLocks xmlns:a="http://schemas.openxmlformats.org/drawingml/2006/main" noGrp="1"/>
          </p:cNvSpPr>
          <p:nvPr/>
        </p:nvSpPr>
        <p:spPr>
          <a:xfrm xmlns:a="http://schemas.openxmlformats.org/drawingml/2006/main">
            <a:off x="384048" y="201168"/>
            <a:ext cx="1371600" cy="530352"/>
          </a:xfrm>
          <a:prstGeom xmlns:a="http://schemas.openxmlformats.org/drawingml/2006/main" prst="ellipse">
            <a:avLst/>
          </a:prstGeom>
          <a:solidFill xmlns:a="http://schemas.openxmlformats.org/drawingml/2006/main">
            <a:srgbClr val="E3F1F2"/>
          </a:solidFill>
          <a:ln xmlns:a="http://schemas.openxmlformats.org/drawingml/2006/main" w="19050">
            <a:solidFill>
              <a:srgbClr val="0E7C86"/>
            </a:solidFill>
            <a:prstDash val="solid"/>
          </a:ln>
          <a:effectLst xmlns:a="http://schemas.openxmlformats.org/drawingml/2006/main">
            <a:outerShdw blurRad="76200" dist="12700" dir="5400000" algn="bl" rotWithShape="0">
              <a:srgbClr val="9FB0C0">
                <a:alpha val="28000"/>
              </a:srgbClr>
            </a:outerShdw>
          </a:effectLst>
        </p:spPr>
      </p:sp>
      <p:sp>
        <p:nvSpPr>
          <p:cNvPr id="3" name="Text 1">
            <a:extLst xmlns:a="http://schemas.openxmlformats.org/drawingml/2006/main">
              <a:ext uri="{FF2B5EF4-FFF2-40B4-BE49-F238E27FC236}">
                <a16:creationId xmlns:a16="http://schemas.microsoft.com/office/drawing/2014/main" id="{82CFFA72-FA87-42A9-A22D-94C5587F83FF}"/>
              </a:ext>
            </a:extLst>
          </p:cNvPr>
          <p:cNvSpPr>
            <a:spLocks xmlns:a="http://schemas.openxmlformats.org/drawingml/2006/main" noGrp="1"/>
          </p:cNvSpPr>
          <p:nvPr/>
        </p:nvSpPr>
        <p:spPr>
          <a:xfrm xmlns:a="http://schemas.openxmlformats.org/drawingml/2006/main">
            <a:off x="384048" y="320040"/>
            <a:ext cx="1371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0A5F67"/>
                </a:solidFill>
                <a:latin typeface="Calibri"/>
                <a:ea typeface="Calibri"/>
                <a:cs typeface="Calibri"/>
              </a:rPr>
              <a:t>NEXORA</a:t>
            </a:r>
            <a:endParaRPr sz="1250"/>
          </a:p>
        </p:txBody>
      </p:sp>
      <p:sp>
        <p:nvSpPr>
          <p:cNvPr id="4" name="Text 2">
            <a:extLst xmlns:a="http://schemas.openxmlformats.org/drawingml/2006/main">
              <a:ext uri="{FF2B5EF4-FFF2-40B4-BE49-F238E27FC236}">
                <a16:creationId xmlns:a16="http://schemas.microsoft.com/office/drawing/2014/main" id="{15AA84DC-4A95-4E81-BD55-4F0AE4E457F5}"/>
              </a:ext>
            </a:extLst>
          </p:cNvPr>
          <p:cNvSpPr>
            <a:spLocks xmlns:a="http://schemas.openxmlformats.org/drawingml/2006/main" noGrp="1"/>
          </p:cNvSpPr>
          <p:nvPr/>
        </p:nvSpPr>
        <p:spPr>
          <a:xfrm xmlns:a="http://schemas.openxmlformats.org/drawingml/2006/main">
            <a:off x="2011680" y="201168"/>
            <a:ext cx="786384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1F4E79"/>
                </a:solidFill>
                <a:latin typeface="Cambria"/>
                <a:ea typeface="Cambria"/>
                <a:cs typeface="Cambria"/>
              </a:rPr>
              <a:t>FEASIBILITY AND VIABILITY</a:t>
            </a:r>
            <a:endParaRPr sz="2800"/>
          </a:p>
        </p:txBody>
      </p:sp>
      <p:pic>
        <p:nvPicPr>
          <p:cNvPr id="121" name="Image 0"/>
          <p:cNvPicPr>
            <a:picLocks xmlns:a="http://schemas.openxmlformats.org/drawingml/2006/main" noChangeAspect="1"/>
          </p:cNvPicPr>
          <p:nvPr/>
        </p:nvPicPr>
        <p:blipFill>
          <a:blip xmlns:r="http://schemas.openxmlformats.org/officeDocument/2006/relationships" xmlns:a="http://schemas.openxmlformats.org/drawingml/2006/main" r:embed="Reba551bc525646fe"/>
          <a:stretch xmlns:a="http://schemas.openxmlformats.org/drawingml/2006/main">
            <a:fillRect l="0" t="0" r="0" b="0"/>
          </a:stretch>
        </p:blipFill>
        <p:spPr>
          <a:xfrm xmlns:a="http://schemas.openxmlformats.org/drawingml/2006/main">
            <a:off x="10287000" y="164592"/>
            <a:ext cx="1554480" cy="731520"/>
          </a:xfrm>
          <a:prstGeom xmlns:a="http://schemas.openxmlformats.org/drawingml/2006/main" prst="rect">
            <a:avLst/>
          </a:prstGeom>
          <a:effectLst xmlns:a="http://schemas.openxmlformats.org/drawingml/2006/main">
            <a:outerShdw blurRad="76200" dist="12700" dir="5400000" algn="bl" rotWithShape="0">
              <a:srgbClr val="9FB0C0">
                <a:alpha val="28000"/>
              </a:srgbClr>
            </a:outerShdw>
          </a:effectLst>
        </p:spPr>
      </p:pic>
      <p:sp>
        <p:nvSpPr>
          <p:cNvPr id="7" name="Shape 4">
            <a:extLst xmlns:a="http://schemas.openxmlformats.org/drawingml/2006/main">
              <a:ext uri="{FF2B5EF4-FFF2-40B4-BE49-F238E27FC236}">
                <a16:creationId xmlns:a16="http://schemas.microsoft.com/office/drawing/2014/main" id="{9C7C90C2-416D-4945-A2F7-5C52F30D2162}"/>
              </a:ext>
            </a:extLst>
          </p:cNvPr>
          <p:cNvSpPr>
            <a:spLocks xmlns:a="http://schemas.openxmlformats.org/drawingml/2006/main" noGrp="1"/>
          </p:cNvSpPr>
          <p:nvPr/>
        </p:nvSpPr>
        <p:spPr>
          <a:xfrm xmlns:a="http://schemas.openxmlformats.org/drawingml/2006/main">
            <a:off x="0" y="6446520"/>
            <a:ext cx="12191695" cy="411480"/>
          </a:xfrm>
          <a:prstGeom xmlns:a="http://schemas.openxmlformats.org/drawingml/2006/main" prst="rect">
            <a:avLst/>
          </a:prstGeom>
          <a:solidFill xmlns:a="http://schemas.openxmlformats.org/drawingml/2006/main">
            <a:srgbClr val="0071C1"/>
          </a:solidFill>
        </p:spPr>
      </p:sp>
      <p:sp>
        <p:nvSpPr>
          <p:cNvPr id="9" name="Text 6">
            <a:extLst xmlns:a="http://schemas.openxmlformats.org/drawingml/2006/main">
              <a:ext uri="{FF2B5EF4-FFF2-40B4-BE49-F238E27FC236}">
                <a16:creationId xmlns:a16="http://schemas.microsoft.com/office/drawing/2014/main" id="{F675C74C-50D8-4EF7-B763-59704AE2C417}"/>
              </a:ext>
            </a:extLst>
          </p:cNvPr>
          <p:cNvSpPr>
            <a:spLocks xmlns:a="http://schemas.openxmlformats.org/drawingml/2006/main" noGrp="1"/>
          </p:cNvSpPr>
          <p:nvPr/>
        </p:nvSpPr>
        <p:spPr>
          <a:xfrm xmlns:a="http://schemas.openxmlformats.org/drawingml/2006/main">
            <a:off x="11338560" y="6537960"/>
            <a:ext cx="457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FFFFFF"/>
                </a:solidFill>
                <a:latin typeface="Calibri"/>
                <a:ea typeface="Calibri"/>
                <a:cs typeface="Calibri"/>
              </a:rPr>
              <a:t>4</a:t>
            </a:r>
            <a:endParaRPr sz="1250"/>
          </a:p>
        </p:txBody>
      </p:sp>
      <p:sp>
        <p:nvSpPr>
          <p:cNvPr id="98" name="rev-67">
            <a:extLst xmlns:a="http://schemas.openxmlformats.org/drawingml/2006/main">
              <a:ext uri="{FF2B5EF4-FFF2-40B4-BE49-F238E27FC236}">
                <a16:creationId xmlns:a16="http://schemas.microsoft.com/office/drawing/2014/main" id="{C6247E5C-4CA5-48E3-9C7C-BAEDB72D0407}"/>
              </a:ext>
            </a:extLst>
          </p:cNvPr>
          <p:cNvSpPr>
            <a:spLocks xmlns:a="http://schemas.openxmlformats.org/drawingml/2006/main" noGrp="1"/>
          </p:cNvSpPr>
          <p:nvPr/>
        </p:nvSpPr>
        <p:spPr>
          <a:xfrm xmlns:a="http://schemas.openxmlformats.org/drawingml/2006/main">
            <a:off x="457200" y="981075"/>
            <a:ext cx="11049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936514"/>
                </a:solidFill>
                <a:latin typeface="Calibri"/>
                <a:ea typeface="Calibri"/>
                <a:cs typeface="Calibri"/>
              </a:defRPr>
            </a:pPr>
            <a:r>
              <a:rPr sz="1500" b="1">
                <a:solidFill>
                  <a:srgbClr val="936514"/>
                </a:solidFill>
                <a:latin typeface="Calibri"/>
                <a:ea typeface="Calibri"/>
                <a:cs typeface="Calibri"/>
              </a:rPr>
              <a:t>Analysis of feasibility</a:t>
            </a:r>
          </a:p>
        </p:txBody>
      </p:sp>
      <p:sp>
        <p:nvSpPr>
          <p:cNvPr id="99" name="rev-68">
            <a:extLst xmlns:a="http://schemas.openxmlformats.org/drawingml/2006/main">
              <a:ext uri="{FF2B5EF4-FFF2-40B4-BE49-F238E27FC236}">
                <a16:creationId xmlns:a16="http://schemas.microsoft.com/office/drawing/2014/main" id="{36A8D00D-9FDA-4BA1-AD4A-C003EC90DF60}"/>
              </a:ext>
            </a:extLst>
          </p:cNvPr>
          <p:cNvSpPr>
            <a:spLocks xmlns:a="http://schemas.openxmlformats.org/drawingml/2006/main" noGrp="1"/>
          </p:cNvSpPr>
          <p:nvPr/>
        </p:nvSpPr>
        <p:spPr>
          <a:xfrm xmlns:a="http://schemas.openxmlformats.org/drawingml/2006/main">
            <a:off x="457200" y="1333500"/>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1">
                <a:solidFill>
                  <a:srgbClr val="202B36"/>
                </a:solidFill>
                <a:latin typeface="Calibri"/>
                <a:ea typeface="Calibri"/>
                <a:cs typeface="Calibri"/>
              </a:defRPr>
            </a:pPr>
            <a:r>
              <a:rPr sz="1650" b="1">
                <a:solidFill>
                  <a:srgbClr val="202B36"/>
                </a:solidFill>
                <a:latin typeface="Calibri"/>
                <a:ea typeface="Calibri"/>
                <a:cs typeface="Calibri"/>
              </a:rPr>
              <a:t>48 fresh synthetic pages / 4 portal families / 408 sensitive annotations</a:t>
            </a:r>
          </a:p>
        </p:txBody>
      </p:sp>
      <p:graphicFrame>
        <p:nvGraphicFramePr>
          <p:cNvPr id="126" name=""/>
          <p:cNvGraphicFramePr/>
          <p:nvPr/>
        </p:nvGraphicFramePr>
        <p:xfrm>
          <a:off xmlns:a="http://schemas.openxmlformats.org/drawingml/2006/main" x="457200" y="1743075"/>
          <a:ext xmlns:a="http://schemas.openxmlformats.org/drawingml/2006/main" cx="11277600" cy="2114550"/>
        </p:xfrm>
        <a:graphic xmlns:a="http://schemas.openxmlformats.org/drawingml/2006/main">
          <a:graphicData uri="http://schemas.openxmlformats.org/drawingml/2006/table">
            <a:tbl>
              <a:tblPr/>
              <a:tblGrid>
                <a:gridCol w="6191250"/>
                <a:gridCol w="2543175"/>
                <a:gridCol w="2543175"/>
              </a:tblGrid>
              <a:tr h="352425">
                <a:tc>
                  <a:txBody>
                    <a:bodyPr lIns="76200" tIns="57150" rIns="76200" bIns="57150">
                      <a:noAutofit/>
                    </a:bodyPr>
                    <a:lstStyle/>
                    <a:p>
                      <a:pPr algn="l"/>
                      <a:r>
                        <a:rPr sz="1388" b="1">
                          <a:solidFill>
                            <a:srgbClr val="FFFFFF"/>
                          </a:solidFill>
                          <a:latin typeface="Calibri"/>
                          <a:ea typeface="Calibri"/>
                          <a:cs typeface="Calibri"/>
                        </a:rPr>
                        <a:t>Criterion and measure</a:t>
                      </a:r>
                    </a:p>
                  </a:txBody>
                  <a:tcPr marL="91440" marR="91440" marT="45720" marB="45720" anchor="ctr">
                    <a:solidFill>
                      <a:srgbClr val="936514"/>
                    </a:solidFill>
                  </a:tcPr>
                </a:tc>
                <a:tc>
                  <a:txBody>
                    <a:bodyPr lIns="76200" tIns="57150" rIns="76200" bIns="57150">
                      <a:noAutofit/>
                    </a:bodyPr>
                    <a:lstStyle/>
                    <a:p>
                      <a:pPr algn="ctr"/>
                      <a:r>
                        <a:rPr sz="1388" b="1">
                          <a:solidFill>
                            <a:srgbClr val="FFFFFF"/>
                          </a:solidFill>
                          <a:latin typeface="Calibri"/>
                          <a:ea typeface="Calibri"/>
                          <a:cs typeface="Calibri"/>
                        </a:rPr>
                        <a:t>Always-on</a:t>
                      </a:r>
                    </a:p>
                  </a:txBody>
                  <a:tcPr marL="91440" marR="91440" marT="45720" marB="45720" anchor="ctr">
                    <a:solidFill>
                      <a:srgbClr val="936514"/>
                    </a:solidFill>
                  </a:tcPr>
                </a:tc>
                <a:tc>
                  <a:txBody>
                    <a:bodyPr lIns="76200" tIns="57150" rIns="76200" bIns="57150">
                      <a:noAutofit/>
                    </a:bodyPr>
                    <a:lstStyle/>
                    <a:p>
                      <a:pPr algn="ctr"/>
                      <a:r>
                        <a:rPr sz="1388" b="1">
                          <a:solidFill>
                            <a:srgbClr val="FFFFFF"/>
                          </a:solidFill>
                          <a:latin typeface="Calibri"/>
                          <a:ea typeface="Calibri"/>
                          <a:cs typeface="Calibri"/>
                        </a:rPr>
                        <a:t>Selective</a:t>
                      </a:r>
                    </a:p>
                  </a:txBody>
                  <a:tcPr marL="91440" marR="91440" marT="45720" marB="45720" anchor="ctr">
                    <a:solidFill>
                      <a:srgbClr val="936514"/>
                    </a:solidFill>
                  </a:tcPr>
                </a:tc>
              </a:tr>
              <a:tr h="352425">
                <a:tc>
                  <a:txBody>
                    <a:bodyPr lIns="76200" tIns="57150" rIns="76200" bIns="57150">
                      <a:noAutofit/>
                    </a:bodyPr>
                    <a:lstStyle/>
                    <a:p>
                      <a:pPr algn="l"/>
                      <a:r>
                        <a:rPr sz="1388" b="0">
                          <a:solidFill>
                            <a:srgbClr val="202B36"/>
                          </a:solidFill>
                          <a:latin typeface="Calibri"/>
                          <a:ea typeface="Calibri"/>
                          <a:cs typeface="Calibri"/>
                        </a:rPr>
                        <a:t>Visual context (25%)  UI F1 @ IoU ≥ 0.5</a:t>
                      </a:r>
                    </a:p>
                  </a:txBody>
                  <a:tcPr marL="91440" marR="91440" marT="45720" marB="45720" anchor="ctr">
                    <a:solidFill>
                      <a:srgbClr val="FFFFFF"/>
                    </a:solidFill>
                  </a:tcPr>
                </a:tc>
                <a:tc>
                  <a:txBody>
                    <a:bodyPr lIns="76200" tIns="57150" rIns="76200" bIns="57150">
                      <a:noAutofit/>
                    </a:bodyPr>
                    <a:lstStyle/>
                    <a:p>
                      <a:pPr algn="ctr"/>
                      <a:r>
                        <a:rPr sz="1388" b="0">
                          <a:solidFill>
                            <a:srgbClr val="202B36"/>
                          </a:solidFill>
                          <a:latin typeface="Calibri"/>
                          <a:ea typeface="Calibri"/>
                          <a:cs typeface="Calibri"/>
                        </a:rPr>
                        <a:t>0.924</a:t>
                      </a:r>
                    </a:p>
                  </a:txBody>
                  <a:tcPr marL="91440" marR="91440" marT="45720" marB="45720" anchor="ctr">
                    <a:solidFill>
                      <a:srgbClr val="FFFFFF"/>
                    </a:solidFill>
                  </a:tcPr>
                </a:tc>
                <a:tc>
                  <a:txBody>
                    <a:bodyPr lIns="76200" tIns="57150" rIns="76200" bIns="57150">
                      <a:noAutofit/>
                    </a:bodyPr>
                    <a:lstStyle/>
                    <a:p>
                      <a:pPr algn="ctr"/>
                      <a:r>
                        <a:rPr sz="1388" b="1">
                          <a:solidFill>
                            <a:srgbClr val="202B36"/>
                          </a:solidFill>
                          <a:latin typeface="Calibri"/>
                          <a:ea typeface="Calibri"/>
                          <a:cs typeface="Calibri"/>
                        </a:rPr>
                        <a:t>0.924</a:t>
                      </a:r>
                    </a:p>
                  </a:txBody>
                  <a:tcPr marL="91440" marR="91440" marT="45720" marB="45720" anchor="ctr">
                    <a:solidFill>
                      <a:srgbClr val="F8F1E3"/>
                    </a:solidFill>
                  </a:tcPr>
                </a:tc>
              </a:tr>
              <a:tr h="352425">
                <a:tc>
                  <a:txBody>
                    <a:bodyPr lIns="76200" tIns="57150" rIns="76200" bIns="57150">
                      <a:noAutofit/>
                    </a:bodyPr>
                    <a:lstStyle/>
                    <a:p>
                      <a:pPr algn="l"/>
                      <a:r>
                        <a:rPr sz="1388" b="0">
                          <a:solidFill>
                            <a:srgbClr val="202B36"/>
                          </a:solidFill>
                          <a:latin typeface="Calibri"/>
                          <a:ea typeface="Calibri"/>
                          <a:cs typeface="Calibri"/>
                        </a:rPr>
                        <a:t>PII detection (20%)  precision / recall</a:t>
                      </a:r>
                    </a:p>
                  </a:txBody>
                  <a:tcPr marL="91440" marR="91440" marT="45720" marB="45720" anchor="ctr">
                    <a:solidFill>
                      <a:srgbClr val="FFFFFF"/>
                    </a:solidFill>
                  </a:tcPr>
                </a:tc>
                <a:tc>
                  <a:txBody>
                    <a:bodyPr lIns="76200" tIns="57150" rIns="76200" bIns="57150">
                      <a:noAutofit/>
                    </a:bodyPr>
                    <a:lstStyle/>
                    <a:p>
                      <a:pPr algn="ctr"/>
                      <a:r>
                        <a:rPr sz="1388" b="0">
                          <a:solidFill>
                            <a:srgbClr val="202B36"/>
                          </a:solidFill>
                          <a:latin typeface="Calibri"/>
                          <a:ea typeface="Calibri"/>
                          <a:cs typeface="Calibri"/>
                        </a:rPr>
                        <a:t>0.937 / 0.955</a:t>
                      </a:r>
                    </a:p>
                  </a:txBody>
                  <a:tcPr marL="91440" marR="91440" marT="45720" marB="45720" anchor="ctr">
                    <a:solidFill>
                      <a:srgbClr val="FFFFFF"/>
                    </a:solidFill>
                  </a:tcPr>
                </a:tc>
                <a:tc>
                  <a:txBody>
                    <a:bodyPr lIns="76200" tIns="57150" rIns="76200" bIns="57150">
                      <a:noAutofit/>
                    </a:bodyPr>
                    <a:lstStyle/>
                    <a:p>
                      <a:pPr algn="ctr"/>
                      <a:r>
                        <a:rPr sz="1388" b="1">
                          <a:solidFill>
                            <a:srgbClr val="202B36"/>
                          </a:solidFill>
                          <a:latin typeface="Calibri"/>
                          <a:ea typeface="Calibri"/>
                          <a:cs typeface="Calibri"/>
                        </a:rPr>
                        <a:t>1.000 / 0.958</a:t>
                      </a:r>
                    </a:p>
                  </a:txBody>
                  <a:tcPr marL="91440" marR="91440" marT="45720" marB="45720" anchor="ctr">
                    <a:solidFill>
                      <a:srgbClr val="F8F1E3"/>
                    </a:solidFill>
                  </a:tcPr>
                </a:tc>
              </a:tr>
              <a:tr h="352425">
                <a:tc>
                  <a:txBody>
                    <a:bodyPr lIns="76200" tIns="57150" rIns="76200" bIns="57150">
                      <a:noAutofit/>
                    </a:bodyPr>
                    <a:lstStyle/>
                    <a:p>
                      <a:pPr algn="l"/>
                      <a:r>
                        <a:rPr sz="1388" b="0">
                          <a:solidFill>
                            <a:srgbClr val="202B36"/>
                          </a:solidFill>
                          <a:latin typeface="Calibri"/>
                          <a:ea typeface="Calibri"/>
                          <a:cs typeface="Calibri"/>
                        </a:rPr>
                        <a:t>Redaction (20%)  pixel precision / recall</a:t>
                      </a:r>
                    </a:p>
                  </a:txBody>
                  <a:tcPr marL="91440" marR="91440" marT="45720" marB="45720" anchor="ctr">
                    <a:solidFill>
                      <a:srgbClr val="FFFFFF"/>
                    </a:solidFill>
                  </a:tcPr>
                </a:tc>
                <a:tc>
                  <a:txBody>
                    <a:bodyPr lIns="76200" tIns="57150" rIns="76200" bIns="57150">
                      <a:noAutofit/>
                    </a:bodyPr>
                    <a:lstStyle/>
                    <a:p>
                      <a:pPr algn="ctr"/>
                      <a:r>
                        <a:rPr sz="1388" b="0">
                          <a:solidFill>
                            <a:srgbClr val="202B36"/>
                          </a:solidFill>
                          <a:latin typeface="Calibri"/>
                          <a:ea typeface="Calibri"/>
                          <a:cs typeface="Calibri"/>
                        </a:rPr>
                        <a:t>0.643 / 0.977</a:t>
                      </a:r>
                    </a:p>
                  </a:txBody>
                  <a:tcPr marL="91440" marR="91440" marT="45720" marB="45720" anchor="ctr">
                    <a:solidFill>
                      <a:srgbClr val="FFFFFF"/>
                    </a:solidFill>
                  </a:tcPr>
                </a:tc>
                <a:tc>
                  <a:txBody>
                    <a:bodyPr lIns="76200" tIns="57150" rIns="76200" bIns="57150">
                      <a:noAutofit/>
                    </a:bodyPr>
                    <a:lstStyle/>
                    <a:p>
                      <a:pPr algn="ctr"/>
                      <a:r>
                        <a:rPr sz="1388" b="1">
                          <a:solidFill>
                            <a:srgbClr val="202B36"/>
                          </a:solidFill>
                          <a:latin typeface="Calibri"/>
                          <a:ea typeface="Calibri"/>
                          <a:cs typeface="Calibri"/>
                        </a:rPr>
                        <a:t>1.000 / 0.973</a:t>
                      </a:r>
                    </a:p>
                  </a:txBody>
                  <a:tcPr marL="91440" marR="91440" marT="45720" marB="45720" anchor="ctr">
                    <a:solidFill>
                      <a:srgbClr val="F8F1E3"/>
                    </a:solidFill>
                  </a:tcPr>
                </a:tc>
              </a:tr>
              <a:tr h="352425">
                <a:tc>
                  <a:txBody>
                    <a:bodyPr lIns="76200" tIns="57150" rIns="76200" bIns="57150">
                      <a:noAutofit/>
                    </a:bodyPr>
                    <a:lstStyle/>
                    <a:p>
                      <a:pPr algn="l"/>
                      <a:r>
                        <a:rPr sz="1388" b="0">
                          <a:solidFill>
                            <a:srgbClr val="202B36"/>
                          </a:solidFill>
                          <a:latin typeface="Calibri"/>
                          <a:ea typeface="Calibri"/>
                          <a:cs typeface="Calibri"/>
                        </a:rPr>
                        <a:t>Resources (20%)  process RAM / CPU per page</a:t>
                      </a:r>
                    </a:p>
                  </a:txBody>
                  <a:tcPr marL="91440" marR="91440" marT="45720" marB="45720" anchor="ctr">
                    <a:solidFill>
                      <a:srgbClr val="FFFFFF"/>
                    </a:solidFill>
                  </a:tcPr>
                </a:tc>
                <a:tc>
                  <a:txBody>
                    <a:bodyPr lIns="76200" tIns="57150" rIns="76200" bIns="57150">
                      <a:noAutofit/>
                    </a:bodyPr>
                    <a:lstStyle/>
                    <a:p>
                      <a:pPr algn="ctr"/>
                      <a:r>
                        <a:rPr sz="1388" b="0">
                          <a:solidFill>
                            <a:srgbClr val="202B36"/>
                          </a:solidFill>
                          <a:latin typeface="Calibri"/>
                          <a:ea typeface="Calibri"/>
                          <a:cs typeface="Calibri"/>
                        </a:rPr>
                        <a:t>57.3 MB / 52.1 ms</a:t>
                      </a:r>
                    </a:p>
                  </a:txBody>
                  <a:tcPr marL="91440" marR="91440" marT="45720" marB="45720" anchor="ctr">
                    <a:solidFill>
                      <a:srgbClr val="FFFFFF"/>
                    </a:solidFill>
                  </a:tcPr>
                </a:tc>
                <a:tc>
                  <a:txBody>
                    <a:bodyPr lIns="76200" tIns="57150" rIns="76200" bIns="57150">
                      <a:noAutofit/>
                    </a:bodyPr>
                    <a:lstStyle/>
                    <a:p>
                      <a:pPr algn="ctr"/>
                      <a:r>
                        <a:rPr sz="1388" b="1">
                          <a:solidFill>
                            <a:srgbClr val="202B36"/>
                          </a:solidFill>
                          <a:latin typeface="Calibri"/>
                          <a:ea typeface="Calibri"/>
                          <a:cs typeface="Calibri"/>
                        </a:rPr>
                        <a:t>56.4 MB / 25.7 ms</a:t>
                      </a:r>
                    </a:p>
                  </a:txBody>
                  <a:tcPr marL="91440" marR="91440" marT="45720" marB="45720" anchor="ctr">
                    <a:solidFill>
                      <a:srgbClr val="F8F1E3"/>
                    </a:solidFill>
                  </a:tcPr>
                </a:tc>
              </a:tr>
              <a:tr h="352425">
                <a:tc>
                  <a:txBody>
                    <a:bodyPr lIns="76200" tIns="57150" rIns="76200" bIns="57150">
                      <a:noAutofit/>
                    </a:bodyPr>
                    <a:lstStyle/>
                    <a:p>
                      <a:pPr algn="l"/>
                      <a:r>
                        <a:rPr sz="1388" b="0">
                          <a:solidFill>
                            <a:srgbClr val="202B36"/>
                          </a:solidFill>
                          <a:latin typeface="Calibri"/>
                          <a:ea typeface="Calibri"/>
                          <a:cs typeface="Calibri"/>
                        </a:rPr>
                        <a:t>Latency (15%)  sanitize-to-plan median / p95</a:t>
                      </a:r>
                    </a:p>
                  </a:txBody>
                  <a:tcPr marL="91440" marR="91440" marT="45720" marB="45720" anchor="ctr">
                    <a:solidFill>
                      <a:srgbClr val="FFFFFF"/>
                    </a:solidFill>
                  </a:tcPr>
                </a:tc>
                <a:tc>
                  <a:txBody>
                    <a:bodyPr lIns="76200" tIns="57150" rIns="76200" bIns="57150">
                      <a:noAutofit/>
                    </a:bodyPr>
                    <a:lstStyle/>
                    <a:p>
                      <a:pPr algn="ctr"/>
                      <a:r>
                        <a:rPr sz="1388" b="0">
                          <a:solidFill>
                            <a:srgbClr val="202B36"/>
                          </a:solidFill>
                          <a:latin typeface="Calibri"/>
                          <a:ea typeface="Calibri"/>
                          <a:cs typeface="Calibri"/>
                        </a:rPr>
                        <a:t>339 / 467 ms</a:t>
                      </a:r>
                    </a:p>
                  </a:txBody>
                  <a:tcPr marL="91440" marR="91440" marT="45720" marB="45720" anchor="ctr">
                    <a:solidFill>
                      <a:srgbClr val="FFFFFF"/>
                    </a:solidFill>
                  </a:tcPr>
                </a:tc>
                <a:tc>
                  <a:txBody>
                    <a:bodyPr lIns="76200" tIns="57150" rIns="76200" bIns="57150">
                      <a:noAutofit/>
                    </a:bodyPr>
                    <a:lstStyle/>
                    <a:p>
                      <a:pPr algn="ctr"/>
                      <a:r>
                        <a:rPr sz="1388" b="1">
                          <a:solidFill>
                            <a:srgbClr val="202B36"/>
                          </a:solidFill>
                          <a:latin typeface="Calibri"/>
                          <a:ea typeface="Calibri"/>
                          <a:cs typeface="Calibri"/>
                        </a:rPr>
                        <a:t>47 / 48 ms</a:t>
                      </a:r>
                    </a:p>
                  </a:txBody>
                  <a:tcPr marL="91440" marR="91440" marT="45720" marB="45720" anchor="ctr">
                    <a:solidFill>
                      <a:srgbClr val="F8F1E3"/>
                    </a:solidFill>
                  </a:tcPr>
                </a:tc>
              </a:tr>
            </a:tbl>
          </a:graphicData>
        </a:graphic>
      </p:graphicFrame>
      <p:sp>
        <p:nvSpPr>
          <p:cNvPr id="101" name="rev-69">
            <a:extLst xmlns:a="http://schemas.openxmlformats.org/drawingml/2006/main">
              <a:ext uri="{FF2B5EF4-FFF2-40B4-BE49-F238E27FC236}">
                <a16:creationId xmlns:a16="http://schemas.microsoft.com/office/drawing/2014/main" id="{C7CC81F6-1D0E-4717-8F14-6317CB84C9BF}"/>
              </a:ext>
            </a:extLst>
          </p:cNvPr>
          <p:cNvSpPr>
            <a:spLocks xmlns:a="http://schemas.openxmlformats.org/drawingml/2006/main" noGrp="1"/>
          </p:cNvSpPr>
          <p:nvPr/>
        </p:nvSpPr>
        <p:spPr>
          <a:xfrm xmlns:a="http://schemas.openxmlformats.org/drawingml/2006/main">
            <a:off x="457200" y="3962400"/>
            <a:ext cx="11277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a:solidFill>
                  <a:srgbClr val="53616D"/>
                </a:solidFill>
                <a:latin typeface="Calibri"/>
                <a:ea typeface="Calibri"/>
                <a:cs typeface="Calibri"/>
              </a:defRPr>
            </a:pPr>
            <a:r>
              <a:rPr sz="1200">
                <a:solidFill>
                  <a:srgbClr val="53616D"/>
                </a:solidFill>
                <a:latin typeface="Calibri"/>
                <a:ea typeface="Calibri"/>
                <a:cs typeface="Calibri"/>
              </a:rPr>
              <a:t>CPU reference harness, Intel Core Ultra 9 275HX: classical CV + rules planner. UI F1 is not mAP.</a:t>
            </a:r>
          </a:p>
        </p:txBody>
      </p:sp>
      <p:sp>
        <p:nvSpPr>
          <p:cNvPr id="102" name="rev-70">
            <a:extLst xmlns:a="http://schemas.openxmlformats.org/drawingml/2006/main">
              <a:ext uri="{FF2B5EF4-FFF2-40B4-BE49-F238E27FC236}">
                <a16:creationId xmlns:a16="http://schemas.microsoft.com/office/drawing/2014/main" id="{B9C11372-E837-451D-9093-37245424DD0C}"/>
              </a:ext>
            </a:extLst>
          </p:cNvPr>
          <p:cNvSpPr>
            <a:spLocks xmlns:a="http://schemas.openxmlformats.org/drawingml/2006/main" noGrp="1"/>
          </p:cNvSpPr>
          <p:nvPr/>
        </p:nvSpPr>
        <p:spPr>
          <a:xfrm xmlns:a="http://schemas.openxmlformats.org/drawingml/2006/main">
            <a:off x="457200" y="4210050"/>
            <a:ext cx="112776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a:solidFill>
                  <a:srgbClr val="53616D"/>
                </a:solidFill>
                <a:latin typeface="Calibri"/>
                <a:ea typeface="Calibri"/>
                <a:cs typeface="Calibri"/>
              </a:defRPr>
            </a:pPr>
            <a:r>
              <a:rPr sz="1200">
                <a:solidFill>
                  <a:srgbClr val="53616D"/>
                </a:solidFill>
                <a:latin typeface="Calibri"/>
                <a:ea typeface="Calibri"/>
                <a:cs typeface="Calibri"/>
              </a:rPr>
              <a:t>Python-process RAM excludes Tesseract child memory. Timing excludes browser execution and verification.</a:t>
            </a:r>
          </a:p>
        </p:txBody>
      </p:sp>
      <p:sp>
        <p:nvSpPr>
          <p:cNvPr id="103" name="rev-71">
            <a:extLst xmlns:a="http://schemas.openxmlformats.org/drawingml/2006/main">
              <a:ext uri="{FF2B5EF4-FFF2-40B4-BE49-F238E27FC236}">
                <a16:creationId xmlns:a16="http://schemas.microsoft.com/office/drawing/2014/main" id="{2B983907-36FB-4A7A-B9CA-A052184773E2}"/>
              </a:ext>
            </a:extLst>
          </p:cNvPr>
          <p:cNvSpPr>
            <a:spLocks xmlns:a="http://schemas.openxmlformats.org/drawingml/2006/main" noGrp="1"/>
          </p:cNvSpPr>
          <p:nvPr/>
        </p:nvSpPr>
        <p:spPr>
          <a:xfrm xmlns:a="http://schemas.openxmlformats.org/drawingml/2006/main">
            <a:off x="457200" y="4572000"/>
            <a:ext cx="11277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936514"/>
                </a:solidFill>
                <a:latin typeface="Calibri"/>
                <a:ea typeface="Calibri"/>
                <a:cs typeface="Calibri"/>
              </a:defRPr>
            </a:pPr>
            <a:r>
              <a:rPr sz="1500" b="1">
                <a:solidFill>
                  <a:srgbClr val="936514"/>
                </a:solidFill>
                <a:latin typeface="Calibri"/>
                <a:ea typeface="Calibri"/>
                <a:cs typeface="Calibri"/>
              </a:rPr>
              <a:t>Challenges and improvement strategy</a:t>
            </a:r>
          </a:p>
        </p:txBody>
      </p:sp>
      <p:sp>
        <p:nvSpPr>
          <p:cNvPr id="104" name="rev-72">
            <a:extLst xmlns:a="http://schemas.openxmlformats.org/drawingml/2006/main">
              <a:ext uri="{FF2B5EF4-FFF2-40B4-BE49-F238E27FC236}">
                <a16:creationId xmlns:a16="http://schemas.microsoft.com/office/drawing/2014/main" id="{D36E5892-B6C0-43EC-B696-E0694E9E42F4}"/>
              </a:ext>
            </a:extLst>
          </p:cNvPr>
          <p:cNvSpPr>
            <a:spLocks xmlns:a="http://schemas.openxmlformats.org/drawingml/2006/main" noGrp="1"/>
          </p:cNvSpPr>
          <p:nvPr/>
        </p:nvSpPr>
        <p:spPr>
          <a:xfrm xmlns:a="http://schemas.openxmlformats.org/drawingml/2006/main">
            <a:off x="457200" y="4914900"/>
            <a:ext cx="11277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a:solidFill>
                  <a:srgbClr val="202B36"/>
                </a:solidFill>
                <a:latin typeface="Calibri"/>
                <a:ea typeface="Calibri"/>
                <a:cs typeface="Calibri"/>
              </a:defRPr>
            </a:pPr>
            <a:r>
              <a:rPr sz="1425">
                <a:solidFill>
                  <a:srgbClr val="202B36"/>
                </a:solidFill>
                <a:latin typeface="Calibri"/>
                <a:ea typeface="Calibri"/>
                <a:cs typeface="Calibri"/>
              </a:rPr>
              <a:t>DOM-blind recall: 0.878. Improve OCR with field labels. Container rejection already reduces whole-card masking.</a:t>
            </a:r>
          </a:p>
        </p:txBody>
      </p:sp>
      <p:sp>
        <p:nvSpPr>
          <p:cNvPr id="105" name="rev-73">
            <a:extLst xmlns:a="http://schemas.openxmlformats.org/drawingml/2006/main">
              <a:ext uri="{FF2B5EF4-FFF2-40B4-BE49-F238E27FC236}">
                <a16:creationId xmlns:a16="http://schemas.microsoft.com/office/drawing/2014/main" id="{4E791101-553C-4372-8291-F65ED89BD54B}"/>
              </a:ext>
            </a:extLst>
          </p:cNvPr>
          <p:cNvSpPr>
            <a:spLocks xmlns:a="http://schemas.openxmlformats.org/drawingml/2006/main" noGrp="1"/>
          </p:cNvSpPr>
          <p:nvPr/>
        </p:nvSpPr>
        <p:spPr>
          <a:xfrm xmlns:a="http://schemas.openxmlformats.org/drawingml/2006/main">
            <a:off x="457200" y="5362575"/>
            <a:ext cx="11277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936514"/>
                </a:solidFill>
                <a:latin typeface="Calibri"/>
                <a:ea typeface="Calibri"/>
                <a:cs typeface="Calibri"/>
              </a:defRPr>
            </a:pPr>
            <a:r>
              <a:rPr sz="1500" b="1">
                <a:solidFill>
                  <a:srgbClr val="936514"/>
                </a:solidFill>
                <a:latin typeface="Calibri"/>
                <a:ea typeface="Calibri"/>
                <a:cs typeface="Calibri"/>
              </a:rPr>
              <a:t>Still not measured</a:t>
            </a:r>
          </a:p>
        </p:txBody>
      </p:sp>
      <p:sp>
        <p:nvSpPr>
          <p:cNvPr id="106" name="step-74">
            <a:extLst xmlns:a="http://schemas.openxmlformats.org/drawingml/2006/main">
              <a:ext uri="{FF2B5EF4-FFF2-40B4-BE49-F238E27FC236}">
                <a16:creationId xmlns:a16="http://schemas.microsoft.com/office/drawing/2014/main" id="{F482F48C-B7A8-4F85-8607-324C72F076C9}"/>
              </a:ext>
            </a:extLst>
          </p:cNvPr>
          <p:cNvSpPr>
            <a:spLocks xmlns:a="http://schemas.openxmlformats.org/drawingml/2006/main" noGrp="1"/>
          </p:cNvSpPr>
          <p:nvPr/>
        </p:nvSpPr>
        <p:spPr>
          <a:xfrm xmlns:a="http://schemas.openxmlformats.org/drawingml/2006/main">
            <a:off x="457200" y="5743575"/>
            <a:ext cx="276225" cy="276225"/>
          </a:xfrm>
          <a:prstGeom xmlns:a="http://schemas.openxmlformats.org/drawingml/2006/main" prst="ellipse">
            <a:avLst/>
          </a:prstGeom>
          <a:solidFill xmlns:a="http://schemas.openxmlformats.org/drawingml/2006/main">
            <a:srgbClr val="936514"/>
          </a:solidFill>
          <a:ln xmlns:a="http://schemas.openxmlformats.org/drawingml/2006/main" w="0">
            <a:noFill/>
          </a:ln>
        </p:spPr>
      </p:sp>
      <p:sp>
        <p:nvSpPr>
          <p:cNvPr id="107" name="rev-75">
            <a:extLst xmlns:a="http://schemas.openxmlformats.org/drawingml/2006/main">
              <a:ext uri="{FF2B5EF4-FFF2-40B4-BE49-F238E27FC236}">
                <a16:creationId xmlns:a16="http://schemas.microsoft.com/office/drawing/2014/main" id="{9F7F6E59-3381-4893-9A1C-6E312E978A3A}"/>
              </a:ext>
            </a:extLst>
          </p:cNvPr>
          <p:cNvSpPr>
            <a:spLocks xmlns:a="http://schemas.openxmlformats.org/drawingml/2006/main" noGrp="1"/>
          </p:cNvSpPr>
          <p:nvPr/>
        </p:nvSpPr>
        <p:spPr>
          <a:xfrm xmlns:a="http://schemas.openxmlformats.org/drawingml/2006/main">
            <a:off x="457200" y="5762625"/>
            <a:ext cx="2762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FFFFF"/>
                </a:solidFill>
                <a:latin typeface="Calibri"/>
                <a:ea typeface="Calibri"/>
                <a:cs typeface="Calibri"/>
              </a:defRPr>
            </a:pPr>
            <a:r>
              <a:rPr sz="1350" b="1">
                <a:solidFill>
                  <a:srgbClr val="FFFFFF"/>
                </a:solidFill>
                <a:latin typeface="Calibri"/>
                <a:ea typeface="Calibri"/>
                <a:cs typeface="Calibri"/>
              </a:rPr>
              <a:t>1</a:t>
            </a:r>
          </a:p>
        </p:txBody>
      </p:sp>
      <p:sp>
        <p:nvSpPr>
          <p:cNvPr id="108" name="rev-76">
            <a:extLst xmlns:a="http://schemas.openxmlformats.org/drawingml/2006/main">
              <a:ext uri="{FF2B5EF4-FFF2-40B4-BE49-F238E27FC236}">
                <a16:creationId xmlns:a16="http://schemas.microsoft.com/office/drawing/2014/main" id="{A51F1A8A-336E-483D-9C92-FF98401F8463}"/>
              </a:ext>
            </a:extLst>
          </p:cNvPr>
          <p:cNvSpPr>
            <a:spLocks xmlns:a="http://schemas.openxmlformats.org/drawingml/2006/main" noGrp="1"/>
          </p:cNvSpPr>
          <p:nvPr/>
        </p:nvSpPr>
        <p:spPr>
          <a:xfrm xmlns:a="http://schemas.openxmlformats.org/drawingml/2006/main">
            <a:off x="847725" y="5743575"/>
            <a:ext cx="3333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936514"/>
                </a:solidFill>
                <a:latin typeface="Calibri"/>
                <a:ea typeface="Calibri"/>
                <a:cs typeface="Calibri"/>
              </a:defRPr>
            </a:pPr>
            <a:r>
              <a:rPr sz="1425" b="1">
                <a:solidFill>
                  <a:srgbClr val="936514"/>
                </a:solidFill>
                <a:latin typeface="Calibri"/>
                <a:ea typeface="Calibri"/>
                <a:cs typeface="Calibri"/>
              </a:rPr>
              <a:t>Trained ONNX detector</a:t>
            </a:r>
          </a:p>
        </p:txBody>
      </p:sp>
      <p:sp>
        <p:nvSpPr>
          <p:cNvPr id="109" name="rev-77">
            <a:extLst xmlns:a="http://schemas.openxmlformats.org/drawingml/2006/main">
              <a:ext uri="{FF2B5EF4-FFF2-40B4-BE49-F238E27FC236}">
                <a16:creationId xmlns:a16="http://schemas.microsoft.com/office/drawing/2014/main" id="{66802A7D-B4DF-4BF9-A051-A477C34465E2}"/>
              </a:ext>
            </a:extLst>
          </p:cNvPr>
          <p:cNvSpPr>
            <a:spLocks xmlns:a="http://schemas.openxmlformats.org/drawingml/2006/main" noGrp="1"/>
          </p:cNvSpPr>
          <p:nvPr/>
        </p:nvSpPr>
        <p:spPr>
          <a:xfrm xmlns:a="http://schemas.openxmlformats.org/drawingml/2006/main">
            <a:off x="847725" y="6048375"/>
            <a:ext cx="333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a:solidFill>
                  <a:srgbClr val="53616D"/>
                </a:solidFill>
                <a:latin typeface="Calibri"/>
                <a:ea typeface="Calibri"/>
                <a:cs typeface="Calibri"/>
              </a:defRPr>
            </a:pPr>
            <a:r>
              <a:rPr sz="1200">
                <a:solidFill>
                  <a:srgbClr val="53616D"/>
                </a:solidFill>
                <a:latin typeface="Calibri"/>
                <a:ea typeface="Calibri"/>
                <a:cs typeface="Calibri"/>
              </a:rPr>
              <a:t>Accuracy on held-out screens</a:t>
            </a:r>
          </a:p>
        </p:txBody>
      </p:sp>
      <p:sp>
        <p:nvSpPr>
          <p:cNvPr id="110" name="step-78">
            <a:extLst xmlns:a="http://schemas.openxmlformats.org/drawingml/2006/main">
              <a:ext uri="{FF2B5EF4-FFF2-40B4-BE49-F238E27FC236}">
                <a16:creationId xmlns:a16="http://schemas.microsoft.com/office/drawing/2014/main" id="{0C957E13-F963-4AFC-B520-7D91A476C2B5}"/>
              </a:ext>
            </a:extLst>
          </p:cNvPr>
          <p:cNvSpPr>
            <a:spLocks xmlns:a="http://schemas.openxmlformats.org/drawingml/2006/main" noGrp="1"/>
          </p:cNvSpPr>
          <p:nvPr/>
        </p:nvSpPr>
        <p:spPr>
          <a:xfrm xmlns:a="http://schemas.openxmlformats.org/drawingml/2006/main">
            <a:off x="4286250" y="5743575"/>
            <a:ext cx="276225" cy="276225"/>
          </a:xfrm>
          <a:prstGeom xmlns:a="http://schemas.openxmlformats.org/drawingml/2006/main" prst="ellipse">
            <a:avLst/>
          </a:prstGeom>
          <a:solidFill xmlns:a="http://schemas.openxmlformats.org/drawingml/2006/main">
            <a:srgbClr val="936514"/>
          </a:solidFill>
          <a:ln xmlns:a="http://schemas.openxmlformats.org/drawingml/2006/main" w="0">
            <a:noFill/>
          </a:ln>
        </p:spPr>
      </p:sp>
      <p:sp>
        <p:nvSpPr>
          <p:cNvPr id="111" name="rev-79">
            <a:extLst xmlns:a="http://schemas.openxmlformats.org/drawingml/2006/main">
              <a:ext uri="{FF2B5EF4-FFF2-40B4-BE49-F238E27FC236}">
                <a16:creationId xmlns:a16="http://schemas.microsoft.com/office/drawing/2014/main" id="{B7A38C79-BC8D-4F48-8462-43CB43415826}"/>
              </a:ext>
            </a:extLst>
          </p:cNvPr>
          <p:cNvSpPr>
            <a:spLocks xmlns:a="http://schemas.openxmlformats.org/drawingml/2006/main" noGrp="1"/>
          </p:cNvSpPr>
          <p:nvPr/>
        </p:nvSpPr>
        <p:spPr>
          <a:xfrm xmlns:a="http://schemas.openxmlformats.org/drawingml/2006/main">
            <a:off x="4286250" y="5762625"/>
            <a:ext cx="2762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FFFFF"/>
                </a:solidFill>
                <a:latin typeface="Calibri"/>
                <a:ea typeface="Calibri"/>
                <a:cs typeface="Calibri"/>
              </a:defRPr>
            </a:pPr>
            <a:r>
              <a:rPr sz="1350" b="1">
                <a:solidFill>
                  <a:srgbClr val="FFFFFF"/>
                </a:solidFill>
                <a:latin typeface="Calibri"/>
                <a:ea typeface="Calibri"/>
                <a:cs typeface="Calibri"/>
              </a:rPr>
              <a:t>2</a:t>
            </a:r>
          </a:p>
        </p:txBody>
      </p:sp>
      <p:sp>
        <p:nvSpPr>
          <p:cNvPr id="112" name="rev-80">
            <a:extLst xmlns:a="http://schemas.openxmlformats.org/drawingml/2006/main">
              <a:ext uri="{FF2B5EF4-FFF2-40B4-BE49-F238E27FC236}">
                <a16:creationId xmlns:a16="http://schemas.microsoft.com/office/drawing/2014/main" id="{1AC24DE6-E66B-4256-B9AA-48AA3D3AD137}"/>
              </a:ext>
            </a:extLst>
          </p:cNvPr>
          <p:cNvSpPr>
            <a:spLocks xmlns:a="http://schemas.openxmlformats.org/drawingml/2006/main" noGrp="1"/>
          </p:cNvSpPr>
          <p:nvPr/>
        </p:nvSpPr>
        <p:spPr>
          <a:xfrm xmlns:a="http://schemas.openxmlformats.org/drawingml/2006/main">
            <a:off x="4676775" y="5743575"/>
            <a:ext cx="3333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936514"/>
                </a:solidFill>
                <a:latin typeface="Calibri"/>
                <a:ea typeface="Calibri"/>
                <a:cs typeface="Calibri"/>
              </a:defRPr>
            </a:pPr>
            <a:r>
              <a:rPr sz="1425" b="1">
                <a:solidFill>
                  <a:srgbClr val="936514"/>
                </a:solidFill>
                <a:latin typeface="Calibri"/>
                <a:ea typeface="Calibri"/>
                <a:cs typeface="Calibri"/>
              </a:rPr>
              <a:t>WebGPU timing in the browser</a:t>
            </a:r>
          </a:p>
        </p:txBody>
      </p:sp>
      <p:sp>
        <p:nvSpPr>
          <p:cNvPr id="113" name="rev-81">
            <a:extLst xmlns:a="http://schemas.openxmlformats.org/drawingml/2006/main">
              <a:ext uri="{FF2B5EF4-FFF2-40B4-BE49-F238E27FC236}">
                <a16:creationId xmlns:a16="http://schemas.microsoft.com/office/drawing/2014/main" id="{6CE733EF-EBD7-4EC7-BCED-EF62F71C0379}"/>
              </a:ext>
            </a:extLst>
          </p:cNvPr>
          <p:cNvSpPr>
            <a:spLocks xmlns:a="http://schemas.openxmlformats.org/drawingml/2006/main" noGrp="1"/>
          </p:cNvSpPr>
          <p:nvPr/>
        </p:nvSpPr>
        <p:spPr>
          <a:xfrm xmlns:a="http://schemas.openxmlformats.org/drawingml/2006/main">
            <a:off x="4676775" y="6048375"/>
            <a:ext cx="333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a:solidFill>
                  <a:srgbClr val="53616D"/>
                </a:solidFill>
                <a:latin typeface="Calibri"/>
                <a:ea typeface="Calibri"/>
                <a:cs typeface="Calibri"/>
              </a:defRPr>
            </a:pPr>
            <a:r>
              <a:rPr sz="1200">
                <a:solidFill>
                  <a:srgbClr val="53616D"/>
                </a:solidFill>
                <a:latin typeface="Calibri"/>
                <a:ea typeface="Calibri"/>
                <a:cs typeface="Calibri"/>
              </a:rPr>
              <a:t>Cold / warm inference and memory</a:t>
            </a:r>
          </a:p>
        </p:txBody>
      </p:sp>
      <p:sp>
        <p:nvSpPr>
          <p:cNvPr id="114" name="step-82">
            <a:extLst xmlns:a="http://schemas.openxmlformats.org/drawingml/2006/main">
              <a:ext uri="{FF2B5EF4-FFF2-40B4-BE49-F238E27FC236}">
                <a16:creationId xmlns:a16="http://schemas.microsoft.com/office/drawing/2014/main" id="{467D7EE1-9D15-4C7F-9B2A-09CDFA24E252}"/>
              </a:ext>
            </a:extLst>
          </p:cNvPr>
          <p:cNvSpPr>
            <a:spLocks xmlns:a="http://schemas.openxmlformats.org/drawingml/2006/main" noGrp="1"/>
          </p:cNvSpPr>
          <p:nvPr/>
        </p:nvSpPr>
        <p:spPr>
          <a:xfrm xmlns:a="http://schemas.openxmlformats.org/drawingml/2006/main">
            <a:off x="8115300" y="5743575"/>
            <a:ext cx="276225" cy="276225"/>
          </a:xfrm>
          <a:prstGeom xmlns:a="http://schemas.openxmlformats.org/drawingml/2006/main" prst="ellipse">
            <a:avLst/>
          </a:prstGeom>
          <a:solidFill xmlns:a="http://schemas.openxmlformats.org/drawingml/2006/main">
            <a:srgbClr val="936514"/>
          </a:solidFill>
          <a:ln xmlns:a="http://schemas.openxmlformats.org/drawingml/2006/main" w="0">
            <a:noFill/>
          </a:ln>
        </p:spPr>
      </p:sp>
      <p:sp>
        <p:nvSpPr>
          <p:cNvPr id="115" name="rev-83">
            <a:extLst xmlns:a="http://schemas.openxmlformats.org/drawingml/2006/main">
              <a:ext uri="{FF2B5EF4-FFF2-40B4-BE49-F238E27FC236}">
                <a16:creationId xmlns:a16="http://schemas.microsoft.com/office/drawing/2014/main" id="{A1CFC833-9805-476A-B619-FF18F7A032DC}"/>
              </a:ext>
            </a:extLst>
          </p:cNvPr>
          <p:cNvSpPr>
            <a:spLocks xmlns:a="http://schemas.openxmlformats.org/drawingml/2006/main" noGrp="1"/>
          </p:cNvSpPr>
          <p:nvPr/>
        </p:nvSpPr>
        <p:spPr>
          <a:xfrm xmlns:a="http://schemas.openxmlformats.org/drawingml/2006/main">
            <a:off x="8115300" y="5762625"/>
            <a:ext cx="2762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FFFFF"/>
                </a:solidFill>
                <a:latin typeface="Calibri"/>
                <a:ea typeface="Calibri"/>
                <a:cs typeface="Calibri"/>
              </a:defRPr>
            </a:pPr>
            <a:r>
              <a:rPr sz="1350" b="1">
                <a:solidFill>
                  <a:srgbClr val="FFFFFF"/>
                </a:solidFill>
                <a:latin typeface="Calibri"/>
                <a:ea typeface="Calibri"/>
                <a:cs typeface="Calibri"/>
              </a:rPr>
              <a:t>3</a:t>
            </a:r>
          </a:p>
        </p:txBody>
      </p:sp>
      <p:sp>
        <p:nvSpPr>
          <p:cNvPr id="116" name="rev-84">
            <a:extLst xmlns:a="http://schemas.openxmlformats.org/drawingml/2006/main">
              <a:ext uri="{FF2B5EF4-FFF2-40B4-BE49-F238E27FC236}">
                <a16:creationId xmlns:a16="http://schemas.microsoft.com/office/drawing/2014/main" id="{D89F63AB-65AB-4F95-87D9-B0845A605042}"/>
              </a:ext>
            </a:extLst>
          </p:cNvPr>
          <p:cNvSpPr>
            <a:spLocks xmlns:a="http://schemas.openxmlformats.org/drawingml/2006/main" noGrp="1"/>
          </p:cNvSpPr>
          <p:nvPr/>
        </p:nvSpPr>
        <p:spPr>
          <a:xfrm xmlns:a="http://schemas.openxmlformats.org/drawingml/2006/main">
            <a:off x="8505825" y="5743575"/>
            <a:ext cx="3333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b="1">
                <a:solidFill>
                  <a:srgbClr val="936514"/>
                </a:solidFill>
                <a:latin typeface="Calibri"/>
                <a:ea typeface="Calibri"/>
                <a:cs typeface="Calibri"/>
              </a:defRPr>
            </a:pPr>
            <a:r>
              <a:rPr sz="1425" b="1">
                <a:solidFill>
                  <a:srgbClr val="936514"/>
                </a:solidFill>
                <a:latin typeface="Calibri"/>
                <a:ea typeface="Calibri"/>
                <a:cs typeface="Calibri"/>
              </a:rPr>
              <a:t>Whole-task time inside the browser</a:t>
            </a:r>
          </a:p>
        </p:txBody>
      </p:sp>
      <p:sp>
        <p:nvSpPr>
          <p:cNvPr id="117" name="rev-85">
            <a:extLst xmlns:a="http://schemas.openxmlformats.org/drawingml/2006/main">
              <a:ext uri="{FF2B5EF4-FFF2-40B4-BE49-F238E27FC236}">
                <a16:creationId xmlns:a16="http://schemas.microsoft.com/office/drawing/2014/main" id="{192B0F87-EBBE-44CD-A17E-183F72A9DCA0}"/>
              </a:ext>
            </a:extLst>
          </p:cNvPr>
          <p:cNvSpPr>
            <a:spLocks xmlns:a="http://schemas.openxmlformats.org/drawingml/2006/main" noGrp="1"/>
          </p:cNvSpPr>
          <p:nvPr/>
        </p:nvSpPr>
        <p:spPr>
          <a:xfrm xmlns:a="http://schemas.openxmlformats.org/drawingml/2006/main">
            <a:off x="8505825" y="6048375"/>
            <a:ext cx="333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a:solidFill>
                  <a:srgbClr val="53616D"/>
                </a:solidFill>
                <a:latin typeface="Calibri"/>
                <a:ea typeface="Calibri"/>
                <a:cs typeface="Calibri"/>
              </a:defRPr>
            </a:pPr>
            <a:r>
              <a:rPr sz="1200">
                <a:solidFill>
                  <a:srgbClr val="53616D"/>
                </a:solidFill>
                <a:latin typeface="Calibri"/>
                <a:ea typeface="Calibri"/>
                <a:cs typeface="Calibri"/>
              </a:rPr>
              <a:t>Observe through verified completion</a:t>
            </a:r>
          </a:p>
        </p:txBody>
      </p:sp>
    </p:spTree>
    <p:extLst>
      <p:ext uri="{BB962C8B-B14F-4D97-AF65-F5344CB8AC3E}">
        <p14:creationId xmlns:p14="http://schemas.microsoft.com/office/powerpoint/2010/main" val="129427287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D8BA7EFB-046B-4A91-B307-C7DD0112A03D}"/>
              </a:ext>
            </a:extLst>
          </p:cNvPr>
          <p:cNvSpPr>
            <a:spLocks xmlns:a="http://schemas.openxmlformats.org/drawingml/2006/main" noGrp="1"/>
          </p:cNvSpPr>
          <p:nvPr/>
        </p:nvSpPr>
        <p:spPr>
          <a:xfrm xmlns:a="http://schemas.openxmlformats.org/drawingml/2006/main">
            <a:off x="384048" y="201168"/>
            <a:ext cx="1371600" cy="530352"/>
          </a:xfrm>
          <a:prstGeom xmlns:a="http://schemas.openxmlformats.org/drawingml/2006/main" prst="ellipse">
            <a:avLst/>
          </a:prstGeom>
          <a:solidFill xmlns:a="http://schemas.openxmlformats.org/drawingml/2006/main">
            <a:srgbClr val="E3F1F2"/>
          </a:solidFill>
          <a:ln xmlns:a="http://schemas.openxmlformats.org/drawingml/2006/main" w="19050">
            <a:solidFill>
              <a:srgbClr val="0E7C86"/>
            </a:solidFill>
            <a:prstDash val="solid"/>
          </a:ln>
          <a:effectLst xmlns:a="http://schemas.openxmlformats.org/drawingml/2006/main">
            <a:outerShdw blurRad="76200" dist="12700" dir="5400000" algn="bl" rotWithShape="0">
              <a:srgbClr val="9FB0C0">
                <a:alpha val="28000"/>
              </a:srgbClr>
            </a:outerShdw>
          </a:effectLst>
        </p:spPr>
      </p:sp>
      <p:sp>
        <p:nvSpPr>
          <p:cNvPr id="3" name="Text 1">
            <a:extLst xmlns:a="http://schemas.openxmlformats.org/drawingml/2006/main">
              <a:ext uri="{FF2B5EF4-FFF2-40B4-BE49-F238E27FC236}">
                <a16:creationId xmlns:a16="http://schemas.microsoft.com/office/drawing/2014/main" id="{4494F372-F4E0-4569-886D-6267329DBEA2}"/>
              </a:ext>
            </a:extLst>
          </p:cNvPr>
          <p:cNvSpPr>
            <a:spLocks xmlns:a="http://schemas.openxmlformats.org/drawingml/2006/main" noGrp="1"/>
          </p:cNvSpPr>
          <p:nvPr/>
        </p:nvSpPr>
        <p:spPr>
          <a:xfrm xmlns:a="http://schemas.openxmlformats.org/drawingml/2006/main">
            <a:off x="384048" y="320040"/>
            <a:ext cx="1371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0A5F67"/>
                </a:solidFill>
                <a:latin typeface="Calibri"/>
                <a:ea typeface="Calibri"/>
                <a:cs typeface="Calibri"/>
              </a:rPr>
              <a:t>NEXORA</a:t>
            </a:r>
            <a:endParaRPr sz="1250"/>
          </a:p>
        </p:txBody>
      </p:sp>
      <p:sp>
        <p:nvSpPr>
          <p:cNvPr id="4" name="Text 2">
            <a:extLst xmlns:a="http://schemas.openxmlformats.org/drawingml/2006/main">
              <a:ext uri="{FF2B5EF4-FFF2-40B4-BE49-F238E27FC236}">
                <a16:creationId xmlns:a16="http://schemas.microsoft.com/office/drawing/2014/main" id="{1F2DCC31-9601-4B6A-8859-6B4535DBEE8D}"/>
              </a:ext>
            </a:extLst>
          </p:cNvPr>
          <p:cNvSpPr>
            <a:spLocks xmlns:a="http://schemas.openxmlformats.org/drawingml/2006/main" noGrp="1"/>
          </p:cNvSpPr>
          <p:nvPr/>
        </p:nvSpPr>
        <p:spPr>
          <a:xfrm xmlns:a="http://schemas.openxmlformats.org/drawingml/2006/main">
            <a:off x="2011680" y="201168"/>
            <a:ext cx="786384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1F4E79"/>
                </a:solidFill>
                <a:latin typeface="Cambria"/>
                <a:ea typeface="Cambria"/>
                <a:cs typeface="Cambria"/>
              </a:rPr>
              <a:t>IMPACT AND BENEFITS</a:t>
            </a:r>
            <a:endParaRPr sz="2800"/>
          </a:p>
        </p:txBody>
      </p:sp>
      <p:pic>
        <p:nvPicPr>
          <p:cNvPr id="110" name="Image 0"/>
          <p:cNvPicPr>
            <a:picLocks xmlns:a="http://schemas.openxmlformats.org/drawingml/2006/main" noChangeAspect="1"/>
          </p:cNvPicPr>
          <p:nvPr/>
        </p:nvPicPr>
        <p:blipFill>
          <a:blip xmlns:r="http://schemas.openxmlformats.org/officeDocument/2006/relationships" xmlns:a="http://schemas.openxmlformats.org/drawingml/2006/main" r:embed="Rd8bcb81572864700"/>
          <a:stretch xmlns:a="http://schemas.openxmlformats.org/drawingml/2006/main">
            <a:fillRect l="0" t="0" r="0" b="0"/>
          </a:stretch>
        </p:blipFill>
        <p:spPr>
          <a:xfrm xmlns:a="http://schemas.openxmlformats.org/drawingml/2006/main">
            <a:off x="10287000" y="164592"/>
            <a:ext cx="1554480" cy="731520"/>
          </a:xfrm>
          <a:prstGeom xmlns:a="http://schemas.openxmlformats.org/drawingml/2006/main" prst="rect">
            <a:avLst/>
          </a:prstGeom>
          <a:effectLst xmlns:a="http://schemas.openxmlformats.org/drawingml/2006/main">
            <a:outerShdw blurRad="76200" dist="12700" dir="5400000" algn="bl" rotWithShape="0">
              <a:srgbClr val="9FB0C0">
                <a:alpha val="28000"/>
              </a:srgbClr>
            </a:outerShdw>
          </a:effectLst>
        </p:spPr>
      </p:pic>
      <p:sp>
        <p:nvSpPr>
          <p:cNvPr id="7" name="Shape 4">
            <a:extLst xmlns:a="http://schemas.openxmlformats.org/drawingml/2006/main">
              <a:ext uri="{FF2B5EF4-FFF2-40B4-BE49-F238E27FC236}">
                <a16:creationId xmlns:a16="http://schemas.microsoft.com/office/drawing/2014/main" id="{8C6E963E-E7F3-4DA9-A782-F39ECAE5333F}"/>
              </a:ext>
            </a:extLst>
          </p:cNvPr>
          <p:cNvSpPr>
            <a:spLocks xmlns:a="http://schemas.openxmlformats.org/drawingml/2006/main" noGrp="1"/>
          </p:cNvSpPr>
          <p:nvPr/>
        </p:nvSpPr>
        <p:spPr>
          <a:xfrm xmlns:a="http://schemas.openxmlformats.org/drawingml/2006/main">
            <a:off x="0" y="6446520"/>
            <a:ext cx="12191695" cy="411480"/>
          </a:xfrm>
          <a:prstGeom xmlns:a="http://schemas.openxmlformats.org/drawingml/2006/main" prst="rect">
            <a:avLst/>
          </a:prstGeom>
          <a:solidFill xmlns:a="http://schemas.openxmlformats.org/drawingml/2006/main">
            <a:srgbClr val="0071C1"/>
          </a:solidFill>
        </p:spPr>
      </p:sp>
      <p:sp>
        <p:nvSpPr>
          <p:cNvPr id="9" name="Text 6">
            <a:extLst xmlns:a="http://schemas.openxmlformats.org/drawingml/2006/main">
              <a:ext uri="{FF2B5EF4-FFF2-40B4-BE49-F238E27FC236}">
                <a16:creationId xmlns:a16="http://schemas.microsoft.com/office/drawing/2014/main" id="{182524CB-71F8-49BC-B1EF-2A69D5B5B931}"/>
              </a:ext>
            </a:extLst>
          </p:cNvPr>
          <p:cNvSpPr>
            <a:spLocks xmlns:a="http://schemas.openxmlformats.org/drawingml/2006/main" noGrp="1"/>
          </p:cNvSpPr>
          <p:nvPr/>
        </p:nvSpPr>
        <p:spPr>
          <a:xfrm xmlns:a="http://schemas.openxmlformats.org/drawingml/2006/main">
            <a:off x="11338560" y="6537960"/>
            <a:ext cx="457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FFFFFF"/>
                </a:solidFill>
                <a:latin typeface="Calibri"/>
                <a:ea typeface="Calibri"/>
                <a:cs typeface="Calibri"/>
              </a:rPr>
              <a:t>5</a:t>
            </a:r>
            <a:endParaRPr sz="1250"/>
          </a:p>
        </p:txBody>
      </p:sp>
      <p:sp>
        <p:nvSpPr>
          <p:cNvPr id="64" name="rev-86">
            <a:extLst xmlns:a="http://schemas.openxmlformats.org/drawingml/2006/main">
              <a:ext uri="{FF2B5EF4-FFF2-40B4-BE49-F238E27FC236}">
                <a16:creationId xmlns:a16="http://schemas.microsoft.com/office/drawing/2014/main" id="{787D02BA-F2D6-4B8A-985B-F76CE98C9B00}"/>
              </a:ext>
            </a:extLst>
          </p:cNvPr>
          <p:cNvSpPr>
            <a:spLocks xmlns:a="http://schemas.openxmlformats.org/drawingml/2006/main" noGrp="1"/>
          </p:cNvSpPr>
          <p:nvPr/>
        </p:nvSpPr>
        <p:spPr>
          <a:xfrm xmlns:a="http://schemas.openxmlformats.org/drawingml/2006/main">
            <a:off x="457200" y="981075"/>
            <a:ext cx="11049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356B49"/>
                </a:solidFill>
                <a:latin typeface="Calibri"/>
                <a:ea typeface="Calibri"/>
                <a:cs typeface="Calibri"/>
              </a:defRPr>
            </a:pPr>
            <a:r>
              <a:rPr sz="1500" b="1">
                <a:solidFill>
                  <a:srgbClr val="356B49"/>
                </a:solidFill>
                <a:latin typeface="Calibri"/>
                <a:ea typeface="Calibri"/>
                <a:cs typeface="Calibri"/>
              </a:rPr>
              <a:t>Potential impact on the target audience</a:t>
            </a:r>
          </a:p>
        </p:txBody>
      </p:sp>
      <p:sp>
        <p:nvSpPr>
          <p:cNvPr id="65" name="rev-87">
            <a:extLst xmlns:a="http://schemas.openxmlformats.org/drawingml/2006/main">
              <a:ext uri="{FF2B5EF4-FFF2-40B4-BE49-F238E27FC236}">
                <a16:creationId xmlns:a16="http://schemas.microsoft.com/office/drawing/2014/main" id="{778CA446-51EA-4601-AE38-F51E49821111}"/>
              </a:ext>
            </a:extLst>
          </p:cNvPr>
          <p:cNvSpPr>
            <a:spLocks xmlns:a="http://schemas.openxmlformats.org/drawingml/2006/main" noGrp="1"/>
          </p:cNvSpPr>
          <p:nvPr/>
        </p:nvSpPr>
        <p:spPr>
          <a:xfrm xmlns:a="http://schemas.openxmlformats.org/drawingml/2006/main">
            <a:off x="457200" y="1323975"/>
            <a:ext cx="112776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02B36"/>
                </a:solidFill>
                <a:latin typeface="Calibri"/>
                <a:ea typeface="Calibri"/>
                <a:cs typeface="Calibri"/>
              </a:defRPr>
            </a:pPr>
            <a:r>
              <a:rPr sz="2100" b="1">
                <a:solidFill>
                  <a:srgbClr val="202B36"/>
                </a:solidFill>
                <a:latin typeface="Calibri"/>
                <a:ea typeface="Calibri"/>
                <a:cs typeface="Calibri"/>
              </a:rPr>
              <a:t>Private assistance for authenticated portal tasks</a:t>
            </a:r>
          </a:p>
        </p:txBody>
      </p:sp>
      <p:sp>
        <p:nvSpPr>
          <p:cNvPr id="66" name="rev-88">
            <a:extLst xmlns:a="http://schemas.openxmlformats.org/drawingml/2006/main">
              <a:ext uri="{FF2B5EF4-FFF2-40B4-BE49-F238E27FC236}">
                <a16:creationId xmlns:a16="http://schemas.microsoft.com/office/drawing/2014/main" id="{99BC9931-3C69-45A6-8C3A-D5B2C185F565}"/>
              </a:ext>
            </a:extLst>
          </p:cNvPr>
          <p:cNvSpPr>
            <a:spLocks xmlns:a="http://schemas.openxmlformats.org/drawingml/2006/main" noGrp="1"/>
          </p:cNvSpPr>
          <p:nvPr/>
        </p:nvSpPr>
        <p:spPr>
          <a:xfrm xmlns:a="http://schemas.openxmlformats.org/drawingml/2006/main">
            <a:off x="457200" y="1733550"/>
            <a:ext cx="11277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a:solidFill>
                  <a:srgbClr val="53616D"/>
                </a:solidFill>
                <a:latin typeface="Calibri"/>
                <a:ea typeface="Calibri"/>
                <a:cs typeface="Calibri"/>
              </a:defRPr>
            </a:pPr>
            <a:r>
              <a:rPr sz="1500">
                <a:solidFill>
                  <a:srgbClr val="53616D"/>
                </a:solidFill>
                <a:latin typeface="Calibri"/>
                <a:ea typeface="Calibri"/>
                <a:cs typeface="Calibri"/>
              </a:rPr>
              <a:t>Government services, scholarships, banking KYC, health records and employee self-service.</a:t>
            </a:r>
          </a:p>
        </p:txBody>
      </p:sp>
      <p:sp>
        <p:nvSpPr>
          <p:cNvPr id="67" name="rev-89">
            <a:extLst xmlns:a="http://schemas.openxmlformats.org/drawingml/2006/main">
              <a:ext uri="{FF2B5EF4-FFF2-40B4-BE49-F238E27FC236}">
                <a16:creationId xmlns:a16="http://schemas.microsoft.com/office/drawing/2014/main" id="{EDBF61B6-DB18-4E6D-B91C-D31123FF35CB}"/>
              </a:ext>
            </a:extLst>
          </p:cNvPr>
          <p:cNvSpPr>
            <a:spLocks xmlns:a="http://schemas.openxmlformats.org/drawingml/2006/main" noGrp="1"/>
          </p:cNvSpPr>
          <p:nvPr/>
        </p:nvSpPr>
        <p:spPr>
          <a:xfrm xmlns:a="http://schemas.openxmlformats.org/drawingml/2006/main">
            <a:off x="457200" y="2200275"/>
            <a:ext cx="11277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356B49"/>
                </a:solidFill>
                <a:latin typeface="Calibri"/>
                <a:ea typeface="Calibri"/>
                <a:cs typeface="Calibri"/>
              </a:defRPr>
            </a:pPr>
            <a:r>
              <a:rPr sz="1500" b="1">
                <a:solidFill>
                  <a:srgbClr val="356B49"/>
                </a:solidFill>
                <a:latin typeface="Calibri"/>
                <a:ea typeface="Calibri"/>
                <a:cs typeface="Calibri"/>
              </a:rPr>
              <a:t>Example: download a certificate or report</a:t>
            </a:r>
          </a:p>
        </p:txBody>
      </p:sp>
      <p:sp>
        <p:nvSpPr>
          <p:cNvPr id="68" name="rev-90">
            <a:extLst xmlns:a="http://schemas.openxmlformats.org/drawingml/2006/main">
              <a:ext uri="{FF2B5EF4-FFF2-40B4-BE49-F238E27FC236}">
                <a16:creationId xmlns:a16="http://schemas.microsoft.com/office/drawing/2014/main" id="{03FA27E7-1D28-431D-BDAE-DE6ABA3560C9}"/>
              </a:ext>
            </a:extLst>
          </p:cNvPr>
          <p:cNvSpPr>
            <a:spLocks xmlns:a="http://schemas.openxmlformats.org/drawingml/2006/main" noGrp="1"/>
          </p:cNvSpPr>
          <p:nvPr/>
        </p:nvSpPr>
        <p:spPr>
          <a:xfrm xmlns:a="http://schemas.openxmlformats.org/drawingml/2006/main">
            <a:off x="457200" y="2647950"/>
            <a:ext cx="5810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356B49"/>
                </a:solidFill>
                <a:latin typeface="Calibri"/>
                <a:ea typeface="Calibri"/>
                <a:cs typeface="Calibri"/>
              </a:defRPr>
            </a:pPr>
            <a:r>
              <a:rPr sz="2550" b="1">
                <a:solidFill>
                  <a:srgbClr val="356B49"/>
                </a:solidFill>
                <a:latin typeface="Calibri"/>
                <a:ea typeface="Calibri"/>
                <a:cs typeface="Calibri"/>
              </a:rPr>
              <a:t>01</a:t>
            </a:r>
          </a:p>
        </p:txBody>
      </p:sp>
      <p:sp>
        <p:nvSpPr>
          <p:cNvPr id="69" name="rev-91">
            <a:extLst xmlns:a="http://schemas.openxmlformats.org/drawingml/2006/main">
              <a:ext uri="{FF2B5EF4-FFF2-40B4-BE49-F238E27FC236}">
                <a16:creationId xmlns:a16="http://schemas.microsoft.com/office/drawing/2014/main" id="{B3AD6ED3-1301-43D8-878F-6F9DD6F53F75}"/>
              </a:ext>
            </a:extLst>
          </p:cNvPr>
          <p:cNvSpPr>
            <a:spLocks xmlns:a="http://schemas.openxmlformats.org/drawingml/2006/main" noGrp="1"/>
          </p:cNvSpPr>
          <p:nvPr/>
        </p:nvSpPr>
        <p:spPr>
          <a:xfrm xmlns:a="http://schemas.openxmlformats.org/drawingml/2006/main">
            <a:off x="1085850" y="2695575"/>
            <a:ext cx="2876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356B49"/>
                </a:solidFill>
                <a:latin typeface="Calibri"/>
                <a:ea typeface="Calibri"/>
                <a:cs typeface="Calibri"/>
              </a:defRPr>
            </a:pPr>
            <a:r>
              <a:rPr sz="1725" b="1">
                <a:solidFill>
                  <a:srgbClr val="356B49"/>
                </a:solidFill>
                <a:latin typeface="Calibri"/>
                <a:ea typeface="Calibri"/>
                <a:cs typeface="Calibri"/>
              </a:rPr>
              <a:t>Protect on the device</a:t>
            </a:r>
          </a:p>
        </p:txBody>
      </p:sp>
      <p:sp>
        <p:nvSpPr>
          <p:cNvPr id="70" name="rev-92">
            <a:extLst xmlns:a="http://schemas.openxmlformats.org/drawingml/2006/main">
              <a:ext uri="{FF2B5EF4-FFF2-40B4-BE49-F238E27FC236}">
                <a16:creationId xmlns:a16="http://schemas.microsoft.com/office/drawing/2014/main" id="{17F23B3C-DBE8-40FB-AF67-2CA49CE1BD0F}"/>
              </a:ext>
            </a:extLst>
          </p:cNvPr>
          <p:cNvSpPr>
            <a:spLocks xmlns:a="http://schemas.openxmlformats.org/drawingml/2006/main" noGrp="1"/>
          </p:cNvSpPr>
          <p:nvPr/>
        </p:nvSpPr>
        <p:spPr>
          <a:xfrm xmlns:a="http://schemas.openxmlformats.org/drawingml/2006/main">
            <a:off x="457200" y="3152775"/>
            <a:ext cx="3486150" cy="609600"/>
          </a:xfrm>
          <a:prstGeom xmlns:a="http://schemas.openxmlformats.org/drawingml/2006/main" prst="rect">
            <a:avLst/>
          </a:prstGeom>
          <a:solidFill xmlns:a="http://schemas.openxmlformats.org/drawingml/2006/main">
            <a:srgbClr val="EDF4EE"/>
          </a:solidFill>
          <a:ln xmlns:a="http://schemas.openxmlformats.org/drawingml/2006/main" w="9525">
            <a:solidFill>
              <a:srgbClr val="EDF4EE"/>
            </a:solidFill>
          </a:ln>
        </p:spPr>
      </p:sp>
      <p:sp>
        <p:nvSpPr>
          <p:cNvPr id="71" name="rev-93">
            <a:extLst xmlns:a="http://schemas.openxmlformats.org/drawingml/2006/main">
              <a:ext uri="{FF2B5EF4-FFF2-40B4-BE49-F238E27FC236}">
                <a16:creationId xmlns:a16="http://schemas.microsoft.com/office/drawing/2014/main" id="{CE0143E9-98C0-468A-B3C3-3486482BF317}"/>
              </a:ext>
            </a:extLst>
          </p:cNvPr>
          <p:cNvSpPr>
            <a:spLocks xmlns:a="http://schemas.openxmlformats.org/drawingml/2006/main" noGrp="1"/>
          </p:cNvSpPr>
          <p:nvPr/>
        </p:nvSpPr>
        <p:spPr>
          <a:xfrm xmlns:a="http://schemas.openxmlformats.org/drawingml/2006/main">
            <a:off x="628650" y="3333750"/>
            <a:ext cx="13144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1">
                <a:solidFill>
                  <a:srgbClr val="202B36"/>
                </a:solidFill>
                <a:latin typeface="Calibri"/>
                <a:ea typeface="Calibri"/>
                <a:cs typeface="Calibri"/>
              </a:defRPr>
            </a:pPr>
            <a:r>
              <a:rPr sz="1650" b="1">
                <a:solidFill>
                  <a:srgbClr val="202B36"/>
                </a:solidFill>
                <a:latin typeface="Calibri"/>
                <a:ea typeface="Calibri"/>
                <a:cs typeface="Calibri"/>
              </a:rPr>
              <a:t>Observe</a:t>
            </a:r>
          </a:p>
        </p:txBody>
      </p:sp>
      <p:sp>
        <p:nvSpPr>
          <p:cNvPr id="72" name="rev-94">
            <a:extLst xmlns:a="http://schemas.openxmlformats.org/drawingml/2006/main">
              <a:ext uri="{FF2B5EF4-FFF2-40B4-BE49-F238E27FC236}">
                <a16:creationId xmlns:a16="http://schemas.microsoft.com/office/drawing/2014/main" id="{BE97153D-B413-4F16-A459-26ED8EDB0416}"/>
              </a:ext>
            </a:extLst>
          </p:cNvPr>
          <p:cNvSpPr>
            <a:spLocks xmlns:a="http://schemas.openxmlformats.org/drawingml/2006/main" noGrp="1"/>
          </p:cNvSpPr>
          <p:nvPr/>
        </p:nvSpPr>
        <p:spPr>
          <a:xfrm xmlns:a="http://schemas.openxmlformats.org/drawingml/2006/main">
            <a:off x="2590800" y="3333750"/>
            <a:ext cx="12668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1">
                <a:solidFill>
                  <a:srgbClr val="202B36"/>
                </a:solidFill>
                <a:latin typeface="Calibri"/>
                <a:ea typeface="Calibri"/>
                <a:cs typeface="Calibri"/>
              </a:defRPr>
            </a:pPr>
            <a:r>
              <a:rPr sz="1650" b="1">
                <a:solidFill>
                  <a:srgbClr val="202B36"/>
                </a:solidFill>
                <a:latin typeface="Calibri"/>
                <a:ea typeface="Calibri"/>
                <a:cs typeface="Calibri"/>
              </a:rPr>
              <a:t>Sanitize</a:t>
            </a:r>
          </a:p>
        </p:txBody>
      </p:sp>
      <p:sp>
        <p:nvSpPr>
          <p:cNvPr id="73" name="">
            <a:extLst xmlns:a="http://schemas.openxmlformats.org/drawingml/2006/main">
              <a:ext uri="{FF2B5EF4-FFF2-40B4-BE49-F238E27FC236}">
                <a16:creationId xmlns:a16="http://schemas.microsoft.com/office/drawing/2014/main" id="{3FEC6991-D11F-46BC-9FDA-3804910A6342}"/>
              </a:ext>
            </a:extLst>
          </p:cNvPr>
          <p:cNvSpPr>
            <a:spLocks xmlns:a="http://schemas.openxmlformats.org/drawingml/2006/main" noGrp="1"/>
          </p:cNvSpPr>
          <p:nvPr/>
        </p:nvSpPr>
        <p:spPr>
          <a:xfrm xmlns:a="http://schemas.openxmlformats.org/drawingml/2006/main">
            <a:off x="2076450" y="3419475"/>
            <a:ext cx="323850" cy="133350"/>
          </a:xfrm>
          <a:prstGeom xmlns:a="http://schemas.openxmlformats.org/drawingml/2006/main" prst="rightArrow">
            <a:avLst/>
          </a:prstGeom>
          <a:solidFill xmlns:a="http://schemas.openxmlformats.org/drawingml/2006/main">
            <a:srgbClr val="356B49"/>
          </a:solidFill>
          <a:ln xmlns:a="http://schemas.openxmlformats.org/drawingml/2006/main" w="0">
            <a:noFill/>
          </a:ln>
        </p:spPr>
      </p:sp>
      <p:sp>
        <p:nvSpPr>
          <p:cNvPr id="74" name="rev-95">
            <a:extLst xmlns:a="http://schemas.openxmlformats.org/drawingml/2006/main">
              <a:ext uri="{FF2B5EF4-FFF2-40B4-BE49-F238E27FC236}">
                <a16:creationId xmlns:a16="http://schemas.microsoft.com/office/drawing/2014/main" id="{944B8FB2-9DC0-455C-B68B-333116D64F7B}"/>
              </a:ext>
            </a:extLst>
          </p:cNvPr>
          <p:cNvSpPr>
            <a:spLocks xmlns:a="http://schemas.openxmlformats.org/drawingml/2006/main" noGrp="1"/>
          </p:cNvSpPr>
          <p:nvPr/>
        </p:nvSpPr>
        <p:spPr>
          <a:xfrm xmlns:a="http://schemas.openxmlformats.org/drawingml/2006/main">
            <a:off x="457200" y="3867150"/>
            <a:ext cx="3486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53616D"/>
                </a:solidFill>
                <a:latin typeface="Calibri"/>
                <a:ea typeface="Calibri"/>
                <a:cs typeface="Calibri"/>
              </a:defRPr>
            </a:pPr>
            <a:r>
              <a:rPr sz="1350">
                <a:solidFill>
                  <a:srgbClr val="53616D"/>
                </a:solidFill>
                <a:latin typeface="Calibri"/>
                <a:ea typeface="Calibri"/>
                <a:cs typeface="Calibri"/>
              </a:rPr>
              <a:t>Screen + DOM; local privacy filter</a:t>
            </a:r>
          </a:p>
        </p:txBody>
      </p:sp>
      <p:sp>
        <p:nvSpPr>
          <p:cNvPr id="75" name="">
            <a:extLst xmlns:a="http://schemas.openxmlformats.org/drawingml/2006/main">
              <a:ext uri="{FF2B5EF4-FFF2-40B4-BE49-F238E27FC236}">
                <a16:creationId xmlns:a16="http://schemas.microsoft.com/office/drawing/2014/main" id="{1F726D44-56FD-45EE-BE8A-707FB71E602D}"/>
              </a:ext>
            </a:extLst>
          </p:cNvPr>
          <p:cNvSpPr>
            <a:spLocks xmlns:a="http://schemas.openxmlformats.org/drawingml/2006/main" noGrp="1"/>
          </p:cNvSpPr>
          <p:nvPr/>
        </p:nvSpPr>
        <p:spPr>
          <a:xfrm xmlns:a="http://schemas.openxmlformats.org/drawingml/2006/main">
            <a:off x="4057650" y="3324225"/>
            <a:ext cx="171450" cy="257175"/>
          </a:xfrm>
          <a:prstGeom xmlns:a="http://schemas.openxmlformats.org/drawingml/2006/main" prst="chevron">
            <a:avLst/>
          </a:prstGeom>
          <a:solidFill xmlns:a="http://schemas.openxmlformats.org/drawingml/2006/main">
            <a:srgbClr val="356B49"/>
          </a:solidFill>
          <a:ln xmlns:a="http://schemas.openxmlformats.org/drawingml/2006/main" w="0">
            <a:noFill/>
          </a:ln>
        </p:spPr>
      </p:sp>
      <p:sp>
        <p:nvSpPr>
          <p:cNvPr id="76" name="rev-96">
            <a:extLst xmlns:a="http://schemas.openxmlformats.org/drawingml/2006/main">
              <a:ext uri="{FF2B5EF4-FFF2-40B4-BE49-F238E27FC236}">
                <a16:creationId xmlns:a16="http://schemas.microsoft.com/office/drawing/2014/main" id="{3526E565-EEB5-48D5-9701-49E01E1AAA58}"/>
              </a:ext>
            </a:extLst>
          </p:cNvPr>
          <p:cNvSpPr>
            <a:spLocks xmlns:a="http://schemas.openxmlformats.org/drawingml/2006/main" noGrp="1"/>
          </p:cNvSpPr>
          <p:nvPr/>
        </p:nvSpPr>
        <p:spPr>
          <a:xfrm xmlns:a="http://schemas.openxmlformats.org/drawingml/2006/main">
            <a:off x="4343400" y="2647950"/>
            <a:ext cx="5810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356B49"/>
                </a:solidFill>
                <a:latin typeface="Calibri"/>
                <a:ea typeface="Calibri"/>
                <a:cs typeface="Calibri"/>
              </a:defRPr>
            </a:pPr>
            <a:r>
              <a:rPr sz="2550" b="1">
                <a:solidFill>
                  <a:srgbClr val="356B49"/>
                </a:solidFill>
                <a:latin typeface="Calibri"/>
                <a:ea typeface="Calibri"/>
                <a:cs typeface="Calibri"/>
              </a:rPr>
              <a:t>02</a:t>
            </a:r>
          </a:p>
        </p:txBody>
      </p:sp>
      <p:sp>
        <p:nvSpPr>
          <p:cNvPr id="77" name="rev-97">
            <a:extLst xmlns:a="http://schemas.openxmlformats.org/drawingml/2006/main">
              <a:ext uri="{FF2B5EF4-FFF2-40B4-BE49-F238E27FC236}">
                <a16:creationId xmlns:a16="http://schemas.microsoft.com/office/drawing/2014/main" id="{7775104E-8ECF-46DC-B5B8-6E9A622EBFC8}"/>
              </a:ext>
            </a:extLst>
          </p:cNvPr>
          <p:cNvSpPr>
            <a:spLocks xmlns:a="http://schemas.openxmlformats.org/drawingml/2006/main" noGrp="1"/>
          </p:cNvSpPr>
          <p:nvPr/>
        </p:nvSpPr>
        <p:spPr>
          <a:xfrm xmlns:a="http://schemas.openxmlformats.org/drawingml/2006/main">
            <a:off x="4972050" y="2695575"/>
            <a:ext cx="2876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356B49"/>
                </a:solidFill>
                <a:latin typeface="Calibri"/>
                <a:ea typeface="Calibri"/>
                <a:cs typeface="Calibri"/>
              </a:defRPr>
            </a:pPr>
            <a:r>
              <a:rPr sz="1725" b="1">
                <a:solidFill>
                  <a:srgbClr val="356B49"/>
                </a:solidFill>
                <a:latin typeface="Calibri"/>
                <a:ea typeface="Calibri"/>
                <a:cs typeface="Calibri"/>
              </a:rPr>
              <a:t>Plan from safe context</a:t>
            </a:r>
          </a:p>
        </p:txBody>
      </p:sp>
      <p:sp>
        <p:nvSpPr>
          <p:cNvPr id="78" name="rev-98">
            <a:extLst xmlns:a="http://schemas.openxmlformats.org/drawingml/2006/main">
              <a:ext uri="{FF2B5EF4-FFF2-40B4-BE49-F238E27FC236}">
                <a16:creationId xmlns:a16="http://schemas.microsoft.com/office/drawing/2014/main" id="{BAAA259C-F61A-4B17-B00E-FF817C6C31B1}"/>
              </a:ext>
            </a:extLst>
          </p:cNvPr>
          <p:cNvSpPr>
            <a:spLocks xmlns:a="http://schemas.openxmlformats.org/drawingml/2006/main" noGrp="1"/>
          </p:cNvSpPr>
          <p:nvPr/>
        </p:nvSpPr>
        <p:spPr>
          <a:xfrm xmlns:a="http://schemas.openxmlformats.org/drawingml/2006/main">
            <a:off x="4343400" y="3152775"/>
            <a:ext cx="3486150" cy="609600"/>
          </a:xfrm>
          <a:prstGeom xmlns:a="http://schemas.openxmlformats.org/drawingml/2006/main" prst="rect">
            <a:avLst/>
          </a:prstGeom>
          <a:solidFill xmlns:a="http://schemas.openxmlformats.org/drawingml/2006/main">
            <a:srgbClr val="EDF4EE"/>
          </a:solidFill>
          <a:ln xmlns:a="http://schemas.openxmlformats.org/drawingml/2006/main" w="9525">
            <a:solidFill>
              <a:srgbClr val="EDF4EE"/>
            </a:solidFill>
          </a:ln>
        </p:spPr>
      </p:sp>
      <p:sp>
        <p:nvSpPr>
          <p:cNvPr id="79" name="rev-99">
            <a:extLst xmlns:a="http://schemas.openxmlformats.org/drawingml/2006/main">
              <a:ext uri="{FF2B5EF4-FFF2-40B4-BE49-F238E27FC236}">
                <a16:creationId xmlns:a16="http://schemas.microsoft.com/office/drawing/2014/main" id="{542B92F7-7F71-4C44-AA88-A01435D65810}"/>
              </a:ext>
            </a:extLst>
          </p:cNvPr>
          <p:cNvSpPr>
            <a:spLocks xmlns:a="http://schemas.openxmlformats.org/drawingml/2006/main" noGrp="1"/>
          </p:cNvSpPr>
          <p:nvPr/>
        </p:nvSpPr>
        <p:spPr>
          <a:xfrm xmlns:a="http://schemas.openxmlformats.org/drawingml/2006/main">
            <a:off x="4514850" y="3333750"/>
            <a:ext cx="13144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1">
                <a:solidFill>
                  <a:srgbClr val="202B36"/>
                </a:solidFill>
                <a:latin typeface="Calibri"/>
                <a:ea typeface="Calibri"/>
                <a:cs typeface="Calibri"/>
              </a:defRPr>
            </a:pPr>
            <a:r>
              <a:rPr sz="1650" b="1">
                <a:solidFill>
                  <a:srgbClr val="202B36"/>
                </a:solidFill>
                <a:latin typeface="Calibri"/>
                <a:ea typeface="Calibri"/>
                <a:cs typeface="Calibri"/>
              </a:rPr>
              <a:t>Send</a:t>
            </a:r>
          </a:p>
        </p:txBody>
      </p:sp>
      <p:sp>
        <p:nvSpPr>
          <p:cNvPr id="80" name="rev-100">
            <a:extLst xmlns:a="http://schemas.openxmlformats.org/drawingml/2006/main">
              <a:ext uri="{FF2B5EF4-FFF2-40B4-BE49-F238E27FC236}">
                <a16:creationId xmlns:a16="http://schemas.microsoft.com/office/drawing/2014/main" id="{41DEF0D4-9482-477F-839C-F2951B723975}"/>
              </a:ext>
            </a:extLst>
          </p:cNvPr>
          <p:cNvSpPr>
            <a:spLocks xmlns:a="http://schemas.openxmlformats.org/drawingml/2006/main" noGrp="1"/>
          </p:cNvSpPr>
          <p:nvPr/>
        </p:nvSpPr>
        <p:spPr>
          <a:xfrm xmlns:a="http://schemas.openxmlformats.org/drawingml/2006/main">
            <a:off x="6477000" y="3333750"/>
            <a:ext cx="12668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1">
                <a:solidFill>
                  <a:srgbClr val="202B36"/>
                </a:solidFill>
                <a:latin typeface="Calibri"/>
                <a:ea typeface="Calibri"/>
                <a:cs typeface="Calibri"/>
              </a:defRPr>
            </a:pPr>
            <a:r>
              <a:rPr sz="1650" b="1">
                <a:solidFill>
                  <a:srgbClr val="202B36"/>
                </a:solidFill>
                <a:latin typeface="Calibri"/>
                <a:ea typeface="Calibri"/>
                <a:cs typeface="Calibri"/>
              </a:rPr>
              <a:t>Plan</a:t>
            </a:r>
          </a:p>
        </p:txBody>
      </p:sp>
      <p:sp>
        <p:nvSpPr>
          <p:cNvPr id="81" name="">
            <a:extLst xmlns:a="http://schemas.openxmlformats.org/drawingml/2006/main">
              <a:ext uri="{FF2B5EF4-FFF2-40B4-BE49-F238E27FC236}">
                <a16:creationId xmlns:a16="http://schemas.microsoft.com/office/drawing/2014/main" id="{E593EA85-BBD8-4E6F-8DD6-D2DD7403EEB8}"/>
              </a:ext>
            </a:extLst>
          </p:cNvPr>
          <p:cNvSpPr>
            <a:spLocks xmlns:a="http://schemas.openxmlformats.org/drawingml/2006/main" noGrp="1"/>
          </p:cNvSpPr>
          <p:nvPr/>
        </p:nvSpPr>
        <p:spPr>
          <a:xfrm xmlns:a="http://schemas.openxmlformats.org/drawingml/2006/main">
            <a:off x="5962650" y="3419475"/>
            <a:ext cx="323850" cy="133350"/>
          </a:xfrm>
          <a:prstGeom xmlns:a="http://schemas.openxmlformats.org/drawingml/2006/main" prst="rightArrow">
            <a:avLst/>
          </a:prstGeom>
          <a:solidFill xmlns:a="http://schemas.openxmlformats.org/drawingml/2006/main">
            <a:srgbClr val="356B49"/>
          </a:solidFill>
          <a:ln xmlns:a="http://schemas.openxmlformats.org/drawingml/2006/main" w="0">
            <a:noFill/>
          </a:ln>
        </p:spPr>
      </p:sp>
      <p:sp>
        <p:nvSpPr>
          <p:cNvPr id="82" name="rev-101">
            <a:extLst xmlns:a="http://schemas.openxmlformats.org/drawingml/2006/main">
              <a:ext uri="{FF2B5EF4-FFF2-40B4-BE49-F238E27FC236}">
                <a16:creationId xmlns:a16="http://schemas.microsoft.com/office/drawing/2014/main" id="{BB66A16A-E62B-42D8-A9E9-DE9D2EAAF463}"/>
              </a:ext>
            </a:extLst>
          </p:cNvPr>
          <p:cNvSpPr>
            <a:spLocks xmlns:a="http://schemas.openxmlformats.org/drawingml/2006/main" noGrp="1"/>
          </p:cNvSpPr>
          <p:nvPr/>
        </p:nvSpPr>
        <p:spPr>
          <a:xfrm xmlns:a="http://schemas.openxmlformats.org/drawingml/2006/main">
            <a:off x="4343400" y="3867150"/>
            <a:ext cx="3486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53616D"/>
                </a:solidFill>
                <a:latin typeface="Calibri"/>
                <a:ea typeface="Calibri"/>
                <a:cs typeface="Calibri"/>
              </a:defRPr>
            </a:pPr>
            <a:r>
              <a:rPr sz="1350">
                <a:solidFill>
                  <a:srgbClr val="53616D"/>
                </a:solidFill>
                <a:latin typeface="Calibri"/>
                <a:ea typeface="Calibri"/>
                <a:cs typeface="Calibri"/>
              </a:rPr>
              <a:t>Filtered request; choose Download</a:t>
            </a:r>
          </a:p>
        </p:txBody>
      </p:sp>
      <p:sp>
        <p:nvSpPr>
          <p:cNvPr id="83" name="">
            <a:extLst xmlns:a="http://schemas.openxmlformats.org/drawingml/2006/main">
              <a:ext uri="{FF2B5EF4-FFF2-40B4-BE49-F238E27FC236}">
                <a16:creationId xmlns:a16="http://schemas.microsoft.com/office/drawing/2014/main" id="{BB7A1565-E4D4-4A75-8A1A-6C49A46F0CFF}"/>
              </a:ext>
            </a:extLst>
          </p:cNvPr>
          <p:cNvSpPr>
            <a:spLocks xmlns:a="http://schemas.openxmlformats.org/drawingml/2006/main" noGrp="1"/>
          </p:cNvSpPr>
          <p:nvPr/>
        </p:nvSpPr>
        <p:spPr>
          <a:xfrm xmlns:a="http://schemas.openxmlformats.org/drawingml/2006/main">
            <a:off x="7943850" y="3324225"/>
            <a:ext cx="171450" cy="257175"/>
          </a:xfrm>
          <a:prstGeom xmlns:a="http://schemas.openxmlformats.org/drawingml/2006/main" prst="chevron">
            <a:avLst/>
          </a:prstGeom>
          <a:solidFill xmlns:a="http://schemas.openxmlformats.org/drawingml/2006/main">
            <a:srgbClr val="356B49"/>
          </a:solidFill>
          <a:ln xmlns:a="http://schemas.openxmlformats.org/drawingml/2006/main" w="0">
            <a:noFill/>
          </a:ln>
        </p:spPr>
      </p:sp>
      <p:sp>
        <p:nvSpPr>
          <p:cNvPr id="84" name="rev-102">
            <a:extLst xmlns:a="http://schemas.openxmlformats.org/drawingml/2006/main">
              <a:ext uri="{FF2B5EF4-FFF2-40B4-BE49-F238E27FC236}">
                <a16:creationId xmlns:a16="http://schemas.microsoft.com/office/drawing/2014/main" id="{19C550B3-85F3-483E-A198-EB240BD04D5B}"/>
              </a:ext>
            </a:extLst>
          </p:cNvPr>
          <p:cNvSpPr>
            <a:spLocks xmlns:a="http://schemas.openxmlformats.org/drawingml/2006/main" noGrp="1"/>
          </p:cNvSpPr>
          <p:nvPr/>
        </p:nvSpPr>
        <p:spPr>
          <a:xfrm xmlns:a="http://schemas.openxmlformats.org/drawingml/2006/main">
            <a:off x="8229600" y="2647950"/>
            <a:ext cx="58102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356B49"/>
                </a:solidFill>
                <a:latin typeface="Calibri"/>
                <a:ea typeface="Calibri"/>
                <a:cs typeface="Calibri"/>
              </a:defRPr>
            </a:pPr>
            <a:r>
              <a:rPr sz="2550" b="1">
                <a:solidFill>
                  <a:srgbClr val="356B49"/>
                </a:solidFill>
                <a:latin typeface="Calibri"/>
                <a:ea typeface="Calibri"/>
                <a:cs typeface="Calibri"/>
              </a:rPr>
              <a:t>03</a:t>
            </a:r>
          </a:p>
        </p:txBody>
      </p:sp>
      <p:sp>
        <p:nvSpPr>
          <p:cNvPr id="85" name="rev-103">
            <a:extLst xmlns:a="http://schemas.openxmlformats.org/drawingml/2006/main">
              <a:ext uri="{FF2B5EF4-FFF2-40B4-BE49-F238E27FC236}">
                <a16:creationId xmlns:a16="http://schemas.microsoft.com/office/drawing/2014/main" id="{C05E33A7-5DDB-4029-A8D5-740D3F8092AB}"/>
              </a:ext>
            </a:extLst>
          </p:cNvPr>
          <p:cNvSpPr>
            <a:spLocks xmlns:a="http://schemas.openxmlformats.org/drawingml/2006/main" noGrp="1"/>
          </p:cNvSpPr>
          <p:nvPr/>
        </p:nvSpPr>
        <p:spPr>
          <a:xfrm xmlns:a="http://schemas.openxmlformats.org/drawingml/2006/main">
            <a:off x="8858250" y="2695575"/>
            <a:ext cx="2876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1">
                <a:solidFill>
                  <a:srgbClr val="356B49"/>
                </a:solidFill>
                <a:latin typeface="Calibri"/>
                <a:ea typeface="Calibri"/>
                <a:cs typeface="Calibri"/>
              </a:defRPr>
            </a:pPr>
            <a:r>
              <a:rPr sz="1725" b="1">
                <a:solidFill>
                  <a:srgbClr val="356B49"/>
                </a:solidFill>
                <a:latin typeface="Calibri"/>
                <a:ea typeface="Calibri"/>
                <a:cs typeface="Calibri"/>
              </a:rPr>
              <a:t>Act and confirm</a:t>
            </a:r>
          </a:p>
        </p:txBody>
      </p:sp>
      <p:sp>
        <p:nvSpPr>
          <p:cNvPr id="86" name="rev-104">
            <a:extLst xmlns:a="http://schemas.openxmlformats.org/drawingml/2006/main">
              <a:ext uri="{FF2B5EF4-FFF2-40B4-BE49-F238E27FC236}">
                <a16:creationId xmlns:a16="http://schemas.microsoft.com/office/drawing/2014/main" id="{3B3CA122-82BC-445E-A907-C9735518EF21}"/>
              </a:ext>
            </a:extLst>
          </p:cNvPr>
          <p:cNvSpPr>
            <a:spLocks xmlns:a="http://schemas.openxmlformats.org/drawingml/2006/main" noGrp="1"/>
          </p:cNvSpPr>
          <p:nvPr/>
        </p:nvSpPr>
        <p:spPr>
          <a:xfrm xmlns:a="http://schemas.openxmlformats.org/drawingml/2006/main">
            <a:off x="8229600" y="3152775"/>
            <a:ext cx="3486150" cy="609600"/>
          </a:xfrm>
          <a:prstGeom xmlns:a="http://schemas.openxmlformats.org/drawingml/2006/main" prst="rect">
            <a:avLst/>
          </a:prstGeom>
          <a:solidFill xmlns:a="http://schemas.openxmlformats.org/drawingml/2006/main">
            <a:srgbClr val="EDF4EE"/>
          </a:solidFill>
          <a:ln xmlns:a="http://schemas.openxmlformats.org/drawingml/2006/main" w="9525">
            <a:solidFill>
              <a:srgbClr val="EDF4EE"/>
            </a:solidFill>
          </a:ln>
        </p:spPr>
      </p:sp>
      <p:sp>
        <p:nvSpPr>
          <p:cNvPr id="87" name="rev-105">
            <a:extLst xmlns:a="http://schemas.openxmlformats.org/drawingml/2006/main">
              <a:ext uri="{FF2B5EF4-FFF2-40B4-BE49-F238E27FC236}">
                <a16:creationId xmlns:a16="http://schemas.microsoft.com/office/drawing/2014/main" id="{43AACBBA-60CB-4130-9370-ABCA5A1BE5E4}"/>
              </a:ext>
            </a:extLst>
          </p:cNvPr>
          <p:cNvSpPr>
            <a:spLocks xmlns:a="http://schemas.openxmlformats.org/drawingml/2006/main" noGrp="1"/>
          </p:cNvSpPr>
          <p:nvPr/>
        </p:nvSpPr>
        <p:spPr>
          <a:xfrm xmlns:a="http://schemas.openxmlformats.org/drawingml/2006/main">
            <a:off x="8401050" y="3333750"/>
            <a:ext cx="13144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1">
                <a:solidFill>
                  <a:srgbClr val="202B36"/>
                </a:solidFill>
                <a:latin typeface="Calibri"/>
                <a:ea typeface="Calibri"/>
                <a:cs typeface="Calibri"/>
              </a:defRPr>
            </a:pPr>
            <a:r>
              <a:rPr sz="1650" b="1">
                <a:solidFill>
                  <a:srgbClr val="202B36"/>
                </a:solidFill>
                <a:latin typeface="Calibri"/>
                <a:ea typeface="Calibri"/>
                <a:cs typeface="Calibri"/>
              </a:rPr>
              <a:t>Execute</a:t>
            </a:r>
          </a:p>
        </p:txBody>
      </p:sp>
      <p:sp>
        <p:nvSpPr>
          <p:cNvPr id="88" name="rev-106">
            <a:extLst xmlns:a="http://schemas.openxmlformats.org/drawingml/2006/main">
              <a:ext uri="{FF2B5EF4-FFF2-40B4-BE49-F238E27FC236}">
                <a16:creationId xmlns:a16="http://schemas.microsoft.com/office/drawing/2014/main" id="{E865D1E8-B27D-4350-8A2E-365476D95B6B}"/>
              </a:ext>
            </a:extLst>
          </p:cNvPr>
          <p:cNvSpPr>
            <a:spLocks xmlns:a="http://schemas.openxmlformats.org/drawingml/2006/main" noGrp="1"/>
          </p:cNvSpPr>
          <p:nvPr/>
        </p:nvSpPr>
        <p:spPr>
          <a:xfrm xmlns:a="http://schemas.openxmlformats.org/drawingml/2006/main">
            <a:off x="10363200" y="3333750"/>
            <a:ext cx="12668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1">
                <a:solidFill>
                  <a:srgbClr val="202B36"/>
                </a:solidFill>
                <a:latin typeface="Calibri"/>
                <a:ea typeface="Calibri"/>
                <a:cs typeface="Calibri"/>
              </a:defRPr>
            </a:pPr>
            <a:r>
              <a:rPr sz="1650" b="1">
                <a:solidFill>
                  <a:srgbClr val="202B36"/>
                </a:solidFill>
                <a:latin typeface="Calibri"/>
                <a:ea typeface="Calibri"/>
                <a:cs typeface="Calibri"/>
              </a:rPr>
              <a:t>Verify</a:t>
            </a:r>
          </a:p>
        </p:txBody>
      </p:sp>
      <p:sp>
        <p:nvSpPr>
          <p:cNvPr id="89" name="">
            <a:extLst xmlns:a="http://schemas.openxmlformats.org/drawingml/2006/main">
              <a:ext uri="{FF2B5EF4-FFF2-40B4-BE49-F238E27FC236}">
                <a16:creationId xmlns:a16="http://schemas.microsoft.com/office/drawing/2014/main" id="{3466CF68-E018-4C8B-A158-5130F70FFF71}"/>
              </a:ext>
            </a:extLst>
          </p:cNvPr>
          <p:cNvSpPr>
            <a:spLocks xmlns:a="http://schemas.openxmlformats.org/drawingml/2006/main" noGrp="1"/>
          </p:cNvSpPr>
          <p:nvPr/>
        </p:nvSpPr>
        <p:spPr>
          <a:xfrm xmlns:a="http://schemas.openxmlformats.org/drawingml/2006/main">
            <a:off x="9848850" y="3419475"/>
            <a:ext cx="323850" cy="133350"/>
          </a:xfrm>
          <a:prstGeom xmlns:a="http://schemas.openxmlformats.org/drawingml/2006/main" prst="rightArrow">
            <a:avLst/>
          </a:prstGeom>
          <a:solidFill xmlns:a="http://schemas.openxmlformats.org/drawingml/2006/main">
            <a:srgbClr val="356B49"/>
          </a:solidFill>
          <a:ln xmlns:a="http://schemas.openxmlformats.org/drawingml/2006/main" w="0">
            <a:noFill/>
          </a:ln>
        </p:spPr>
      </p:sp>
      <p:sp>
        <p:nvSpPr>
          <p:cNvPr id="90" name="rev-107">
            <a:extLst xmlns:a="http://schemas.openxmlformats.org/drawingml/2006/main">
              <a:ext uri="{FF2B5EF4-FFF2-40B4-BE49-F238E27FC236}">
                <a16:creationId xmlns:a16="http://schemas.microsoft.com/office/drawing/2014/main" id="{216DEFA5-F526-4AF2-A483-BB33B43E8331}"/>
              </a:ext>
            </a:extLst>
          </p:cNvPr>
          <p:cNvSpPr>
            <a:spLocks xmlns:a="http://schemas.openxmlformats.org/drawingml/2006/main" noGrp="1"/>
          </p:cNvSpPr>
          <p:nvPr/>
        </p:nvSpPr>
        <p:spPr>
          <a:xfrm xmlns:a="http://schemas.openxmlformats.org/drawingml/2006/main">
            <a:off x="8229600" y="3867150"/>
            <a:ext cx="3486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53616D"/>
                </a:solidFill>
                <a:latin typeface="Calibri"/>
                <a:ea typeface="Calibri"/>
                <a:cs typeface="Calibri"/>
              </a:defRPr>
            </a:pPr>
            <a:r>
              <a:rPr sz="1350">
                <a:solidFill>
                  <a:srgbClr val="53616D"/>
                </a:solidFill>
                <a:latin typeface="Calibri"/>
                <a:ea typeface="Calibri"/>
                <a:cs typeface="Calibri"/>
              </a:rPr>
              <a:t>Guarded click; confirm download</a:t>
            </a:r>
          </a:p>
        </p:txBody>
      </p:sp>
      <p:sp>
        <p:nvSpPr>
          <p:cNvPr id="91" name="rev-108">
            <a:extLst xmlns:a="http://schemas.openxmlformats.org/drawingml/2006/main">
              <a:ext uri="{FF2B5EF4-FFF2-40B4-BE49-F238E27FC236}">
                <a16:creationId xmlns:a16="http://schemas.microsoft.com/office/drawing/2014/main" id="{3E156BBD-F566-4F4B-859E-36A972564130}"/>
              </a:ext>
            </a:extLst>
          </p:cNvPr>
          <p:cNvSpPr>
            <a:spLocks xmlns:a="http://schemas.openxmlformats.org/drawingml/2006/main" noGrp="1"/>
          </p:cNvSpPr>
          <p:nvPr/>
        </p:nvSpPr>
        <p:spPr>
          <a:xfrm xmlns:a="http://schemas.openxmlformats.org/drawingml/2006/main">
            <a:off x="457200" y="4419600"/>
            <a:ext cx="7334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1">
                <a:solidFill>
                  <a:srgbClr val="356B49"/>
                </a:solidFill>
                <a:latin typeface="Calibri"/>
                <a:ea typeface="Calibri"/>
                <a:cs typeface="Calibri"/>
              </a:defRPr>
            </a:pPr>
            <a:r>
              <a:rPr sz="1275" b="1">
                <a:solidFill>
                  <a:srgbClr val="356B49"/>
                </a:solidFill>
                <a:latin typeface="Calibri"/>
                <a:ea typeface="Calibri"/>
                <a:cs typeface="Calibri"/>
              </a:rPr>
              <a:t>Measured on 48 synthetic pages: sanitize, send and select a control</a:t>
            </a:r>
          </a:p>
        </p:txBody>
      </p:sp>
      <p:sp>
        <p:nvSpPr>
          <p:cNvPr id="92" name="rev-109">
            <a:extLst xmlns:a="http://schemas.openxmlformats.org/drawingml/2006/main">
              <a:ext uri="{FF2B5EF4-FFF2-40B4-BE49-F238E27FC236}">
                <a16:creationId xmlns:a16="http://schemas.microsoft.com/office/drawing/2014/main" id="{BC995700-F7F8-49B3-AE06-366D4DB84B14}"/>
              </a:ext>
            </a:extLst>
          </p:cNvPr>
          <p:cNvSpPr>
            <a:spLocks xmlns:a="http://schemas.openxmlformats.org/drawingml/2006/main" noGrp="1"/>
          </p:cNvSpPr>
          <p:nvPr/>
        </p:nvSpPr>
        <p:spPr>
          <a:xfrm xmlns:a="http://schemas.openxmlformats.org/drawingml/2006/main">
            <a:off x="8229600" y="4419600"/>
            <a:ext cx="3505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b="1">
                <a:solidFill>
                  <a:srgbClr val="356B49"/>
                </a:solidFill>
                <a:latin typeface="Calibri"/>
                <a:ea typeface="Calibri"/>
                <a:cs typeface="Calibri"/>
              </a:defRPr>
            </a:pPr>
            <a:r>
              <a:rPr sz="1275" b="1">
                <a:solidFill>
                  <a:srgbClr val="356B49"/>
                </a:solidFill>
                <a:latin typeface="Calibri"/>
                <a:ea typeface="Calibri"/>
                <a:cs typeface="Calibri"/>
              </a:rPr>
              <a:t>Demo flow; completion timing pending</a:t>
            </a:r>
          </a:p>
        </p:txBody>
      </p:sp>
      <p:sp>
        <p:nvSpPr>
          <p:cNvPr id="93" name="rev-110">
            <a:extLst xmlns:a="http://schemas.openxmlformats.org/drawingml/2006/main">
              <a:ext uri="{FF2B5EF4-FFF2-40B4-BE49-F238E27FC236}">
                <a16:creationId xmlns:a16="http://schemas.microsoft.com/office/drawing/2014/main" id="{7A9CFD6F-51A1-4D88-B188-8FF00F9A3AB3}"/>
              </a:ext>
            </a:extLst>
          </p:cNvPr>
          <p:cNvSpPr>
            <a:spLocks xmlns:a="http://schemas.openxmlformats.org/drawingml/2006/main" noGrp="1"/>
          </p:cNvSpPr>
          <p:nvPr/>
        </p:nvSpPr>
        <p:spPr>
          <a:xfrm xmlns:a="http://schemas.openxmlformats.org/drawingml/2006/main">
            <a:off x="457200" y="4810125"/>
            <a:ext cx="11277600" cy="0"/>
          </a:xfrm>
          <a:prstGeom xmlns:a="http://schemas.openxmlformats.org/drawingml/2006/main" prst="line">
            <a:avLst/>
          </a:prstGeom>
          <a:noFill xmlns:a="http://schemas.openxmlformats.org/drawingml/2006/main"/>
          <a:ln xmlns:a="http://schemas.openxmlformats.org/drawingml/2006/main" w="9525">
            <a:solidFill>
              <a:srgbClr val="CBD3DA"/>
            </a:solidFill>
          </a:ln>
        </p:spPr>
      </p:sp>
      <p:sp>
        <p:nvSpPr>
          <p:cNvPr id="94" name="rev-111">
            <a:extLst xmlns:a="http://schemas.openxmlformats.org/drawingml/2006/main">
              <a:ext uri="{FF2B5EF4-FFF2-40B4-BE49-F238E27FC236}">
                <a16:creationId xmlns:a16="http://schemas.microsoft.com/office/drawing/2014/main" id="{9EC71A1F-EA5A-4504-95B9-E93F4D334FAE}"/>
              </a:ext>
            </a:extLst>
          </p:cNvPr>
          <p:cNvSpPr>
            <a:spLocks xmlns:a="http://schemas.openxmlformats.org/drawingml/2006/main" noGrp="1"/>
          </p:cNvSpPr>
          <p:nvPr/>
        </p:nvSpPr>
        <p:spPr>
          <a:xfrm xmlns:a="http://schemas.openxmlformats.org/drawingml/2006/main">
            <a:off x="457200" y="4991100"/>
            <a:ext cx="11049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356B49"/>
                </a:solidFill>
                <a:latin typeface="Calibri"/>
                <a:ea typeface="Calibri"/>
                <a:cs typeface="Calibri"/>
              </a:defRPr>
            </a:pPr>
            <a:r>
              <a:rPr sz="1500" b="1">
                <a:solidFill>
                  <a:srgbClr val="356B49"/>
                </a:solidFill>
                <a:latin typeface="Calibri"/>
                <a:ea typeface="Calibri"/>
                <a:cs typeface="Calibri"/>
              </a:rPr>
              <a:t>Benefits of the solution</a:t>
            </a:r>
          </a:p>
        </p:txBody>
      </p:sp>
      <p:sp>
        <p:nvSpPr>
          <p:cNvPr id="95" name="rev-112">
            <a:extLst xmlns:a="http://schemas.openxmlformats.org/drawingml/2006/main">
              <a:ext uri="{FF2B5EF4-FFF2-40B4-BE49-F238E27FC236}">
                <a16:creationId xmlns:a16="http://schemas.microsoft.com/office/drawing/2014/main" id="{3901C2AD-187D-4A3B-ABDB-5E26431D8D7B}"/>
              </a:ext>
            </a:extLst>
          </p:cNvPr>
          <p:cNvSpPr>
            <a:spLocks xmlns:a="http://schemas.openxmlformats.org/drawingml/2006/main" noGrp="1"/>
          </p:cNvSpPr>
          <p:nvPr/>
        </p:nvSpPr>
        <p:spPr>
          <a:xfrm xmlns:a="http://schemas.openxmlformats.org/drawingml/2006/main">
            <a:off x="457200" y="5400675"/>
            <a:ext cx="26003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1">
                <a:solidFill>
                  <a:srgbClr val="53616D"/>
                </a:solidFill>
                <a:latin typeface="Calibri"/>
                <a:ea typeface="Calibri"/>
                <a:cs typeface="Calibri"/>
              </a:defRPr>
            </a:pPr>
            <a:r>
              <a:rPr sz="1200" b="1">
                <a:solidFill>
                  <a:srgbClr val="53616D"/>
                </a:solidFill>
                <a:latin typeface="Calibri"/>
                <a:ea typeface="Calibri"/>
                <a:cs typeface="Calibri"/>
              </a:rPr>
              <a:t>PRIVACY</a:t>
            </a:r>
          </a:p>
        </p:txBody>
      </p:sp>
      <p:sp>
        <p:nvSpPr>
          <p:cNvPr id="96" name="rev-113">
            <a:extLst xmlns:a="http://schemas.openxmlformats.org/drawingml/2006/main">
              <a:ext uri="{FF2B5EF4-FFF2-40B4-BE49-F238E27FC236}">
                <a16:creationId xmlns:a16="http://schemas.microsoft.com/office/drawing/2014/main" id="{FB5EDD45-FD08-47D5-A809-4D5AF76AA195}"/>
              </a:ext>
            </a:extLst>
          </p:cNvPr>
          <p:cNvSpPr>
            <a:spLocks xmlns:a="http://schemas.openxmlformats.org/drawingml/2006/main" noGrp="1"/>
          </p:cNvSpPr>
          <p:nvPr/>
        </p:nvSpPr>
        <p:spPr>
          <a:xfrm xmlns:a="http://schemas.openxmlformats.org/drawingml/2006/main">
            <a:off x="457200" y="5648325"/>
            <a:ext cx="26003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356B49"/>
                </a:solidFill>
                <a:latin typeface="Calibri"/>
                <a:ea typeface="Calibri"/>
                <a:cs typeface="Calibri"/>
              </a:defRPr>
            </a:pPr>
            <a:r>
              <a:rPr sz="2550" b="1">
                <a:solidFill>
                  <a:srgbClr val="356B49"/>
                </a:solidFill>
                <a:latin typeface="Calibri"/>
                <a:ea typeface="Calibri"/>
                <a:cs typeface="Calibri"/>
              </a:rPr>
              <a:t>0</a:t>
            </a:r>
          </a:p>
        </p:txBody>
      </p:sp>
      <p:sp>
        <p:nvSpPr>
          <p:cNvPr id="97" name="rev-114">
            <a:extLst xmlns:a="http://schemas.openxmlformats.org/drawingml/2006/main">
              <a:ext uri="{FF2B5EF4-FFF2-40B4-BE49-F238E27FC236}">
                <a16:creationId xmlns:a16="http://schemas.microsoft.com/office/drawing/2014/main" id="{06465C09-77E4-4919-B5C7-CE02245E023F}"/>
              </a:ext>
            </a:extLst>
          </p:cNvPr>
          <p:cNvSpPr>
            <a:spLocks xmlns:a="http://schemas.openxmlformats.org/drawingml/2006/main" noGrp="1"/>
          </p:cNvSpPr>
          <p:nvPr/>
        </p:nvSpPr>
        <p:spPr>
          <a:xfrm xmlns:a="http://schemas.openxmlformats.org/drawingml/2006/main">
            <a:off x="457200" y="6067425"/>
            <a:ext cx="2667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202B36"/>
                </a:solidFill>
                <a:latin typeface="Calibri"/>
                <a:ea typeface="Calibri"/>
                <a:cs typeface="Calibri"/>
              </a:defRPr>
            </a:pPr>
            <a:r>
              <a:rPr sz="1275">
                <a:solidFill>
                  <a:srgbClr val="202B36"/>
                </a:solidFill>
                <a:latin typeface="Calibri"/>
                <a:ea typeface="Calibri"/>
                <a:cs typeface="Calibri"/>
              </a:rPr>
              <a:t>PII strings in sent metadata</a:t>
            </a:r>
          </a:p>
        </p:txBody>
      </p:sp>
      <p:sp>
        <p:nvSpPr>
          <p:cNvPr id="98" name="rev-115">
            <a:extLst xmlns:a="http://schemas.openxmlformats.org/drawingml/2006/main">
              <a:ext uri="{FF2B5EF4-FFF2-40B4-BE49-F238E27FC236}">
                <a16:creationId xmlns:a16="http://schemas.microsoft.com/office/drawing/2014/main" id="{FCB2D7D5-154F-4C40-B4BC-9C3B16CCFB04}"/>
              </a:ext>
            </a:extLst>
          </p:cNvPr>
          <p:cNvSpPr>
            <a:spLocks xmlns:a="http://schemas.openxmlformats.org/drawingml/2006/main" noGrp="1"/>
          </p:cNvSpPr>
          <p:nvPr/>
        </p:nvSpPr>
        <p:spPr>
          <a:xfrm xmlns:a="http://schemas.openxmlformats.org/drawingml/2006/main">
            <a:off x="3333750" y="5400675"/>
            <a:ext cx="26003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1">
                <a:solidFill>
                  <a:srgbClr val="53616D"/>
                </a:solidFill>
                <a:latin typeface="Calibri"/>
                <a:ea typeface="Calibri"/>
                <a:cs typeface="Calibri"/>
              </a:defRPr>
            </a:pPr>
            <a:r>
              <a:rPr sz="1200" b="1">
                <a:solidFill>
                  <a:srgbClr val="53616D"/>
                </a:solidFill>
                <a:latin typeface="Calibri"/>
                <a:ea typeface="Calibri"/>
                <a:cs typeface="Calibri"/>
              </a:rPr>
              <a:t>SPEED</a:t>
            </a:r>
          </a:p>
        </p:txBody>
      </p:sp>
      <p:sp>
        <p:nvSpPr>
          <p:cNvPr id="99" name="rev-116">
            <a:extLst xmlns:a="http://schemas.openxmlformats.org/drawingml/2006/main">
              <a:ext uri="{FF2B5EF4-FFF2-40B4-BE49-F238E27FC236}">
                <a16:creationId xmlns:a16="http://schemas.microsoft.com/office/drawing/2014/main" id="{0DA1FC84-CEB2-4FAC-ADAC-756A9FDEF59A}"/>
              </a:ext>
            </a:extLst>
          </p:cNvPr>
          <p:cNvSpPr>
            <a:spLocks xmlns:a="http://schemas.openxmlformats.org/drawingml/2006/main" noGrp="1"/>
          </p:cNvSpPr>
          <p:nvPr/>
        </p:nvSpPr>
        <p:spPr>
          <a:xfrm xmlns:a="http://schemas.openxmlformats.org/drawingml/2006/main">
            <a:off x="3333750" y="5648325"/>
            <a:ext cx="26003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356B49"/>
                </a:solidFill>
                <a:latin typeface="Calibri"/>
                <a:ea typeface="Calibri"/>
                <a:cs typeface="Calibri"/>
              </a:defRPr>
            </a:pPr>
            <a:r>
              <a:rPr sz="2550" b="1">
                <a:solidFill>
                  <a:srgbClr val="356B49"/>
                </a:solidFill>
                <a:latin typeface="Calibri"/>
                <a:ea typeface="Calibri"/>
                <a:cs typeface="Calibri"/>
              </a:rPr>
              <a:t>7.3×</a:t>
            </a:r>
          </a:p>
        </p:txBody>
      </p:sp>
      <p:sp>
        <p:nvSpPr>
          <p:cNvPr id="100" name="rev-117">
            <a:extLst xmlns:a="http://schemas.openxmlformats.org/drawingml/2006/main">
              <a:ext uri="{FF2B5EF4-FFF2-40B4-BE49-F238E27FC236}">
                <a16:creationId xmlns:a16="http://schemas.microsoft.com/office/drawing/2014/main" id="{CF8575E7-B1C0-421A-B15D-E1388BC51A5B}"/>
              </a:ext>
            </a:extLst>
          </p:cNvPr>
          <p:cNvSpPr>
            <a:spLocks xmlns:a="http://schemas.openxmlformats.org/drawingml/2006/main" noGrp="1"/>
          </p:cNvSpPr>
          <p:nvPr/>
        </p:nvSpPr>
        <p:spPr>
          <a:xfrm xmlns:a="http://schemas.openxmlformats.org/drawingml/2006/main">
            <a:off x="3333750" y="6067425"/>
            <a:ext cx="2667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202B36"/>
                </a:solidFill>
                <a:latin typeface="Calibri"/>
                <a:ea typeface="Calibri"/>
                <a:cs typeface="Calibri"/>
              </a:defRPr>
            </a:pPr>
            <a:r>
              <a:rPr sz="1275">
                <a:solidFill>
                  <a:srgbClr val="202B36"/>
                </a:solidFill>
                <a:latin typeface="Calibri"/>
                <a:ea typeface="Calibri"/>
                <a:cs typeface="Calibri"/>
              </a:rPr>
              <a:t>Faster sanitize-to-plan median</a:t>
            </a:r>
          </a:p>
        </p:txBody>
      </p:sp>
      <p:sp>
        <p:nvSpPr>
          <p:cNvPr id="101" name="rev-118">
            <a:extLst xmlns:a="http://schemas.openxmlformats.org/drawingml/2006/main">
              <a:ext uri="{FF2B5EF4-FFF2-40B4-BE49-F238E27FC236}">
                <a16:creationId xmlns:a16="http://schemas.microsoft.com/office/drawing/2014/main" id="{C46B4AF2-6A1C-4228-973D-89A6FCEB67FC}"/>
              </a:ext>
            </a:extLst>
          </p:cNvPr>
          <p:cNvSpPr>
            <a:spLocks xmlns:a="http://schemas.openxmlformats.org/drawingml/2006/main" noGrp="1"/>
          </p:cNvSpPr>
          <p:nvPr/>
        </p:nvSpPr>
        <p:spPr>
          <a:xfrm xmlns:a="http://schemas.openxmlformats.org/drawingml/2006/main">
            <a:off x="6210300" y="5400675"/>
            <a:ext cx="26003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1">
                <a:solidFill>
                  <a:srgbClr val="53616D"/>
                </a:solidFill>
                <a:latin typeface="Calibri"/>
                <a:ea typeface="Calibri"/>
                <a:cs typeface="Calibri"/>
              </a:defRPr>
            </a:pPr>
            <a:r>
              <a:rPr sz="1200" b="1">
                <a:solidFill>
                  <a:srgbClr val="53616D"/>
                </a:solidFill>
                <a:latin typeface="Calibri"/>
                <a:ea typeface="Calibri"/>
                <a:cs typeface="Calibri"/>
              </a:rPr>
              <a:t>COMPUTE</a:t>
            </a:r>
          </a:p>
        </p:txBody>
      </p:sp>
      <p:sp>
        <p:nvSpPr>
          <p:cNvPr id="102" name="rev-119">
            <a:extLst xmlns:a="http://schemas.openxmlformats.org/drawingml/2006/main">
              <a:ext uri="{FF2B5EF4-FFF2-40B4-BE49-F238E27FC236}">
                <a16:creationId xmlns:a16="http://schemas.microsoft.com/office/drawing/2014/main" id="{EE63535B-3A06-4A12-856B-C8E43D3A2348}"/>
              </a:ext>
            </a:extLst>
          </p:cNvPr>
          <p:cNvSpPr>
            <a:spLocks xmlns:a="http://schemas.openxmlformats.org/drawingml/2006/main" noGrp="1"/>
          </p:cNvSpPr>
          <p:nvPr/>
        </p:nvSpPr>
        <p:spPr>
          <a:xfrm xmlns:a="http://schemas.openxmlformats.org/drawingml/2006/main">
            <a:off x="6210300" y="5648325"/>
            <a:ext cx="26003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356B49"/>
                </a:solidFill>
                <a:latin typeface="Calibri"/>
                <a:ea typeface="Calibri"/>
                <a:cs typeface="Calibri"/>
              </a:defRPr>
            </a:pPr>
            <a:r>
              <a:rPr sz="2550" b="1">
                <a:solidFill>
                  <a:srgbClr val="356B49"/>
                </a:solidFill>
                <a:latin typeface="Calibri"/>
                <a:ea typeface="Calibri"/>
                <a:cs typeface="Calibri"/>
              </a:rPr>
              <a:t>51%</a:t>
            </a:r>
          </a:p>
        </p:txBody>
      </p:sp>
      <p:sp>
        <p:nvSpPr>
          <p:cNvPr id="103" name="rev-120">
            <a:extLst xmlns:a="http://schemas.openxmlformats.org/drawingml/2006/main">
              <a:ext uri="{FF2B5EF4-FFF2-40B4-BE49-F238E27FC236}">
                <a16:creationId xmlns:a16="http://schemas.microsoft.com/office/drawing/2014/main" id="{44B6D89E-A185-4ED1-A67B-5426334B0CC5}"/>
              </a:ext>
            </a:extLst>
          </p:cNvPr>
          <p:cNvSpPr>
            <a:spLocks xmlns:a="http://schemas.openxmlformats.org/drawingml/2006/main" noGrp="1"/>
          </p:cNvSpPr>
          <p:nvPr/>
        </p:nvSpPr>
        <p:spPr>
          <a:xfrm xmlns:a="http://schemas.openxmlformats.org/drawingml/2006/main">
            <a:off x="6210300" y="6067425"/>
            <a:ext cx="2667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202B36"/>
                </a:solidFill>
                <a:latin typeface="Calibri"/>
                <a:ea typeface="Calibri"/>
                <a:cs typeface="Calibri"/>
              </a:defRPr>
            </a:pPr>
            <a:r>
              <a:rPr sz="1275">
                <a:solidFill>
                  <a:srgbClr val="202B36"/>
                </a:solidFill>
                <a:latin typeface="Calibri"/>
                <a:ea typeface="Calibri"/>
                <a:cs typeface="Calibri"/>
              </a:rPr>
              <a:t>Lower Python CPU time / page</a:t>
            </a:r>
          </a:p>
        </p:txBody>
      </p:sp>
      <p:sp>
        <p:nvSpPr>
          <p:cNvPr id="104" name="rev-121">
            <a:extLst xmlns:a="http://schemas.openxmlformats.org/drawingml/2006/main">
              <a:ext uri="{FF2B5EF4-FFF2-40B4-BE49-F238E27FC236}">
                <a16:creationId xmlns:a16="http://schemas.microsoft.com/office/drawing/2014/main" id="{F2CFC35A-35DF-4C3D-8F66-EE4A153BAE78}"/>
              </a:ext>
            </a:extLst>
          </p:cNvPr>
          <p:cNvSpPr>
            <a:spLocks xmlns:a="http://schemas.openxmlformats.org/drawingml/2006/main" noGrp="1"/>
          </p:cNvSpPr>
          <p:nvPr/>
        </p:nvSpPr>
        <p:spPr>
          <a:xfrm xmlns:a="http://schemas.openxmlformats.org/drawingml/2006/main">
            <a:off x="9086850" y="5400675"/>
            <a:ext cx="26003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b="1">
                <a:solidFill>
                  <a:srgbClr val="53616D"/>
                </a:solidFill>
                <a:latin typeface="Calibri"/>
                <a:ea typeface="Calibri"/>
                <a:cs typeface="Calibri"/>
              </a:defRPr>
            </a:pPr>
            <a:r>
              <a:rPr sz="1200" b="1">
                <a:solidFill>
                  <a:srgbClr val="53616D"/>
                </a:solidFill>
                <a:latin typeface="Calibri"/>
                <a:ea typeface="Calibri"/>
                <a:cs typeface="Calibri"/>
              </a:rPr>
              <a:t>PLANNING</a:t>
            </a:r>
          </a:p>
        </p:txBody>
      </p:sp>
      <p:sp>
        <p:nvSpPr>
          <p:cNvPr id="105" name="rev-122">
            <a:extLst xmlns:a="http://schemas.openxmlformats.org/drawingml/2006/main">
              <a:ext uri="{FF2B5EF4-FFF2-40B4-BE49-F238E27FC236}">
                <a16:creationId xmlns:a16="http://schemas.microsoft.com/office/drawing/2014/main" id="{8894147E-9425-489B-BC1B-AA4980EFDCA7}"/>
              </a:ext>
            </a:extLst>
          </p:cNvPr>
          <p:cNvSpPr>
            <a:spLocks xmlns:a="http://schemas.openxmlformats.org/drawingml/2006/main" noGrp="1"/>
          </p:cNvSpPr>
          <p:nvPr/>
        </p:nvSpPr>
        <p:spPr>
          <a:xfrm xmlns:a="http://schemas.openxmlformats.org/drawingml/2006/main">
            <a:off x="9086850" y="5648325"/>
            <a:ext cx="26003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1">
                <a:solidFill>
                  <a:srgbClr val="356B49"/>
                </a:solidFill>
                <a:latin typeface="Calibri"/>
                <a:ea typeface="Calibri"/>
                <a:cs typeface="Calibri"/>
              </a:defRPr>
            </a:pPr>
            <a:r>
              <a:rPr sz="2550" b="1">
                <a:solidFill>
                  <a:srgbClr val="356B49"/>
                </a:solidFill>
                <a:latin typeface="Calibri"/>
                <a:ea typeface="Calibri"/>
                <a:cs typeface="Calibri"/>
              </a:rPr>
              <a:t>48/48</a:t>
            </a:r>
          </a:p>
        </p:txBody>
      </p:sp>
      <p:sp>
        <p:nvSpPr>
          <p:cNvPr id="106" name="rev-123">
            <a:extLst xmlns:a="http://schemas.openxmlformats.org/drawingml/2006/main">
              <a:ext uri="{FF2B5EF4-FFF2-40B4-BE49-F238E27FC236}">
                <a16:creationId xmlns:a16="http://schemas.microsoft.com/office/drawing/2014/main" id="{AB6A5DDB-2E02-42B7-8D1B-05A9B9AA31D1}"/>
              </a:ext>
            </a:extLst>
          </p:cNvPr>
          <p:cNvSpPr>
            <a:spLocks xmlns:a="http://schemas.openxmlformats.org/drawingml/2006/main" noGrp="1"/>
          </p:cNvSpPr>
          <p:nvPr/>
        </p:nvSpPr>
        <p:spPr>
          <a:xfrm xmlns:a="http://schemas.openxmlformats.org/drawingml/2006/main">
            <a:off x="9086850" y="6067425"/>
            <a:ext cx="2667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202B36"/>
                </a:solidFill>
                <a:latin typeface="Calibri"/>
                <a:ea typeface="Calibri"/>
                <a:cs typeface="Calibri"/>
              </a:defRPr>
            </a:pPr>
            <a:r>
              <a:rPr sz="1275">
                <a:solidFill>
                  <a:srgbClr val="202B36"/>
                </a:solidFill>
                <a:latin typeface="Calibri"/>
                <a:ea typeface="Calibri"/>
                <a:cs typeface="Calibri"/>
              </a:rPr>
              <a:t>Correct Download target chosen</a:t>
            </a:r>
          </a:p>
        </p:txBody>
      </p:sp>
    </p:spTree>
    <p:extLst>
      <p:ext uri="{BB962C8B-B14F-4D97-AF65-F5344CB8AC3E}">
        <p14:creationId xmlns:p14="http://schemas.microsoft.com/office/powerpoint/2010/main" val="701854478"/>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E668F516-11A7-475E-AFA6-0C3FA09A5CB0}"/>
              </a:ext>
            </a:extLst>
          </p:cNvPr>
          <p:cNvSpPr>
            <a:spLocks xmlns:a="http://schemas.openxmlformats.org/drawingml/2006/main" noGrp="1"/>
          </p:cNvSpPr>
          <p:nvPr/>
        </p:nvSpPr>
        <p:spPr>
          <a:xfrm xmlns:a="http://schemas.openxmlformats.org/drawingml/2006/main">
            <a:off x="384048" y="201168"/>
            <a:ext cx="1371600" cy="530352"/>
          </a:xfrm>
          <a:prstGeom xmlns:a="http://schemas.openxmlformats.org/drawingml/2006/main" prst="ellipse">
            <a:avLst/>
          </a:prstGeom>
          <a:solidFill xmlns:a="http://schemas.openxmlformats.org/drawingml/2006/main">
            <a:srgbClr val="E3F1F2"/>
          </a:solidFill>
          <a:ln xmlns:a="http://schemas.openxmlformats.org/drawingml/2006/main" w="19050">
            <a:solidFill>
              <a:srgbClr val="0E7C86"/>
            </a:solidFill>
            <a:prstDash val="solid"/>
          </a:ln>
          <a:effectLst xmlns:a="http://schemas.openxmlformats.org/drawingml/2006/main">
            <a:outerShdw blurRad="76200" dist="12700" dir="5400000" algn="bl" rotWithShape="0">
              <a:srgbClr val="9FB0C0">
                <a:alpha val="28000"/>
              </a:srgbClr>
            </a:outerShdw>
          </a:effectLst>
        </p:spPr>
      </p:sp>
      <p:sp>
        <p:nvSpPr>
          <p:cNvPr id="3" name="Text 1">
            <a:extLst xmlns:a="http://schemas.openxmlformats.org/drawingml/2006/main">
              <a:ext uri="{FF2B5EF4-FFF2-40B4-BE49-F238E27FC236}">
                <a16:creationId xmlns:a16="http://schemas.microsoft.com/office/drawing/2014/main" id="{A6D0E9F6-045E-4488-8D8D-CAB9BF2499CD}"/>
              </a:ext>
            </a:extLst>
          </p:cNvPr>
          <p:cNvSpPr>
            <a:spLocks xmlns:a="http://schemas.openxmlformats.org/drawingml/2006/main" noGrp="1"/>
          </p:cNvSpPr>
          <p:nvPr/>
        </p:nvSpPr>
        <p:spPr>
          <a:xfrm xmlns:a="http://schemas.openxmlformats.org/drawingml/2006/main">
            <a:off x="384048" y="320040"/>
            <a:ext cx="1371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0A5F67"/>
                </a:solidFill>
                <a:latin typeface="Calibri"/>
                <a:ea typeface="Calibri"/>
                <a:cs typeface="Calibri"/>
              </a:rPr>
              <a:t>NEXORA</a:t>
            </a:r>
            <a:endParaRPr sz="1250"/>
          </a:p>
        </p:txBody>
      </p:sp>
      <p:sp>
        <p:nvSpPr>
          <p:cNvPr id="4" name="Text 2">
            <a:extLst xmlns:a="http://schemas.openxmlformats.org/drawingml/2006/main">
              <a:ext uri="{FF2B5EF4-FFF2-40B4-BE49-F238E27FC236}">
                <a16:creationId xmlns:a16="http://schemas.microsoft.com/office/drawing/2014/main" id="{7D6E6D01-9E8D-4A01-9CEB-E9168BC31E45}"/>
              </a:ext>
            </a:extLst>
          </p:cNvPr>
          <p:cNvSpPr>
            <a:spLocks xmlns:a="http://schemas.openxmlformats.org/drawingml/2006/main" noGrp="1"/>
          </p:cNvSpPr>
          <p:nvPr/>
        </p:nvSpPr>
        <p:spPr>
          <a:xfrm xmlns:a="http://schemas.openxmlformats.org/drawingml/2006/main">
            <a:off x="2011680" y="201168"/>
            <a:ext cx="786384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1F4E79"/>
                </a:solidFill>
                <a:latin typeface="Cambria"/>
                <a:ea typeface="Cambria"/>
                <a:cs typeface="Cambria"/>
              </a:rPr>
              <a:t>RESEARCH AND REFERENCES</a:t>
            </a:r>
            <a:endParaRPr sz="2800"/>
          </a:p>
        </p:txBody>
      </p:sp>
      <p:pic>
        <p:nvPicPr>
          <p:cNvPr id="96" name="Image 0"/>
          <p:cNvPicPr>
            <a:picLocks xmlns:a="http://schemas.openxmlformats.org/drawingml/2006/main" noChangeAspect="1"/>
          </p:cNvPicPr>
          <p:nvPr/>
        </p:nvPicPr>
        <p:blipFill>
          <a:blip xmlns:r="http://schemas.openxmlformats.org/officeDocument/2006/relationships" xmlns:a="http://schemas.openxmlformats.org/drawingml/2006/main" r:embed="R8acfd5432efb4cb2"/>
          <a:stretch xmlns:a="http://schemas.openxmlformats.org/drawingml/2006/main">
            <a:fillRect l="0" t="0" r="0" b="0"/>
          </a:stretch>
        </p:blipFill>
        <p:spPr>
          <a:xfrm xmlns:a="http://schemas.openxmlformats.org/drawingml/2006/main">
            <a:off x="10287000" y="164592"/>
            <a:ext cx="1554480" cy="731520"/>
          </a:xfrm>
          <a:prstGeom xmlns:a="http://schemas.openxmlformats.org/drawingml/2006/main" prst="rect">
            <a:avLst/>
          </a:prstGeom>
          <a:effectLst xmlns:a="http://schemas.openxmlformats.org/drawingml/2006/main">
            <a:outerShdw blurRad="76200" dist="12700" dir="5400000" algn="bl" rotWithShape="0">
              <a:srgbClr val="9FB0C0">
                <a:alpha val="28000"/>
              </a:srgbClr>
            </a:outerShdw>
          </a:effectLst>
        </p:spPr>
      </p:pic>
      <p:sp>
        <p:nvSpPr>
          <p:cNvPr id="7" name="Shape 4">
            <a:extLst xmlns:a="http://schemas.openxmlformats.org/drawingml/2006/main">
              <a:ext uri="{FF2B5EF4-FFF2-40B4-BE49-F238E27FC236}">
                <a16:creationId xmlns:a16="http://schemas.microsoft.com/office/drawing/2014/main" id="{8768D130-1CB6-4830-9C41-523E06D02C08}"/>
              </a:ext>
            </a:extLst>
          </p:cNvPr>
          <p:cNvSpPr>
            <a:spLocks xmlns:a="http://schemas.openxmlformats.org/drawingml/2006/main" noGrp="1"/>
          </p:cNvSpPr>
          <p:nvPr/>
        </p:nvSpPr>
        <p:spPr>
          <a:xfrm xmlns:a="http://schemas.openxmlformats.org/drawingml/2006/main">
            <a:off x="0" y="6446520"/>
            <a:ext cx="12191695" cy="411480"/>
          </a:xfrm>
          <a:prstGeom xmlns:a="http://schemas.openxmlformats.org/drawingml/2006/main" prst="rect">
            <a:avLst/>
          </a:prstGeom>
          <a:solidFill xmlns:a="http://schemas.openxmlformats.org/drawingml/2006/main">
            <a:srgbClr val="0071C1"/>
          </a:solidFill>
        </p:spPr>
      </p:sp>
      <p:sp>
        <p:nvSpPr>
          <p:cNvPr id="9" name="Text 6">
            <a:extLst xmlns:a="http://schemas.openxmlformats.org/drawingml/2006/main">
              <a:ext uri="{FF2B5EF4-FFF2-40B4-BE49-F238E27FC236}">
                <a16:creationId xmlns:a16="http://schemas.microsoft.com/office/drawing/2014/main" id="{1660092C-ECEE-4841-8996-66B7E604DE65}"/>
              </a:ext>
            </a:extLst>
          </p:cNvPr>
          <p:cNvSpPr>
            <a:spLocks xmlns:a="http://schemas.openxmlformats.org/drawingml/2006/main" noGrp="1"/>
          </p:cNvSpPr>
          <p:nvPr/>
        </p:nvSpPr>
        <p:spPr>
          <a:xfrm xmlns:a="http://schemas.openxmlformats.org/drawingml/2006/main">
            <a:off x="11338560" y="6537960"/>
            <a:ext cx="457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50" b="1">
                <a:solidFill>
                  <a:srgbClr val="FFFFFF"/>
                </a:solidFill>
                <a:latin typeface="Calibri"/>
                <a:ea typeface="Calibri"/>
                <a:cs typeface="Calibri"/>
              </a:rPr>
              <a:t>6</a:t>
            </a:r>
            <a:endParaRPr sz="1250"/>
          </a:p>
        </p:txBody>
      </p:sp>
      <p:sp>
        <p:nvSpPr>
          <p:cNvPr id="51" name="rev-124">
            <a:extLst xmlns:a="http://schemas.openxmlformats.org/drawingml/2006/main">
              <a:ext uri="{FF2B5EF4-FFF2-40B4-BE49-F238E27FC236}">
                <a16:creationId xmlns:a16="http://schemas.microsoft.com/office/drawing/2014/main" id="{55393081-1C8D-412F-81AF-1DFA6B84D516}"/>
              </a:ext>
            </a:extLst>
          </p:cNvPr>
          <p:cNvSpPr>
            <a:spLocks xmlns:a="http://schemas.openxmlformats.org/drawingml/2006/main" noGrp="1"/>
          </p:cNvSpPr>
          <p:nvPr/>
        </p:nvSpPr>
        <p:spPr>
          <a:xfrm xmlns:a="http://schemas.openxmlformats.org/drawingml/2006/main">
            <a:off x="457200" y="981075"/>
            <a:ext cx="11049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8C4966"/>
                </a:solidFill>
                <a:latin typeface="Calibri"/>
                <a:ea typeface="Calibri"/>
                <a:cs typeface="Calibri"/>
              </a:defRPr>
            </a:pPr>
            <a:r>
              <a:rPr sz="1500" b="1">
                <a:solidFill>
                  <a:srgbClr val="8C4966"/>
                </a:solidFill>
                <a:latin typeface="Calibri"/>
                <a:ea typeface="Calibri"/>
                <a:cs typeface="Calibri"/>
              </a:rPr>
              <a:t>Details / links of reference and research work</a:t>
            </a:r>
          </a:p>
        </p:txBody>
      </p:sp>
      <p:sp>
        <p:nvSpPr>
          <p:cNvPr id="52" name="rev-125">
            <a:extLst xmlns:a="http://schemas.openxmlformats.org/drawingml/2006/main">
              <a:ext uri="{FF2B5EF4-FFF2-40B4-BE49-F238E27FC236}">
                <a16:creationId xmlns:a16="http://schemas.microsoft.com/office/drawing/2014/main" id="{50998231-215C-4A2E-A6CB-69AF9C60620A}"/>
              </a:ext>
            </a:extLst>
          </p:cNvPr>
          <p:cNvSpPr>
            <a:spLocks xmlns:a="http://schemas.openxmlformats.org/drawingml/2006/main" noGrp="1"/>
          </p:cNvSpPr>
          <p:nvPr/>
        </p:nvSpPr>
        <p:spPr>
          <a:xfrm xmlns:a="http://schemas.openxmlformats.org/drawingml/2006/main">
            <a:off x="457200" y="1400175"/>
            <a:ext cx="1476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8C4966"/>
                </a:solidFill>
                <a:latin typeface="Calibri"/>
                <a:ea typeface="Calibri"/>
                <a:cs typeface="Calibri"/>
              </a:defRPr>
            </a:pPr>
            <a:r>
              <a:rPr sz="1575" b="1">
                <a:solidFill>
                  <a:srgbClr val="8C4966"/>
                </a:solidFill>
                <a:latin typeface="Calibri"/>
                <a:ea typeface="Calibri"/>
                <a:cs typeface="Calibri"/>
              </a:rPr>
              <a:t>Mind2Web</a:t>
            </a:r>
          </a:p>
        </p:txBody>
      </p:sp>
      <p:sp>
        <p:nvSpPr>
          <p:cNvPr id="53" name="rev-126">
            <a:extLst xmlns:a="http://schemas.openxmlformats.org/drawingml/2006/main">
              <a:ext uri="{FF2B5EF4-FFF2-40B4-BE49-F238E27FC236}">
                <a16:creationId xmlns:a16="http://schemas.microsoft.com/office/drawing/2014/main" id="{76B7AFD0-9902-43D0-B2AA-3A10F8F52B34}"/>
              </a:ext>
            </a:extLst>
          </p:cNvPr>
          <p:cNvSpPr>
            <a:spLocks xmlns:a="http://schemas.openxmlformats.org/drawingml/2006/main" noGrp="1"/>
          </p:cNvSpPr>
          <p:nvPr/>
        </p:nvSpPr>
        <p:spPr>
          <a:xfrm xmlns:a="http://schemas.openxmlformats.org/drawingml/2006/main">
            <a:off x="2047875" y="1400175"/>
            <a:ext cx="3810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a:solidFill>
                  <a:srgbClr val="202B36"/>
                </a:solidFill>
                <a:latin typeface="Calibri"/>
                <a:ea typeface="Calibri"/>
                <a:cs typeface="Calibri"/>
              </a:defRPr>
            </a:pPr>
            <a:r>
              <a:rPr sz="1425">
                <a:solidFill>
                  <a:srgbClr val="202B36"/>
                </a:solidFill>
                <a:latin typeface="Calibri"/>
                <a:ea typeface="Calibri"/>
                <a:cs typeface="Calibri"/>
              </a:rPr>
              <a:t>Generalist web-agent benchmark</a:t>
            </a:r>
          </a:p>
        </p:txBody>
      </p:sp>
      <p:sp>
        <p:nvSpPr>
          <p:cNvPr id="54" name="rev-127">
            <a:extLst xmlns:a="http://schemas.openxmlformats.org/drawingml/2006/main">
              <a:ext uri="{FF2B5EF4-FFF2-40B4-BE49-F238E27FC236}">
                <a16:creationId xmlns:a16="http://schemas.microsoft.com/office/drawing/2014/main" id="{E8CA7DEA-3720-4386-B09F-FB25D4AFDFB6}"/>
              </a:ext>
            </a:extLst>
          </p:cNvPr>
          <p:cNvSpPr>
            <a:spLocks xmlns:a="http://schemas.openxmlformats.org/drawingml/2006/main" noGrp="1"/>
          </p:cNvSpPr>
          <p:nvPr/>
        </p:nvSpPr>
        <p:spPr>
          <a:xfrm xmlns:a="http://schemas.openxmlformats.org/drawingml/2006/main">
            <a:off x="2047875" y="1657350"/>
            <a:ext cx="3667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a:solidFill>
                  <a:srgbClr val="8C4966"/>
                </a:solidFill>
                <a:latin typeface="Calibri"/>
                <a:ea typeface="Calibri"/>
                <a:cs typeface="Calibri"/>
              </a:defRPr>
            </a:pPr>
            <a:r>
              <a:rPr sz="1200">
                <a:solidFill>
                  <a:srgbClr val="8C4966"/>
                </a:solidFill>
                <a:latin typeface="Calibri"/>
                <a:ea typeface="Calibri"/>
                <a:cs typeface="Calibri"/>
                <a:hlinkClick xmlns:r="http://schemas.openxmlformats.org/officeDocument/2006/relationships" r:id="Rbc54f299f11844a4"/>
              </a:rPr>
              <a:t>arxiv.org/abs/2306.06070</a:t>
            </a:r>
          </a:p>
        </p:txBody>
      </p:sp>
      <p:sp>
        <p:nvSpPr>
          <p:cNvPr id="55" name="rev-128">
            <a:extLst xmlns:a="http://schemas.openxmlformats.org/drawingml/2006/main">
              <a:ext uri="{FF2B5EF4-FFF2-40B4-BE49-F238E27FC236}">
                <a16:creationId xmlns:a16="http://schemas.microsoft.com/office/drawing/2014/main" id="{C015979C-B016-4753-956A-0805A2E9D8A1}"/>
              </a:ext>
            </a:extLst>
          </p:cNvPr>
          <p:cNvSpPr>
            <a:spLocks xmlns:a="http://schemas.openxmlformats.org/drawingml/2006/main" noGrp="1"/>
          </p:cNvSpPr>
          <p:nvPr/>
        </p:nvSpPr>
        <p:spPr>
          <a:xfrm xmlns:a="http://schemas.openxmlformats.org/drawingml/2006/main">
            <a:off x="457200" y="2028825"/>
            <a:ext cx="1476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8C4966"/>
                </a:solidFill>
                <a:latin typeface="Calibri"/>
                <a:ea typeface="Calibri"/>
                <a:cs typeface="Calibri"/>
              </a:defRPr>
            </a:pPr>
            <a:r>
              <a:rPr sz="1575" b="1">
                <a:solidFill>
                  <a:srgbClr val="8C4966"/>
                </a:solidFill>
                <a:latin typeface="Calibri"/>
                <a:ea typeface="Calibri"/>
                <a:cs typeface="Calibri"/>
              </a:rPr>
              <a:t>SeeAct</a:t>
            </a:r>
          </a:p>
        </p:txBody>
      </p:sp>
      <p:sp>
        <p:nvSpPr>
          <p:cNvPr id="56" name="rev-129">
            <a:extLst xmlns:a="http://schemas.openxmlformats.org/drawingml/2006/main">
              <a:ext uri="{FF2B5EF4-FFF2-40B4-BE49-F238E27FC236}">
                <a16:creationId xmlns:a16="http://schemas.microsoft.com/office/drawing/2014/main" id="{FF2065AC-3095-4FBB-A89F-4F38C339694F}"/>
              </a:ext>
            </a:extLst>
          </p:cNvPr>
          <p:cNvSpPr>
            <a:spLocks xmlns:a="http://schemas.openxmlformats.org/drawingml/2006/main" noGrp="1"/>
          </p:cNvSpPr>
          <p:nvPr/>
        </p:nvSpPr>
        <p:spPr>
          <a:xfrm xmlns:a="http://schemas.openxmlformats.org/drawingml/2006/main">
            <a:off x="2047875" y="2028825"/>
            <a:ext cx="3810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a:solidFill>
                  <a:srgbClr val="202B36"/>
                </a:solidFill>
                <a:latin typeface="Calibri"/>
                <a:ea typeface="Calibri"/>
                <a:cs typeface="Calibri"/>
              </a:defRPr>
            </a:pPr>
            <a:r>
              <a:rPr sz="1425">
                <a:solidFill>
                  <a:srgbClr val="202B36"/>
                </a:solidFill>
                <a:latin typeface="Calibri"/>
                <a:ea typeface="Calibri"/>
                <a:cs typeface="Calibri"/>
              </a:rPr>
              <a:t>Grounding web actions</a:t>
            </a:r>
          </a:p>
        </p:txBody>
      </p:sp>
      <p:sp>
        <p:nvSpPr>
          <p:cNvPr id="57" name="rev-130">
            <a:extLst xmlns:a="http://schemas.openxmlformats.org/drawingml/2006/main">
              <a:ext uri="{FF2B5EF4-FFF2-40B4-BE49-F238E27FC236}">
                <a16:creationId xmlns:a16="http://schemas.microsoft.com/office/drawing/2014/main" id="{58C8FC2F-B0BD-41FC-9B9E-9F93D2D54346}"/>
              </a:ext>
            </a:extLst>
          </p:cNvPr>
          <p:cNvSpPr>
            <a:spLocks xmlns:a="http://schemas.openxmlformats.org/drawingml/2006/main" noGrp="1"/>
          </p:cNvSpPr>
          <p:nvPr/>
        </p:nvSpPr>
        <p:spPr>
          <a:xfrm xmlns:a="http://schemas.openxmlformats.org/drawingml/2006/main">
            <a:off x="2047875" y="2286000"/>
            <a:ext cx="3667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a:solidFill>
                  <a:srgbClr val="8C4966"/>
                </a:solidFill>
                <a:latin typeface="Calibri"/>
                <a:ea typeface="Calibri"/>
                <a:cs typeface="Calibri"/>
              </a:defRPr>
            </a:pPr>
            <a:r>
              <a:rPr sz="1200">
                <a:solidFill>
                  <a:srgbClr val="8C4966"/>
                </a:solidFill>
                <a:latin typeface="Calibri"/>
                <a:ea typeface="Calibri"/>
                <a:cs typeface="Calibri"/>
                <a:hlinkClick xmlns:r="http://schemas.openxmlformats.org/officeDocument/2006/relationships" r:id="R04cba4cdd62d4800"/>
              </a:rPr>
              <a:t>arxiv.org/abs/2401.01614</a:t>
            </a:r>
          </a:p>
        </p:txBody>
      </p:sp>
      <p:sp>
        <p:nvSpPr>
          <p:cNvPr id="58" name="rev-131">
            <a:extLst xmlns:a="http://schemas.openxmlformats.org/drawingml/2006/main">
              <a:ext uri="{FF2B5EF4-FFF2-40B4-BE49-F238E27FC236}">
                <a16:creationId xmlns:a16="http://schemas.microsoft.com/office/drawing/2014/main" id="{80D565D5-6948-4994-BEB0-96C9BAEE2A5A}"/>
              </a:ext>
            </a:extLst>
          </p:cNvPr>
          <p:cNvSpPr>
            <a:spLocks xmlns:a="http://schemas.openxmlformats.org/drawingml/2006/main" noGrp="1"/>
          </p:cNvSpPr>
          <p:nvPr/>
        </p:nvSpPr>
        <p:spPr>
          <a:xfrm xmlns:a="http://schemas.openxmlformats.org/drawingml/2006/main">
            <a:off x="457200" y="2657475"/>
            <a:ext cx="1476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8C4966"/>
                </a:solidFill>
                <a:latin typeface="Calibri"/>
                <a:ea typeface="Calibri"/>
                <a:cs typeface="Calibri"/>
              </a:defRPr>
            </a:pPr>
            <a:r>
              <a:rPr sz="1575" b="1">
                <a:solidFill>
                  <a:srgbClr val="8C4966"/>
                </a:solidFill>
                <a:latin typeface="Calibri"/>
                <a:ea typeface="Calibri"/>
                <a:cs typeface="Calibri"/>
              </a:rPr>
              <a:t>OmniParser</a:t>
            </a:r>
          </a:p>
        </p:txBody>
      </p:sp>
      <p:sp>
        <p:nvSpPr>
          <p:cNvPr id="59" name="rev-132">
            <a:extLst xmlns:a="http://schemas.openxmlformats.org/drawingml/2006/main">
              <a:ext uri="{FF2B5EF4-FFF2-40B4-BE49-F238E27FC236}">
                <a16:creationId xmlns:a16="http://schemas.microsoft.com/office/drawing/2014/main" id="{A9873771-0728-4D63-84E0-FE23A99064BA}"/>
              </a:ext>
            </a:extLst>
          </p:cNvPr>
          <p:cNvSpPr>
            <a:spLocks xmlns:a="http://schemas.openxmlformats.org/drawingml/2006/main" noGrp="1"/>
          </p:cNvSpPr>
          <p:nvPr/>
        </p:nvSpPr>
        <p:spPr>
          <a:xfrm xmlns:a="http://schemas.openxmlformats.org/drawingml/2006/main">
            <a:off x="2047875" y="2657475"/>
            <a:ext cx="3810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a:solidFill>
                  <a:srgbClr val="202B36"/>
                </a:solidFill>
                <a:latin typeface="Calibri"/>
                <a:ea typeface="Calibri"/>
                <a:cs typeface="Calibri"/>
              </a:defRPr>
            </a:pPr>
            <a:r>
              <a:rPr sz="1425">
                <a:solidFill>
                  <a:srgbClr val="202B36"/>
                </a:solidFill>
                <a:latin typeface="Calibri"/>
                <a:ea typeface="Calibri"/>
                <a:cs typeface="Calibri"/>
              </a:rPr>
              <a:t>Visual screen parsing</a:t>
            </a:r>
          </a:p>
        </p:txBody>
      </p:sp>
      <p:sp>
        <p:nvSpPr>
          <p:cNvPr id="60" name="rev-133">
            <a:extLst xmlns:a="http://schemas.openxmlformats.org/drawingml/2006/main">
              <a:ext uri="{FF2B5EF4-FFF2-40B4-BE49-F238E27FC236}">
                <a16:creationId xmlns:a16="http://schemas.microsoft.com/office/drawing/2014/main" id="{26639318-8EDA-4D77-A640-A49A3C6028C6}"/>
              </a:ext>
            </a:extLst>
          </p:cNvPr>
          <p:cNvSpPr>
            <a:spLocks xmlns:a="http://schemas.openxmlformats.org/drawingml/2006/main" noGrp="1"/>
          </p:cNvSpPr>
          <p:nvPr/>
        </p:nvSpPr>
        <p:spPr>
          <a:xfrm xmlns:a="http://schemas.openxmlformats.org/drawingml/2006/main">
            <a:off x="2047875" y="2914650"/>
            <a:ext cx="3667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a:solidFill>
                  <a:srgbClr val="8C4966"/>
                </a:solidFill>
                <a:latin typeface="Calibri"/>
                <a:ea typeface="Calibri"/>
                <a:cs typeface="Calibri"/>
              </a:defRPr>
            </a:pPr>
            <a:r>
              <a:rPr sz="1200">
                <a:solidFill>
                  <a:srgbClr val="8C4966"/>
                </a:solidFill>
                <a:latin typeface="Calibri"/>
                <a:ea typeface="Calibri"/>
                <a:cs typeface="Calibri"/>
                <a:hlinkClick xmlns:r="http://schemas.openxmlformats.org/officeDocument/2006/relationships" r:id="R4a129045b37d4593"/>
              </a:rPr>
              <a:t>arxiv.org/abs/2408.00203</a:t>
            </a:r>
          </a:p>
        </p:txBody>
      </p:sp>
      <p:sp>
        <p:nvSpPr>
          <p:cNvPr id="61" name="rev-134">
            <a:extLst xmlns:a="http://schemas.openxmlformats.org/drawingml/2006/main">
              <a:ext uri="{FF2B5EF4-FFF2-40B4-BE49-F238E27FC236}">
                <a16:creationId xmlns:a16="http://schemas.microsoft.com/office/drawing/2014/main" id="{67A24431-D2F4-464C-B93D-83D0DCCAA84E}"/>
              </a:ext>
            </a:extLst>
          </p:cNvPr>
          <p:cNvSpPr>
            <a:spLocks xmlns:a="http://schemas.openxmlformats.org/drawingml/2006/main" noGrp="1"/>
          </p:cNvSpPr>
          <p:nvPr/>
        </p:nvSpPr>
        <p:spPr>
          <a:xfrm xmlns:a="http://schemas.openxmlformats.org/drawingml/2006/main">
            <a:off x="457200" y="3286125"/>
            <a:ext cx="1476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8C4966"/>
                </a:solidFill>
                <a:latin typeface="Calibri"/>
                <a:ea typeface="Calibri"/>
                <a:cs typeface="Calibri"/>
              </a:defRPr>
            </a:pPr>
            <a:r>
              <a:rPr sz="1575" b="1">
                <a:solidFill>
                  <a:srgbClr val="8C4966"/>
                </a:solidFill>
                <a:latin typeface="Calibri"/>
                <a:ea typeface="Calibri"/>
                <a:cs typeface="Calibri"/>
              </a:rPr>
              <a:t>PrivWeb</a:t>
            </a:r>
          </a:p>
        </p:txBody>
      </p:sp>
      <p:sp>
        <p:nvSpPr>
          <p:cNvPr id="62" name="rev-135">
            <a:extLst xmlns:a="http://schemas.openxmlformats.org/drawingml/2006/main">
              <a:ext uri="{FF2B5EF4-FFF2-40B4-BE49-F238E27FC236}">
                <a16:creationId xmlns:a16="http://schemas.microsoft.com/office/drawing/2014/main" id="{001F380E-7830-445E-B8B5-12FCA22A26D7}"/>
              </a:ext>
            </a:extLst>
          </p:cNvPr>
          <p:cNvSpPr>
            <a:spLocks xmlns:a="http://schemas.openxmlformats.org/drawingml/2006/main" noGrp="1"/>
          </p:cNvSpPr>
          <p:nvPr/>
        </p:nvSpPr>
        <p:spPr>
          <a:xfrm xmlns:a="http://schemas.openxmlformats.org/drawingml/2006/main">
            <a:off x="2047875" y="3286125"/>
            <a:ext cx="3810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a:solidFill>
                  <a:srgbClr val="202B36"/>
                </a:solidFill>
                <a:latin typeface="Calibri"/>
                <a:ea typeface="Calibri"/>
                <a:cs typeface="Calibri"/>
              </a:defRPr>
            </a:pPr>
            <a:r>
              <a:rPr sz="1425">
                <a:solidFill>
                  <a:srgbClr val="202B36"/>
                </a:solidFill>
                <a:latin typeface="Calibri"/>
                <a:ea typeface="Calibri"/>
                <a:cs typeface="Calibri"/>
              </a:rPr>
              <a:t>Local privacy filtering and controls</a:t>
            </a:r>
          </a:p>
        </p:txBody>
      </p:sp>
      <p:sp>
        <p:nvSpPr>
          <p:cNvPr id="63" name="rev-136">
            <a:extLst xmlns:a="http://schemas.openxmlformats.org/drawingml/2006/main">
              <a:ext uri="{FF2B5EF4-FFF2-40B4-BE49-F238E27FC236}">
                <a16:creationId xmlns:a16="http://schemas.microsoft.com/office/drawing/2014/main" id="{197DC6DF-DD47-4554-AFC3-6AC0B4123850}"/>
              </a:ext>
            </a:extLst>
          </p:cNvPr>
          <p:cNvSpPr>
            <a:spLocks xmlns:a="http://schemas.openxmlformats.org/drawingml/2006/main" noGrp="1"/>
          </p:cNvSpPr>
          <p:nvPr/>
        </p:nvSpPr>
        <p:spPr>
          <a:xfrm xmlns:a="http://schemas.openxmlformats.org/drawingml/2006/main">
            <a:off x="2047875" y="3543300"/>
            <a:ext cx="3667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a:solidFill>
                  <a:srgbClr val="8C4966"/>
                </a:solidFill>
                <a:latin typeface="Calibri"/>
                <a:ea typeface="Calibri"/>
                <a:cs typeface="Calibri"/>
              </a:defRPr>
            </a:pPr>
            <a:r>
              <a:rPr sz="1200">
                <a:solidFill>
                  <a:srgbClr val="8C4966"/>
                </a:solidFill>
                <a:latin typeface="Calibri"/>
                <a:ea typeface="Calibri"/>
                <a:cs typeface="Calibri"/>
                <a:hlinkClick xmlns:r="http://schemas.openxmlformats.org/officeDocument/2006/relationships" r:id="R15b357e2255a4a45"/>
              </a:rPr>
              <a:t>arxiv.org/abs/2509.11939</a:t>
            </a:r>
          </a:p>
        </p:txBody>
      </p:sp>
      <p:sp>
        <p:nvSpPr>
          <p:cNvPr id="64" name="rev-137">
            <a:extLst xmlns:a="http://schemas.openxmlformats.org/drawingml/2006/main">
              <a:ext uri="{FF2B5EF4-FFF2-40B4-BE49-F238E27FC236}">
                <a16:creationId xmlns:a16="http://schemas.microsoft.com/office/drawing/2014/main" id="{CD2C0AF2-2D5F-4C23-8060-8502F4309BB0}"/>
              </a:ext>
            </a:extLst>
          </p:cNvPr>
          <p:cNvSpPr>
            <a:spLocks xmlns:a="http://schemas.openxmlformats.org/drawingml/2006/main" noGrp="1"/>
          </p:cNvSpPr>
          <p:nvPr/>
        </p:nvSpPr>
        <p:spPr>
          <a:xfrm xmlns:a="http://schemas.openxmlformats.org/drawingml/2006/main">
            <a:off x="457200" y="3914775"/>
            <a:ext cx="14763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1">
                <a:solidFill>
                  <a:srgbClr val="8C4966"/>
                </a:solidFill>
                <a:latin typeface="Calibri"/>
                <a:ea typeface="Calibri"/>
                <a:cs typeface="Calibri"/>
              </a:defRPr>
            </a:pPr>
            <a:r>
              <a:rPr sz="1575" b="1">
                <a:solidFill>
                  <a:srgbClr val="8C4966"/>
                </a:solidFill>
                <a:latin typeface="Calibri"/>
                <a:ea typeface="Calibri"/>
                <a:cs typeface="Calibri"/>
              </a:rPr>
              <a:t>WebPII</a:t>
            </a:r>
          </a:p>
        </p:txBody>
      </p:sp>
      <p:sp>
        <p:nvSpPr>
          <p:cNvPr id="65" name="rev-138">
            <a:extLst xmlns:a="http://schemas.openxmlformats.org/drawingml/2006/main">
              <a:ext uri="{FF2B5EF4-FFF2-40B4-BE49-F238E27FC236}">
                <a16:creationId xmlns:a16="http://schemas.microsoft.com/office/drawing/2014/main" id="{5F263716-F6B4-4C39-8FA0-C94F5A78D1AB}"/>
              </a:ext>
            </a:extLst>
          </p:cNvPr>
          <p:cNvSpPr>
            <a:spLocks xmlns:a="http://schemas.openxmlformats.org/drawingml/2006/main" noGrp="1"/>
          </p:cNvSpPr>
          <p:nvPr/>
        </p:nvSpPr>
        <p:spPr>
          <a:xfrm xmlns:a="http://schemas.openxmlformats.org/drawingml/2006/main">
            <a:off x="2047875" y="3914775"/>
            <a:ext cx="3810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a:solidFill>
                  <a:srgbClr val="202B36"/>
                </a:solidFill>
                <a:latin typeface="Calibri"/>
                <a:ea typeface="Calibri"/>
                <a:cs typeface="Calibri"/>
              </a:defRPr>
            </a:pPr>
            <a:r>
              <a:rPr sz="1425">
                <a:solidFill>
                  <a:srgbClr val="202B36"/>
                </a:solidFill>
                <a:latin typeface="Calibri"/>
                <a:ea typeface="Calibri"/>
                <a:cs typeface="Calibri"/>
              </a:rPr>
              <a:t>Visual PII benchmark and detector</a:t>
            </a:r>
          </a:p>
        </p:txBody>
      </p:sp>
      <p:sp>
        <p:nvSpPr>
          <p:cNvPr id="66" name="rev-139">
            <a:extLst xmlns:a="http://schemas.openxmlformats.org/drawingml/2006/main">
              <a:ext uri="{FF2B5EF4-FFF2-40B4-BE49-F238E27FC236}">
                <a16:creationId xmlns:a16="http://schemas.microsoft.com/office/drawing/2014/main" id="{D9A69285-C696-4C64-8B67-A340F6C03441}"/>
              </a:ext>
            </a:extLst>
          </p:cNvPr>
          <p:cNvSpPr>
            <a:spLocks xmlns:a="http://schemas.openxmlformats.org/drawingml/2006/main" noGrp="1"/>
          </p:cNvSpPr>
          <p:nvPr/>
        </p:nvSpPr>
        <p:spPr>
          <a:xfrm xmlns:a="http://schemas.openxmlformats.org/drawingml/2006/main">
            <a:off x="2047875" y="4171950"/>
            <a:ext cx="3667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00">
                <a:solidFill>
                  <a:srgbClr val="8C4966"/>
                </a:solidFill>
                <a:latin typeface="Calibri"/>
                <a:ea typeface="Calibri"/>
                <a:cs typeface="Calibri"/>
              </a:defRPr>
            </a:pPr>
            <a:r>
              <a:rPr sz="1200">
                <a:solidFill>
                  <a:srgbClr val="8C4966"/>
                </a:solidFill>
                <a:latin typeface="Calibri"/>
                <a:ea typeface="Calibri"/>
                <a:cs typeface="Calibri"/>
                <a:hlinkClick xmlns:r="http://schemas.openxmlformats.org/officeDocument/2006/relationships" r:id="R7ae6faaab70f4250"/>
              </a:rPr>
              <a:t>arxiv.org/abs/2603.17357</a:t>
            </a:r>
          </a:p>
        </p:txBody>
      </p:sp>
      <p:sp>
        <p:nvSpPr>
          <p:cNvPr id="67" name="rev-140">
            <a:extLst xmlns:a="http://schemas.openxmlformats.org/drawingml/2006/main">
              <a:ext uri="{FF2B5EF4-FFF2-40B4-BE49-F238E27FC236}">
                <a16:creationId xmlns:a16="http://schemas.microsoft.com/office/drawing/2014/main" id="{080BB602-B3BA-4E7B-A09C-B659358DE760}"/>
              </a:ext>
            </a:extLst>
          </p:cNvPr>
          <p:cNvSpPr>
            <a:spLocks xmlns:a="http://schemas.openxmlformats.org/drawingml/2006/main" noGrp="1"/>
          </p:cNvSpPr>
          <p:nvPr/>
        </p:nvSpPr>
        <p:spPr>
          <a:xfrm xmlns:a="http://schemas.openxmlformats.org/drawingml/2006/main">
            <a:off x="6477000" y="1400175"/>
            <a:ext cx="5257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8C4966"/>
                </a:solidFill>
                <a:latin typeface="Calibri"/>
                <a:ea typeface="Calibri"/>
                <a:cs typeface="Calibri"/>
              </a:defRPr>
            </a:pPr>
            <a:r>
              <a:rPr sz="1500" b="1">
                <a:solidFill>
                  <a:srgbClr val="8C4966"/>
                </a:solidFill>
                <a:latin typeface="Calibri"/>
                <a:ea typeface="Calibri"/>
                <a:cs typeface="Calibri"/>
              </a:rPr>
              <a:t>Prior work and our contribution</a:t>
            </a:r>
          </a:p>
        </p:txBody>
      </p:sp>
      <p:sp>
        <p:nvSpPr>
          <p:cNvPr id="68" name="step-141">
            <a:extLst xmlns:a="http://schemas.openxmlformats.org/drawingml/2006/main">
              <a:ext uri="{FF2B5EF4-FFF2-40B4-BE49-F238E27FC236}">
                <a16:creationId xmlns:a16="http://schemas.microsoft.com/office/drawing/2014/main" id="{634F57DF-A403-4387-A3A7-16EAB4653D75}"/>
              </a:ext>
            </a:extLst>
          </p:cNvPr>
          <p:cNvSpPr>
            <a:spLocks xmlns:a="http://schemas.openxmlformats.org/drawingml/2006/main" noGrp="1"/>
          </p:cNvSpPr>
          <p:nvPr/>
        </p:nvSpPr>
        <p:spPr>
          <a:xfrm xmlns:a="http://schemas.openxmlformats.org/drawingml/2006/main">
            <a:off x="6477000" y="1847850"/>
            <a:ext cx="285750" cy="285750"/>
          </a:xfrm>
          <a:prstGeom xmlns:a="http://schemas.openxmlformats.org/drawingml/2006/main" prst="ellipse">
            <a:avLst/>
          </a:prstGeom>
          <a:solidFill xmlns:a="http://schemas.openxmlformats.org/drawingml/2006/main">
            <a:srgbClr val="8C4966"/>
          </a:solidFill>
          <a:ln xmlns:a="http://schemas.openxmlformats.org/drawingml/2006/main" w="0">
            <a:noFill/>
          </a:ln>
        </p:spPr>
      </p:sp>
      <p:sp>
        <p:nvSpPr>
          <p:cNvPr id="69" name="rev-142">
            <a:extLst xmlns:a="http://schemas.openxmlformats.org/drawingml/2006/main">
              <a:ext uri="{FF2B5EF4-FFF2-40B4-BE49-F238E27FC236}">
                <a16:creationId xmlns:a16="http://schemas.microsoft.com/office/drawing/2014/main" id="{C2B65911-7A7C-4DE1-AA1D-2C85726477AD}"/>
              </a:ext>
            </a:extLst>
          </p:cNvPr>
          <p:cNvSpPr>
            <a:spLocks xmlns:a="http://schemas.openxmlformats.org/drawingml/2006/main" noGrp="1"/>
          </p:cNvSpPr>
          <p:nvPr/>
        </p:nvSpPr>
        <p:spPr>
          <a:xfrm xmlns:a="http://schemas.openxmlformats.org/drawingml/2006/main">
            <a:off x="6477000" y="1866900"/>
            <a:ext cx="28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FFFFF"/>
                </a:solidFill>
                <a:latin typeface="Calibri"/>
                <a:ea typeface="Calibri"/>
                <a:cs typeface="Calibri"/>
              </a:defRPr>
            </a:pPr>
            <a:r>
              <a:rPr sz="1350" b="1">
                <a:solidFill>
                  <a:srgbClr val="FFFFFF"/>
                </a:solidFill>
                <a:latin typeface="Calibri"/>
                <a:ea typeface="Calibri"/>
                <a:cs typeface="Calibri"/>
              </a:rPr>
              <a:t>1</a:t>
            </a:r>
          </a:p>
        </p:txBody>
      </p:sp>
      <p:sp>
        <p:nvSpPr>
          <p:cNvPr id="70" name="rev-143">
            <a:extLst xmlns:a="http://schemas.openxmlformats.org/drawingml/2006/main">
              <a:ext uri="{FF2B5EF4-FFF2-40B4-BE49-F238E27FC236}">
                <a16:creationId xmlns:a16="http://schemas.microsoft.com/office/drawing/2014/main" id="{89E2ED96-D631-4D7A-A173-A88DE0C3582E}"/>
              </a:ext>
            </a:extLst>
          </p:cNvPr>
          <p:cNvSpPr>
            <a:spLocks xmlns:a="http://schemas.openxmlformats.org/drawingml/2006/main" noGrp="1"/>
          </p:cNvSpPr>
          <p:nvPr/>
        </p:nvSpPr>
        <p:spPr>
          <a:xfrm xmlns:a="http://schemas.openxmlformats.org/drawingml/2006/main">
            <a:off x="6896100" y="1857375"/>
            <a:ext cx="4838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1">
                <a:solidFill>
                  <a:srgbClr val="8C4966"/>
                </a:solidFill>
                <a:latin typeface="Calibri"/>
                <a:ea typeface="Calibri"/>
                <a:cs typeface="Calibri"/>
              </a:defRPr>
            </a:pPr>
            <a:r>
              <a:rPr sz="1650" b="1">
                <a:solidFill>
                  <a:srgbClr val="8C4966"/>
                </a:solidFill>
                <a:latin typeface="Calibri"/>
                <a:ea typeface="Calibri"/>
                <a:cs typeface="Calibri"/>
              </a:rPr>
              <a:t>Established foundations</a:t>
            </a:r>
          </a:p>
        </p:txBody>
      </p:sp>
      <p:sp>
        <p:nvSpPr>
          <p:cNvPr id="71" name="rev-144">
            <a:extLst xmlns:a="http://schemas.openxmlformats.org/drawingml/2006/main">
              <a:ext uri="{FF2B5EF4-FFF2-40B4-BE49-F238E27FC236}">
                <a16:creationId xmlns:a16="http://schemas.microsoft.com/office/drawing/2014/main" id="{AD1FC044-863B-44CD-8183-5C24D2B80EA8}"/>
              </a:ext>
            </a:extLst>
          </p:cNvPr>
          <p:cNvSpPr>
            <a:spLocks xmlns:a="http://schemas.openxmlformats.org/drawingml/2006/main" noGrp="1"/>
          </p:cNvSpPr>
          <p:nvPr/>
        </p:nvSpPr>
        <p:spPr>
          <a:xfrm xmlns:a="http://schemas.openxmlformats.org/drawingml/2006/main">
            <a:off x="6896100" y="2209800"/>
            <a:ext cx="4743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a:solidFill>
                  <a:srgbClr val="202B36"/>
                </a:solidFill>
                <a:latin typeface="Calibri"/>
                <a:ea typeface="Calibri"/>
                <a:cs typeface="Calibri"/>
              </a:defRPr>
            </a:pPr>
            <a:r>
              <a:rPr sz="1425">
                <a:solidFill>
                  <a:srgbClr val="202B36"/>
                </a:solidFill>
                <a:latin typeface="Calibri"/>
                <a:ea typeface="Calibri"/>
                <a:cs typeface="Calibri"/>
              </a:rPr>
              <a:t>Local privacy filtering + visual interface parsing</a:t>
            </a:r>
          </a:p>
        </p:txBody>
      </p:sp>
      <p:sp>
        <p:nvSpPr>
          <p:cNvPr id="72" name="path-145">
            <a:extLst xmlns:a="http://schemas.openxmlformats.org/drawingml/2006/main">
              <a:ext uri="{FF2B5EF4-FFF2-40B4-BE49-F238E27FC236}">
                <a16:creationId xmlns:a16="http://schemas.microsoft.com/office/drawing/2014/main" id="{1C4506D5-769C-4E46-81D1-DE94534DA938}"/>
              </a:ext>
            </a:extLst>
          </p:cNvPr>
          <p:cNvSpPr>
            <a:spLocks xmlns:a="http://schemas.openxmlformats.org/drawingml/2006/main" noGrp="1"/>
          </p:cNvSpPr>
          <p:nvPr/>
        </p:nvSpPr>
        <p:spPr>
          <a:xfrm xmlns:a="http://schemas.openxmlformats.org/drawingml/2006/main">
            <a:off x="6619875" y="2162175"/>
            <a:ext cx="0" cy="552450"/>
          </a:xfrm>
          <a:prstGeom xmlns:a="http://schemas.openxmlformats.org/drawingml/2006/main" prst="line">
            <a:avLst/>
          </a:prstGeom>
          <a:noFill xmlns:a="http://schemas.openxmlformats.org/drawingml/2006/main"/>
          <a:ln xmlns:a="http://schemas.openxmlformats.org/drawingml/2006/main" w="14288">
            <a:solidFill>
              <a:srgbClr val="CBD3DA"/>
            </a:solidFill>
            <a:prstDash val="solid"/>
          </a:ln>
        </p:spPr>
      </p:sp>
      <p:sp>
        <p:nvSpPr>
          <p:cNvPr id="73" name="step-146">
            <a:extLst xmlns:a="http://schemas.openxmlformats.org/drawingml/2006/main">
              <a:ext uri="{FF2B5EF4-FFF2-40B4-BE49-F238E27FC236}">
                <a16:creationId xmlns:a16="http://schemas.microsoft.com/office/drawing/2014/main" id="{ADA148D1-04E2-4084-90C2-C5DFBC094384}"/>
              </a:ext>
            </a:extLst>
          </p:cNvPr>
          <p:cNvSpPr>
            <a:spLocks xmlns:a="http://schemas.openxmlformats.org/drawingml/2006/main" noGrp="1"/>
          </p:cNvSpPr>
          <p:nvPr/>
        </p:nvSpPr>
        <p:spPr>
          <a:xfrm xmlns:a="http://schemas.openxmlformats.org/drawingml/2006/main">
            <a:off x="6477000" y="2771775"/>
            <a:ext cx="285750" cy="285750"/>
          </a:xfrm>
          <a:prstGeom xmlns:a="http://schemas.openxmlformats.org/drawingml/2006/main" prst="ellipse">
            <a:avLst/>
          </a:prstGeom>
          <a:solidFill xmlns:a="http://schemas.openxmlformats.org/drawingml/2006/main">
            <a:srgbClr val="8C4966"/>
          </a:solidFill>
          <a:ln xmlns:a="http://schemas.openxmlformats.org/drawingml/2006/main" w="0">
            <a:noFill/>
          </a:ln>
        </p:spPr>
      </p:sp>
      <p:sp>
        <p:nvSpPr>
          <p:cNvPr id="74" name="rev-147">
            <a:extLst xmlns:a="http://schemas.openxmlformats.org/drawingml/2006/main">
              <a:ext uri="{FF2B5EF4-FFF2-40B4-BE49-F238E27FC236}">
                <a16:creationId xmlns:a16="http://schemas.microsoft.com/office/drawing/2014/main" id="{1308779F-A66C-481D-8A14-9EE0D24B9999}"/>
              </a:ext>
            </a:extLst>
          </p:cNvPr>
          <p:cNvSpPr>
            <a:spLocks xmlns:a="http://schemas.openxmlformats.org/drawingml/2006/main" noGrp="1"/>
          </p:cNvSpPr>
          <p:nvPr/>
        </p:nvSpPr>
        <p:spPr>
          <a:xfrm xmlns:a="http://schemas.openxmlformats.org/drawingml/2006/main">
            <a:off x="6477000" y="2790825"/>
            <a:ext cx="28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FFFFF"/>
                </a:solidFill>
                <a:latin typeface="Calibri"/>
                <a:ea typeface="Calibri"/>
                <a:cs typeface="Calibri"/>
              </a:defRPr>
            </a:pPr>
            <a:r>
              <a:rPr sz="1350" b="1">
                <a:solidFill>
                  <a:srgbClr val="FFFFFF"/>
                </a:solidFill>
                <a:latin typeface="Calibri"/>
                <a:ea typeface="Calibri"/>
                <a:cs typeface="Calibri"/>
              </a:rPr>
              <a:t>2</a:t>
            </a:r>
          </a:p>
        </p:txBody>
      </p:sp>
      <p:sp>
        <p:nvSpPr>
          <p:cNvPr id="75" name="rev-148">
            <a:extLst xmlns:a="http://schemas.openxmlformats.org/drawingml/2006/main">
              <a:ext uri="{FF2B5EF4-FFF2-40B4-BE49-F238E27FC236}">
                <a16:creationId xmlns:a16="http://schemas.microsoft.com/office/drawing/2014/main" id="{C3FF6982-29D0-4B9D-8219-091937A88BE1}"/>
              </a:ext>
            </a:extLst>
          </p:cNvPr>
          <p:cNvSpPr>
            <a:spLocks xmlns:a="http://schemas.openxmlformats.org/drawingml/2006/main" noGrp="1"/>
          </p:cNvSpPr>
          <p:nvPr/>
        </p:nvSpPr>
        <p:spPr>
          <a:xfrm xmlns:a="http://schemas.openxmlformats.org/drawingml/2006/main">
            <a:off x="6896100" y="2781300"/>
            <a:ext cx="4838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1">
                <a:solidFill>
                  <a:srgbClr val="8C4966"/>
                </a:solidFill>
                <a:latin typeface="Calibri"/>
                <a:ea typeface="Calibri"/>
                <a:cs typeface="Calibri"/>
              </a:defRPr>
            </a:pPr>
            <a:r>
              <a:rPr sz="1650" b="1">
                <a:solidFill>
                  <a:srgbClr val="8C4966"/>
                </a:solidFill>
                <a:latin typeface="Calibri"/>
                <a:ea typeface="Calibri"/>
                <a:cs typeface="Calibri"/>
              </a:rPr>
              <a:t>Our evaluated change</a:t>
            </a:r>
          </a:p>
        </p:txBody>
      </p:sp>
      <p:sp>
        <p:nvSpPr>
          <p:cNvPr id="76" name="rev-149">
            <a:extLst xmlns:a="http://schemas.openxmlformats.org/drawingml/2006/main">
              <a:ext uri="{FF2B5EF4-FFF2-40B4-BE49-F238E27FC236}">
                <a16:creationId xmlns:a16="http://schemas.microsoft.com/office/drawing/2014/main" id="{62C464D7-DE48-4881-9B56-005B8FB23B0E}"/>
              </a:ext>
            </a:extLst>
          </p:cNvPr>
          <p:cNvSpPr>
            <a:spLocks xmlns:a="http://schemas.openxmlformats.org/drawingml/2006/main" noGrp="1"/>
          </p:cNvSpPr>
          <p:nvPr/>
        </p:nvSpPr>
        <p:spPr>
          <a:xfrm xmlns:a="http://schemas.openxmlformats.org/drawingml/2006/main">
            <a:off x="6896100" y="3133725"/>
            <a:ext cx="47148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a:solidFill>
                  <a:srgbClr val="202B36"/>
                </a:solidFill>
                <a:latin typeface="Calibri"/>
                <a:ea typeface="Calibri"/>
                <a:cs typeface="Calibri"/>
              </a:defRPr>
            </a:pPr>
            <a:r>
              <a:rPr sz="1425">
                <a:solidFill>
                  <a:srgbClr val="202B36"/>
                </a:solidFill>
                <a:latin typeface="Calibri"/>
                <a:ea typeface="Calibri"/>
                <a:cs typeface="Calibri"/>
              </a:rPr>
              <a:t>Reject content containers as photos; run OCR only where DOM text is absent.</a:t>
            </a:r>
          </a:p>
        </p:txBody>
      </p:sp>
      <p:sp>
        <p:nvSpPr>
          <p:cNvPr id="77" name="path-150">
            <a:extLst xmlns:a="http://schemas.openxmlformats.org/drawingml/2006/main">
              <a:ext uri="{FF2B5EF4-FFF2-40B4-BE49-F238E27FC236}">
                <a16:creationId xmlns:a16="http://schemas.microsoft.com/office/drawing/2014/main" id="{74B12AE5-86F9-4295-98F5-DDB102A8DF4B}"/>
              </a:ext>
            </a:extLst>
          </p:cNvPr>
          <p:cNvSpPr>
            <a:spLocks xmlns:a="http://schemas.openxmlformats.org/drawingml/2006/main" noGrp="1"/>
          </p:cNvSpPr>
          <p:nvPr/>
        </p:nvSpPr>
        <p:spPr>
          <a:xfrm xmlns:a="http://schemas.openxmlformats.org/drawingml/2006/main">
            <a:off x="6619875" y="3086100"/>
            <a:ext cx="0" cy="762000"/>
          </a:xfrm>
          <a:prstGeom xmlns:a="http://schemas.openxmlformats.org/drawingml/2006/main" prst="line">
            <a:avLst/>
          </a:prstGeom>
          <a:noFill xmlns:a="http://schemas.openxmlformats.org/drawingml/2006/main"/>
          <a:ln xmlns:a="http://schemas.openxmlformats.org/drawingml/2006/main" w="14288">
            <a:solidFill>
              <a:srgbClr val="CBD3DA"/>
            </a:solidFill>
            <a:prstDash val="solid"/>
          </a:ln>
        </p:spPr>
      </p:sp>
      <p:sp>
        <p:nvSpPr>
          <p:cNvPr id="78" name="step-151">
            <a:extLst xmlns:a="http://schemas.openxmlformats.org/drawingml/2006/main">
              <a:ext uri="{FF2B5EF4-FFF2-40B4-BE49-F238E27FC236}">
                <a16:creationId xmlns:a16="http://schemas.microsoft.com/office/drawing/2014/main" id="{08BC1640-2637-4663-8D9E-54ED59F44F1B}"/>
              </a:ext>
            </a:extLst>
          </p:cNvPr>
          <p:cNvSpPr>
            <a:spLocks xmlns:a="http://schemas.openxmlformats.org/drawingml/2006/main" noGrp="1"/>
          </p:cNvSpPr>
          <p:nvPr/>
        </p:nvSpPr>
        <p:spPr>
          <a:xfrm xmlns:a="http://schemas.openxmlformats.org/drawingml/2006/main">
            <a:off x="6477000" y="3905250"/>
            <a:ext cx="285750" cy="285750"/>
          </a:xfrm>
          <a:prstGeom xmlns:a="http://schemas.openxmlformats.org/drawingml/2006/main" prst="ellipse">
            <a:avLst/>
          </a:prstGeom>
          <a:solidFill xmlns:a="http://schemas.openxmlformats.org/drawingml/2006/main">
            <a:srgbClr val="8C4966"/>
          </a:solidFill>
          <a:ln xmlns:a="http://schemas.openxmlformats.org/drawingml/2006/main" w="0">
            <a:noFill/>
          </a:ln>
        </p:spPr>
      </p:sp>
      <p:sp>
        <p:nvSpPr>
          <p:cNvPr id="79" name="rev-152">
            <a:extLst xmlns:a="http://schemas.openxmlformats.org/drawingml/2006/main">
              <a:ext uri="{FF2B5EF4-FFF2-40B4-BE49-F238E27FC236}">
                <a16:creationId xmlns:a16="http://schemas.microsoft.com/office/drawing/2014/main" id="{FBA5EEF5-D203-44BD-A991-1868435DE697}"/>
              </a:ext>
            </a:extLst>
          </p:cNvPr>
          <p:cNvSpPr>
            <a:spLocks xmlns:a="http://schemas.openxmlformats.org/drawingml/2006/main" noGrp="1"/>
          </p:cNvSpPr>
          <p:nvPr/>
        </p:nvSpPr>
        <p:spPr>
          <a:xfrm xmlns:a="http://schemas.openxmlformats.org/drawingml/2006/main">
            <a:off x="6477000" y="3924300"/>
            <a:ext cx="28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350" b="1">
                <a:solidFill>
                  <a:srgbClr val="FFFFFF"/>
                </a:solidFill>
                <a:latin typeface="Calibri"/>
                <a:ea typeface="Calibri"/>
                <a:cs typeface="Calibri"/>
              </a:defRPr>
            </a:pPr>
            <a:r>
              <a:rPr sz="1350" b="1">
                <a:solidFill>
                  <a:srgbClr val="FFFFFF"/>
                </a:solidFill>
                <a:latin typeface="Calibri"/>
                <a:ea typeface="Calibri"/>
                <a:cs typeface="Calibri"/>
              </a:rPr>
              <a:t>3</a:t>
            </a:r>
          </a:p>
        </p:txBody>
      </p:sp>
      <p:sp>
        <p:nvSpPr>
          <p:cNvPr id="80" name="rev-153">
            <a:extLst xmlns:a="http://schemas.openxmlformats.org/drawingml/2006/main">
              <a:ext uri="{FF2B5EF4-FFF2-40B4-BE49-F238E27FC236}">
                <a16:creationId xmlns:a16="http://schemas.microsoft.com/office/drawing/2014/main" id="{87F6799C-4D06-4016-B251-7F871837CF42}"/>
              </a:ext>
            </a:extLst>
          </p:cNvPr>
          <p:cNvSpPr>
            <a:spLocks xmlns:a="http://schemas.openxmlformats.org/drawingml/2006/main" noGrp="1"/>
          </p:cNvSpPr>
          <p:nvPr/>
        </p:nvSpPr>
        <p:spPr>
          <a:xfrm xmlns:a="http://schemas.openxmlformats.org/drawingml/2006/main">
            <a:off x="6896100" y="3914775"/>
            <a:ext cx="4838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1">
                <a:solidFill>
                  <a:srgbClr val="8C4966"/>
                </a:solidFill>
                <a:latin typeface="Calibri"/>
                <a:ea typeface="Calibri"/>
                <a:cs typeface="Calibri"/>
              </a:defRPr>
            </a:pPr>
            <a:r>
              <a:rPr sz="1650" b="1">
                <a:solidFill>
                  <a:srgbClr val="8C4966"/>
                </a:solidFill>
                <a:latin typeface="Calibri"/>
                <a:ea typeface="Calibri"/>
                <a:cs typeface="Calibri"/>
              </a:rPr>
              <a:t>Next evidence</a:t>
            </a:r>
          </a:p>
        </p:txBody>
      </p:sp>
      <p:sp>
        <p:nvSpPr>
          <p:cNvPr id="81" name="rev-154">
            <a:extLst xmlns:a="http://schemas.openxmlformats.org/drawingml/2006/main">
              <a:ext uri="{FF2B5EF4-FFF2-40B4-BE49-F238E27FC236}">
                <a16:creationId xmlns:a16="http://schemas.microsoft.com/office/drawing/2014/main" id="{FDC42CB0-9A20-469B-AD48-B4AD9788C2C5}"/>
              </a:ext>
            </a:extLst>
          </p:cNvPr>
          <p:cNvSpPr>
            <a:spLocks xmlns:a="http://schemas.openxmlformats.org/drawingml/2006/main" noGrp="1"/>
          </p:cNvSpPr>
          <p:nvPr/>
        </p:nvSpPr>
        <p:spPr>
          <a:xfrm xmlns:a="http://schemas.openxmlformats.org/drawingml/2006/main">
            <a:off x="6896100" y="4267200"/>
            <a:ext cx="47148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425">
                <a:solidFill>
                  <a:srgbClr val="202B36"/>
                </a:solidFill>
                <a:latin typeface="Calibri"/>
                <a:ea typeface="Calibri"/>
                <a:cs typeface="Calibri"/>
              </a:defRPr>
            </a:pPr>
            <a:r>
              <a:rPr sz="1425">
                <a:solidFill>
                  <a:srgbClr val="202B36"/>
                </a:solidFill>
                <a:latin typeface="Calibri"/>
                <a:ea typeface="Calibri"/>
                <a:cs typeface="Calibri"/>
              </a:rPr>
              <a:t>Measure the trained browser model and isolate the benefit of task-aware context.</a:t>
            </a:r>
          </a:p>
        </p:txBody>
      </p:sp>
      <p:sp>
        <p:nvSpPr>
          <p:cNvPr id="82" name="rev-155">
            <a:extLst xmlns:a="http://schemas.openxmlformats.org/drawingml/2006/main">
              <a:ext uri="{FF2B5EF4-FFF2-40B4-BE49-F238E27FC236}">
                <a16:creationId xmlns:a16="http://schemas.microsoft.com/office/drawing/2014/main" id="{A30FB011-AD69-4D90-96F1-833AB5F5CC94}"/>
              </a:ext>
            </a:extLst>
          </p:cNvPr>
          <p:cNvSpPr>
            <a:spLocks xmlns:a="http://schemas.openxmlformats.org/drawingml/2006/main" noGrp="1"/>
          </p:cNvSpPr>
          <p:nvPr/>
        </p:nvSpPr>
        <p:spPr>
          <a:xfrm xmlns:a="http://schemas.openxmlformats.org/drawingml/2006/main">
            <a:off x="457200" y="5048250"/>
            <a:ext cx="11277600" cy="0"/>
          </a:xfrm>
          <a:prstGeom xmlns:a="http://schemas.openxmlformats.org/drawingml/2006/main" prst="line">
            <a:avLst/>
          </a:prstGeom>
          <a:noFill xmlns:a="http://schemas.openxmlformats.org/drawingml/2006/main"/>
          <a:ln xmlns:a="http://schemas.openxmlformats.org/drawingml/2006/main" w="9525">
            <a:solidFill>
              <a:srgbClr val="CBD3DA"/>
            </a:solidFill>
          </a:ln>
        </p:spPr>
      </p:sp>
      <p:sp>
        <p:nvSpPr>
          <p:cNvPr id="83" name="rev-156">
            <a:extLst xmlns:a="http://schemas.openxmlformats.org/drawingml/2006/main">
              <a:ext uri="{FF2B5EF4-FFF2-40B4-BE49-F238E27FC236}">
                <a16:creationId xmlns:a16="http://schemas.microsoft.com/office/drawing/2014/main" id="{33660B43-8568-4FC3-BB52-51AEE61FFA36}"/>
              </a:ext>
            </a:extLst>
          </p:cNvPr>
          <p:cNvSpPr>
            <a:spLocks xmlns:a="http://schemas.openxmlformats.org/drawingml/2006/main" noGrp="1"/>
          </p:cNvSpPr>
          <p:nvPr/>
        </p:nvSpPr>
        <p:spPr>
          <a:xfrm xmlns:a="http://schemas.openxmlformats.org/drawingml/2006/main">
            <a:off x="457200" y="5210175"/>
            <a:ext cx="11049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b="1">
                <a:solidFill>
                  <a:srgbClr val="8C4966"/>
                </a:solidFill>
                <a:latin typeface="Calibri"/>
                <a:ea typeface="Calibri"/>
                <a:cs typeface="Calibri"/>
              </a:defRPr>
            </a:pPr>
            <a:r>
              <a:rPr sz="1500" b="1">
                <a:solidFill>
                  <a:srgbClr val="8C4966"/>
                </a:solidFill>
                <a:latin typeface="Calibri"/>
                <a:ea typeface="Calibri"/>
                <a:cs typeface="Calibri"/>
              </a:rPr>
              <a:t>Our research work: synthetic Indian-portal benchmark</a:t>
            </a:r>
          </a:p>
        </p:txBody>
      </p:sp>
      <p:sp>
        <p:nvSpPr>
          <p:cNvPr id="84" name="rev-157">
            <a:extLst xmlns:a="http://schemas.openxmlformats.org/drawingml/2006/main">
              <a:ext uri="{FF2B5EF4-FFF2-40B4-BE49-F238E27FC236}">
                <a16:creationId xmlns:a16="http://schemas.microsoft.com/office/drawing/2014/main" id="{C13E4DA0-EA87-4FBD-A4C0-416009199D12}"/>
              </a:ext>
            </a:extLst>
          </p:cNvPr>
          <p:cNvSpPr>
            <a:spLocks xmlns:a="http://schemas.openxmlformats.org/drawingml/2006/main" noGrp="1"/>
          </p:cNvSpPr>
          <p:nvPr/>
        </p:nvSpPr>
        <p:spPr>
          <a:xfrm xmlns:a="http://schemas.openxmlformats.org/drawingml/2006/main">
            <a:off x="457200" y="5600700"/>
            <a:ext cx="33813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8C4966"/>
                </a:solidFill>
                <a:latin typeface="Calibri"/>
                <a:ea typeface="Calibri"/>
                <a:cs typeface="Calibri"/>
              </a:defRPr>
            </a:pPr>
            <a:r>
              <a:rPr sz="1800" b="1">
                <a:solidFill>
                  <a:srgbClr val="8C4966"/>
                </a:solidFill>
                <a:latin typeface="Calibri"/>
                <a:ea typeface="Calibri"/>
                <a:cs typeface="Calibri"/>
              </a:rPr>
              <a:t>12 dev pages</a:t>
            </a:r>
          </a:p>
        </p:txBody>
      </p:sp>
      <p:sp>
        <p:nvSpPr>
          <p:cNvPr id="85" name="rev-158">
            <a:extLst xmlns:a="http://schemas.openxmlformats.org/drawingml/2006/main">
              <a:ext uri="{FF2B5EF4-FFF2-40B4-BE49-F238E27FC236}">
                <a16:creationId xmlns:a16="http://schemas.microsoft.com/office/drawing/2014/main" id="{94B78369-6444-47DE-9116-D7A99CC37E9B}"/>
              </a:ext>
            </a:extLst>
          </p:cNvPr>
          <p:cNvSpPr>
            <a:spLocks xmlns:a="http://schemas.openxmlformats.org/drawingml/2006/main" noGrp="1"/>
          </p:cNvSpPr>
          <p:nvPr/>
        </p:nvSpPr>
        <p:spPr>
          <a:xfrm xmlns:a="http://schemas.openxmlformats.org/drawingml/2006/main">
            <a:off x="457200" y="5905500"/>
            <a:ext cx="35147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Scholarship + HR</a:t>
            </a:r>
          </a:p>
        </p:txBody>
      </p:sp>
      <p:sp>
        <p:nvSpPr>
          <p:cNvPr id="86" name="">
            <a:extLst xmlns:a="http://schemas.openxmlformats.org/drawingml/2006/main">
              <a:ext uri="{FF2B5EF4-FFF2-40B4-BE49-F238E27FC236}">
                <a16:creationId xmlns:a16="http://schemas.microsoft.com/office/drawing/2014/main" id="{62B56DB5-5646-48BB-BAA8-C1960C2F0DA7}"/>
              </a:ext>
            </a:extLst>
          </p:cNvPr>
          <p:cNvSpPr>
            <a:spLocks xmlns:a="http://schemas.openxmlformats.org/drawingml/2006/main" noGrp="1"/>
          </p:cNvSpPr>
          <p:nvPr/>
        </p:nvSpPr>
        <p:spPr>
          <a:xfrm xmlns:a="http://schemas.openxmlformats.org/drawingml/2006/main">
            <a:off x="4000500" y="5724525"/>
            <a:ext cx="228600" cy="123825"/>
          </a:xfrm>
          <a:prstGeom xmlns:a="http://schemas.openxmlformats.org/drawingml/2006/main" prst="rightArrow">
            <a:avLst/>
          </a:prstGeom>
          <a:solidFill xmlns:a="http://schemas.openxmlformats.org/drawingml/2006/main">
            <a:srgbClr val="8C4966"/>
          </a:solidFill>
          <a:ln xmlns:a="http://schemas.openxmlformats.org/drawingml/2006/main" w="0">
            <a:noFill/>
          </a:ln>
        </p:spPr>
      </p:sp>
      <p:sp>
        <p:nvSpPr>
          <p:cNvPr id="87" name="rev-159">
            <a:extLst xmlns:a="http://schemas.openxmlformats.org/drawingml/2006/main">
              <a:ext uri="{FF2B5EF4-FFF2-40B4-BE49-F238E27FC236}">
                <a16:creationId xmlns:a16="http://schemas.microsoft.com/office/drawing/2014/main" id="{DE091205-814F-41A9-B424-F7768380CDEF}"/>
              </a:ext>
            </a:extLst>
          </p:cNvPr>
          <p:cNvSpPr>
            <a:spLocks xmlns:a="http://schemas.openxmlformats.org/drawingml/2006/main" noGrp="1"/>
          </p:cNvSpPr>
          <p:nvPr/>
        </p:nvSpPr>
        <p:spPr>
          <a:xfrm xmlns:a="http://schemas.openxmlformats.org/drawingml/2006/main">
            <a:off x="4343400" y="5600700"/>
            <a:ext cx="33813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8C4966"/>
                </a:solidFill>
                <a:latin typeface="Calibri"/>
                <a:ea typeface="Calibri"/>
                <a:cs typeface="Calibri"/>
              </a:defRPr>
            </a:pPr>
            <a:r>
              <a:rPr sz="1800" b="1">
                <a:solidFill>
                  <a:srgbClr val="8C4966"/>
                </a:solidFill>
                <a:latin typeface="Calibri"/>
                <a:ea typeface="Calibri"/>
                <a:cs typeface="Calibri"/>
              </a:rPr>
              <a:t>48 fresh test pages</a:t>
            </a:r>
          </a:p>
        </p:txBody>
      </p:sp>
      <p:sp>
        <p:nvSpPr>
          <p:cNvPr id="88" name="rev-160">
            <a:extLst xmlns:a="http://schemas.openxmlformats.org/drawingml/2006/main">
              <a:ext uri="{FF2B5EF4-FFF2-40B4-BE49-F238E27FC236}">
                <a16:creationId xmlns:a16="http://schemas.microsoft.com/office/drawing/2014/main" id="{C24A40F8-1E5F-4353-A3CA-6AC4ADDDADDE}"/>
              </a:ext>
            </a:extLst>
          </p:cNvPr>
          <p:cNvSpPr>
            <a:spLocks xmlns:a="http://schemas.openxmlformats.org/drawingml/2006/main" noGrp="1"/>
          </p:cNvSpPr>
          <p:nvPr/>
        </p:nvSpPr>
        <p:spPr>
          <a:xfrm xmlns:a="http://schemas.openxmlformats.org/drawingml/2006/main">
            <a:off x="4343400" y="5905500"/>
            <a:ext cx="35147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4 held-out families / 408 items</a:t>
            </a:r>
          </a:p>
        </p:txBody>
      </p:sp>
      <p:sp>
        <p:nvSpPr>
          <p:cNvPr id="89" name="">
            <a:extLst xmlns:a="http://schemas.openxmlformats.org/drawingml/2006/main">
              <a:ext uri="{FF2B5EF4-FFF2-40B4-BE49-F238E27FC236}">
                <a16:creationId xmlns:a16="http://schemas.microsoft.com/office/drawing/2014/main" id="{50857E5E-42FB-4013-AACC-8B5DE09981E9}"/>
              </a:ext>
            </a:extLst>
          </p:cNvPr>
          <p:cNvSpPr>
            <a:spLocks xmlns:a="http://schemas.openxmlformats.org/drawingml/2006/main" noGrp="1"/>
          </p:cNvSpPr>
          <p:nvPr/>
        </p:nvSpPr>
        <p:spPr>
          <a:xfrm xmlns:a="http://schemas.openxmlformats.org/drawingml/2006/main">
            <a:off x="7886700" y="5724525"/>
            <a:ext cx="228600" cy="123825"/>
          </a:xfrm>
          <a:prstGeom xmlns:a="http://schemas.openxmlformats.org/drawingml/2006/main" prst="rightArrow">
            <a:avLst/>
          </a:prstGeom>
          <a:solidFill xmlns:a="http://schemas.openxmlformats.org/drawingml/2006/main">
            <a:srgbClr val="8C4966"/>
          </a:solidFill>
          <a:ln xmlns:a="http://schemas.openxmlformats.org/drawingml/2006/main" w="0">
            <a:noFill/>
          </a:ln>
        </p:spPr>
      </p:sp>
      <p:sp>
        <p:nvSpPr>
          <p:cNvPr id="90" name="rev-161">
            <a:extLst xmlns:a="http://schemas.openxmlformats.org/drawingml/2006/main">
              <a:ext uri="{FF2B5EF4-FFF2-40B4-BE49-F238E27FC236}">
                <a16:creationId xmlns:a16="http://schemas.microsoft.com/office/drawing/2014/main" id="{3C18ADFE-2CA9-44C3-8954-513D311DCEFB}"/>
              </a:ext>
            </a:extLst>
          </p:cNvPr>
          <p:cNvSpPr>
            <a:spLocks xmlns:a="http://schemas.openxmlformats.org/drawingml/2006/main" noGrp="1"/>
          </p:cNvSpPr>
          <p:nvPr/>
        </p:nvSpPr>
        <p:spPr>
          <a:xfrm xmlns:a="http://schemas.openxmlformats.org/drawingml/2006/main">
            <a:off x="8229600" y="5600700"/>
            <a:ext cx="33813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1">
                <a:solidFill>
                  <a:srgbClr val="8C4966"/>
                </a:solidFill>
                <a:latin typeface="Calibri"/>
                <a:ea typeface="Calibri"/>
                <a:cs typeface="Calibri"/>
              </a:defRPr>
            </a:pPr>
            <a:r>
              <a:rPr sz="1800" b="1">
                <a:solidFill>
                  <a:srgbClr val="8C4966"/>
                </a:solidFill>
                <a:latin typeface="Calibri"/>
                <a:ea typeface="Calibri"/>
                <a:cs typeface="Calibri"/>
              </a:rPr>
              <a:t>48 stress pages</a:t>
            </a:r>
          </a:p>
        </p:txBody>
      </p:sp>
      <p:sp>
        <p:nvSpPr>
          <p:cNvPr id="91" name="rev-162">
            <a:extLst xmlns:a="http://schemas.openxmlformats.org/drawingml/2006/main">
              <a:ext uri="{FF2B5EF4-FFF2-40B4-BE49-F238E27FC236}">
                <a16:creationId xmlns:a16="http://schemas.microsoft.com/office/drawing/2014/main" id="{E57294BD-AFA3-4F5A-A415-948303197613}"/>
              </a:ext>
            </a:extLst>
          </p:cNvPr>
          <p:cNvSpPr>
            <a:spLocks xmlns:a="http://schemas.openxmlformats.org/drawingml/2006/main" noGrp="1"/>
          </p:cNvSpPr>
          <p:nvPr/>
        </p:nvSpPr>
        <p:spPr>
          <a:xfrm xmlns:a="http://schemas.openxmlformats.org/drawingml/2006/main">
            <a:off x="8229600" y="5905500"/>
            <a:ext cx="35147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202B36"/>
                </a:solidFill>
                <a:latin typeface="Calibri"/>
                <a:ea typeface="Calibri"/>
                <a:cs typeface="Calibri"/>
              </a:defRPr>
            </a:pPr>
            <a:r>
              <a:rPr sz="1350">
                <a:solidFill>
                  <a:srgbClr val="202B36"/>
                </a:solidFill>
                <a:latin typeface="Calibri"/>
                <a:ea typeface="Calibri"/>
                <a:cs typeface="Calibri"/>
              </a:rPr>
              <a:t>DOM text deliberately removed</a:t>
            </a:r>
          </a:p>
        </p:txBody>
      </p:sp>
      <p:sp>
        <p:nvSpPr>
          <p:cNvPr id="92" name="rev-163">
            <a:extLst xmlns:a="http://schemas.openxmlformats.org/drawingml/2006/main">
              <a:ext uri="{FF2B5EF4-FFF2-40B4-BE49-F238E27FC236}">
                <a16:creationId xmlns:a16="http://schemas.microsoft.com/office/drawing/2014/main" id="{4834C173-629E-4694-BE96-E0450ED5F733}"/>
              </a:ext>
            </a:extLst>
          </p:cNvPr>
          <p:cNvSpPr>
            <a:spLocks xmlns:a="http://schemas.openxmlformats.org/drawingml/2006/main" noGrp="1"/>
          </p:cNvSpPr>
          <p:nvPr/>
        </p:nvSpPr>
        <p:spPr>
          <a:xfrm xmlns:a="http://schemas.openxmlformats.org/drawingml/2006/main">
            <a:off x="457200" y="6219825"/>
            <a:ext cx="112776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75">
                <a:solidFill>
                  <a:srgbClr val="53616D"/>
                </a:solidFill>
                <a:latin typeface="Calibri"/>
                <a:ea typeface="Calibri"/>
                <a:cs typeface="Calibri"/>
              </a:defRPr>
            </a:pPr>
            <a:r>
              <a:rPr sz="975">
                <a:solidFill>
                  <a:srgbClr val="53616D"/>
                </a:solidFill>
                <a:latin typeface="Calibri"/>
                <a:ea typeface="Calibri"/>
                <a:cs typeface="Calibri"/>
              </a:rPr>
              <a:t>Benchmark evidence: nexora_benchmark/SELECTIVE_RESULTS.md + stored JSON results. Ground truth is used only by the scorer.</a:t>
            </a:r>
          </a:p>
        </p:txBody>
      </p:sp>
    </p:spTree>
    <p:extLst>
      <p:ext uri="{BB962C8B-B14F-4D97-AF65-F5344CB8AC3E}">
        <p14:creationId xmlns:p14="http://schemas.microsoft.com/office/powerpoint/2010/main" val="924959143"/>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2026-10-04T05:47:33.9890000Z</dcterms:created>
  <dcterms:modified xsi:type="dcterms:W3CDTF">2026-10-04T05:47:33.9890000Z</dcterms:modified>
</coreProperties>
</file>